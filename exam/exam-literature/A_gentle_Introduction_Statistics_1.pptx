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80" y="28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ne Floh" userId="f5ebb00b87f6e485" providerId="LiveId" clId="{A167F933-0BDC-4556-AC78-9577AED17E23}"/>
    <pc:docChg chg="custSel modSld">
      <pc:chgData name="Arne Floh" userId="f5ebb00b87f6e485" providerId="LiveId" clId="{A167F933-0BDC-4556-AC78-9577AED17E23}" dt="2026-03-05T21:14:28.875" v="104" actId="20577"/>
      <pc:docMkLst>
        <pc:docMk/>
      </pc:docMkLst>
      <pc:sldChg chg="modSp mod">
        <pc:chgData name="Arne Floh" userId="f5ebb00b87f6e485" providerId="LiveId" clId="{A167F933-0BDC-4556-AC78-9577AED17E23}" dt="2026-03-05T21:14:28.875" v="104" actId="20577"/>
        <pc:sldMkLst>
          <pc:docMk/>
          <pc:sldMk cId="0" sldId="256"/>
        </pc:sldMkLst>
        <pc:spChg chg="mod">
          <ac:chgData name="Arne Floh" userId="f5ebb00b87f6e485" providerId="LiveId" clId="{A167F933-0BDC-4556-AC78-9577AED17E23}" dt="2026-03-05T21:14:28.875" v="104" actId="20577"/>
          <ac:spMkLst>
            <pc:docMk/>
            <pc:sldMk cId="0" sldId="256"/>
            <ac:spMk id="9" creationId="{00000000-0000-0000-0000-000000000000}"/>
          </ac:spMkLst>
        </pc:spChg>
      </pc:sldChg>
    </pc:docChg>
  </pc:docChgLst>
  <pc:docChgLst>
    <pc:chgData name="Arne Floh" userId="f5ebb00b87f6e485" providerId="LiveId" clId="{68BD62A5-E6E1-4BF4-9F02-4E8C0F0B6757}"/>
    <pc:docChg chg="custSel modSld">
      <pc:chgData name="Arne Floh" userId="f5ebb00b87f6e485" providerId="LiveId" clId="{68BD62A5-E6E1-4BF4-9F02-4E8C0F0B6757}" dt="2026-03-27T10:31:16.626" v="2" actId="1076"/>
      <pc:docMkLst>
        <pc:docMk/>
      </pc:docMkLst>
      <pc:sldChg chg="delSp modSp mod">
        <pc:chgData name="Arne Floh" userId="f5ebb00b87f6e485" providerId="LiveId" clId="{68BD62A5-E6E1-4BF4-9F02-4E8C0F0B6757}" dt="2026-03-27T10:23:14.628" v="1" actId="478"/>
        <pc:sldMkLst>
          <pc:docMk/>
          <pc:sldMk cId="0" sldId="280"/>
        </pc:sldMkLst>
        <pc:spChg chg="del mod">
          <ac:chgData name="Arne Floh" userId="f5ebb00b87f6e485" providerId="LiveId" clId="{68BD62A5-E6E1-4BF4-9F02-4E8C0F0B6757}" dt="2026-03-27T10:23:14.628" v="1" actId="478"/>
          <ac:spMkLst>
            <pc:docMk/>
            <pc:sldMk cId="0" sldId="280"/>
            <ac:spMk id="9" creationId="{00000000-0000-0000-0000-000000000000}"/>
          </ac:spMkLst>
        </pc:spChg>
      </pc:sldChg>
      <pc:sldChg chg="modSp mod">
        <pc:chgData name="Arne Floh" userId="f5ebb00b87f6e485" providerId="LiveId" clId="{68BD62A5-E6E1-4BF4-9F02-4E8C0F0B6757}" dt="2026-03-27T10:31:16.626" v="2" actId="1076"/>
        <pc:sldMkLst>
          <pc:docMk/>
          <pc:sldMk cId="0" sldId="281"/>
        </pc:sldMkLst>
        <pc:spChg chg="mod">
          <ac:chgData name="Arne Floh" userId="f5ebb00b87f6e485" providerId="LiveId" clId="{68BD62A5-E6E1-4BF4-9F02-4E8C0F0B6757}" dt="2026-03-27T10:31:16.626" v="2" actId="1076"/>
          <ac:spMkLst>
            <pc:docMk/>
            <pc:sldMk cId="0" sldId="281"/>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81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linkedin.com/in/arnefloh/" TargetMode="External"/><Relationship Id="rId4" Type="http://schemas.openxmlformats.org/officeDocument/2006/relationships/hyperlink" Target="mailto:arne.floh@wu.ac.a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hyperlink" Target="https://linkedin.com/in/arnefloh/" TargetMode="External"/><Relationship Id="rId4" Type="http://schemas.openxmlformats.org/officeDocument/2006/relationships/hyperlink" Target="mailto:arne.floh@wu.ac.a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0" y="0"/>
            <a:ext cx="91440" cy="5143500"/>
          </a:xfrm>
          <a:prstGeom prst="rect">
            <a:avLst/>
          </a:prstGeom>
          <a:solidFill>
            <a:srgbClr val="065A82"/>
          </a:solidFill>
          <a:ln w="12700">
            <a:solidFill>
              <a:srgbClr val="333333"/>
            </a:solidFill>
            <a:prstDash val="solid"/>
          </a:ln>
        </p:spPr>
        <p:txBody>
          <a:bodyPr/>
          <a:lstStyle/>
          <a:p>
            <a:endParaRPr lang="de-AT"/>
          </a:p>
        </p:txBody>
      </p:sp>
      <p:sp>
        <p:nvSpPr>
          <p:cNvPr id="4" name="Text 2"/>
          <p:cNvSpPr/>
          <p:nvPr/>
        </p:nvSpPr>
        <p:spPr>
          <a:xfrm>
            <a:off x="274320" y="201168"/>
            <a:ext cx="274320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WU Vienna — IIB</a:t>
            </a:r>
            <a:endParaRPr lang="en-US" sz="900" dirty="0"/>
          </a:p>
        </p:txBody>
      </p:sp>
      <p:sp>
        <p:nvSpPr>
          <p:cNvPr id="5" name="Shape 3"/>
          <p:cNvSpPr/>
          <p:nvPr/>
        </p:nvSpPr>
        <p:spPr>
          <a:xfrm>
            <a:off x="256032" y="502920"/>
            <a:ext cx="594360" cy="594360"/>
          </a:xfrm>
          <a:prstGeom prst="ellipse">
            <a:avLst/>
          </a:prstGeom>
          <a:solidFill>
            <a:srgbClr val="065A82"/>
          </a:solidFill>
          <a:ln w="12700">
            <a:solidFill>
              <a:srgbClr val="1C7293"/>
            </a:solidFill>
            <a:prstDash val="solid"/>
          </a:ln>
        </p:spPr>
        <p:txBody>
          <a:bodyPr/>
          <a:lstStyle/>
          <a:p>
            <a:endParaRPr lang="de-AT"/>
          </a:p>
        </p:txBody>
      </p:sp>
      <p:pic>
        <p:nvPicPr>
          <p:cNvPr id="6" name="Image 0" descr="preencoded.png"/>
          <p:cNvPicPr>
            <a:picLocks noChangeAspect="1"/>
          </p:cNvPicPr>
          <p:nvPr/>
        </p:nvPicPr>
        <p:blipFill>
          <a:blip r:embed="rId3"/>
          <a:stretch>
            <a:fillRect/>
          </a:stretch>
        </p:blipFill>
        <p:spPr>
          <a:xfrm>
            <a:off x="347472" y="576072"/>
            <a:ext cx="411480" cy="411480"/>
          </a:xfrm>
          <a:prstGeom prst="rect">
            <a:avLst/>
          </a:prstGeom>
        </p:spPr>
      </p:pic>
      <p:sp>
        <p:nvSpPr>
          <p:cNvPr id="7" name="Text 4"/>
          <p:cNvSpPr/>
          <p:nvPr/>
        </p:nvSpPr>
        <p:spPr>
          <a:xfrm>
            <a:off x="274320" y="1280160"/>
            <a:ext cx="8412480" cy="1097280"/>
          </a:xfrm>
          <a:prstGeom prst="rect">
            <a:avLst/>
          </a:prstGeom>
          <a:noFill/>
          <a:ln/>
        </p:spPr>
        <p:txBody>
          <a:bodyPr wrap="square" lIns="0" tIns="0" rIns="0" bIns="0" rtlCol="0" anchor="ctr"/>
          <a:lstStyle/>
          <a:p>
            <a:pPr marL="0" indent="0" algn="l">
              <a:buNone/>
            </a:pPr>
            <a:r>
              <a:rPr lang="en-US" sz="4000" b="1" dirty="0">
                <a:solidFill>
                  <a:srgbClr val="FFFFFF"/>
                </a:solidFill>
                <a:latin typeface="Georgia" pitchFamily="34" charset="0"/>
                <a:ea typeface="Georgia" pitchFamily="34" charset="-122"/>
                <a:cs typeface="Georgia" pitchFamily="34" charset="-120"/>
              </a:rPr>
              <a:t>Introduction to Statistics</a:t>
            </a:r>
            <a:endParaRPr lang="en-US" sz="4000" dirty="0"/>
          </a:p>
        </p:txBody>
      </p:sp>
      <p:sp>
        <p:nvSpPr>
          <p:cNvPr id="8" name="Shape 5"/>
          <p:cNvSpPr/>
          <p:nvPr/>
        </p:nvSpPr>
        <p:spPr>
          <a:xfrm>
            <a:off x="274320" y="2423160"/>
            <a:ext cx="1371600" cy="45720"/>
          </a:xfrm>
          <a:prstGeom prst="rect">
            <a:avLst/>
          </a:prstGeom>
          <a:solidFill>
            <a:srgbClr val="E9C46A"/>
          </a:solidFill>
          <a:ln w="12700">
            <a:solidFill>
              <a:srgbClr val="333333"/>
            </a:solidFill>
            <a:prstDash val="solid"/>
          </a:ln>
        </p:spPr>
        <p:txBody>
          <a:bodyPr/>
          <a:lstStyle/>
          <a:p>
            <a:endParaRPr lang="de-AT"/>
          </a:p>
        </p:txBody>
      </p:sp>
      <p:sp>
        <p:nvSpPr>
          <p:cNvPr id="9" name="Text 6"/>
          <p:cNvSpPr/>
          <p:nvPr/>
        </p:nvSpPr>
        <p:spPr>
          <a:xfrm>
            <a:off x="274320" y="2542032"/>
            <a:ext cx="8412480" cy="457200"/>
          </a:xfrm>
          <a:prstGeom prst="rect">
            <a:avLst/>
          </a:prstGeom>
          <a:noFill/>
          <a:ln/>
        </p:spPr>
        <p:txBody>
          <a:bodyPr wrap="square" lIns="0" tIns="0" rIns="0" bIns="0" rtlCol="0" anchor="ctr"/>
          <a:lstStyle/>
          <a:p>
            <a:pPr marL="0" indent="0" algn="l">
              <a:buNone/>
            </a:pPr>
            <a:r>
              <a:rPr lang="en-US" sz="2000" dirty="0">
                <a:solidFill>
                  <a:srgbClr val="E9C46A"/>
                </a:solidFill>
                <a:latin typeface="Georgia" pitchFamily="34" charset="0"/>
                <a:ea typeface="Georgia" pitchFamily="34" charset="-122"/>
                <a:cs typeface="Georgia" pitchFamily="34" charset="-120"/>
              </a:rPr>
              <a:t>Descriptive Statistics – </a:t>
            </a:r>
            <a:r>
              <a:rPr lang="en-US" sz="2000">
                <a:solidFill>
                  <a:srgbClr val="E9C46A"/>
                </a:solidFill>
                <a:latin typeface="Georgia" pitchFamily="34" charset="0"/>
                <a:ea typeface="Georgia" pitchFamily="34" charset="-122"/>
                <a:cs typeface="Georgia" pitchFamily="34" charset="-120"/>
              </a:rPr>
              <a:t>Hypothesis Testing</a:t>
            </a:r>
            <a:endParaRPr lang="en-US" sz="2000" dirty="0"/>
          </a:p>
        </p:txBody>
      </p:sp>
      <p:sp>
        <p:nvSpPr>
          <p:cNvPr id="10" name="Text 7"/>
          <p:cNvSpPr/>
          <p:nvPr/>
        </p:nvSpPr>
        <p:spPr>
          <a:xfrm>
            <a:off x="274320" y="3182112"/>
            <a:ext cx="8412480"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Dr. Arne Floh</a:t>
            </a:r>
            <a:endParaRPr lang="en-US" sz="1400" dirty="0"/>
          </a:p>
        </p:txBody>
      </p:sp>
      <p:sp>
        <p:nvSpPr>
          <p:cNvPr id="11" name="Text 8"/>
          <p:cNvSpPr/>
          <p:nvPr/>
        </p:nvSpPr>
        <p:spPr>
          <a:xfrm>
            <a:off x="274320" y="3538728"/>
            <a:ext cx="8412480" cy="27432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Senior Lecturer, WU Vienna (Wirtschaftsuniversität Wien)</a:t>
            </a:r>
            <a:endParaRPr lang="en-US" sz="1100" dirty="0"/>
          </a:p>
        </p:txBody>
      </p:sp>
      <p:sp>
        <p:nvSpPr>
          <p:cNvPr id="12" name="Text 9"/>
          <p:cNvSpPr/>
          <p:nvPr/>
        </p:nvSpPr>
        <p:spPr>
          <a:xfrm>
            <a:off x="274320" y="3886200"/>
            <a:ext cx="8412480" cy="274320"/>
          </a:xfrm>
          <a:prstGeom prst="rect">
            <a:avLst/>
          </a:prstGeom>
          <a:noFill/>
          <a:ln/>
        </p:spPr>
        <p:txBody>
          <a:bodyPr wrap="square" lIns="0" tIns="0" rIns="0" bIns="0" rtlCol="0" anchor="ctr"/>
          <a:lstStyle/>
          <a:p>
            <a:pPr marL="0" indent="0" algn="l">
              <a:buNone/>
            </a:pPr>
            <a:r>
              <a:rPr lang="en-US" sz="1100" u="sng" dirty="0">
                <a:solidFill>
                  <a:srgbClr val="2A9D8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arne.floh@wu.ac.at</a:t>
            </a:r>
            <a:r>
              <a:rPr lang="en-US" sz="1100" dirty="0">
                <a:solidFill>
                  <a:srgbClr val="94A3B8"/>
                </a:solidFill>
                <a:latin typeface="Calibri" pitchFamily="34" charset="0"/>
                <a:ea typeface="Calibri" pitchFamily="34" charset="-122"/>
                <a:cs typeface="Calibri" pitchFamily="34" charset="-120"/>
              </a:rPr>
              <a:t>   |   </a:t>
            </a:r>
            <a:r>
              <a:rPr lang="en-US" sz="1100" u="sng" dirty="0">
                <a:solidFill>
                  <a:srgbClr val="2A9D8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LinkedIn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Overview</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28600" y="1005840"/>
            <a:ext cx="2057400" cy="38404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28600" y="1005840"/>
            <a:ext cx="2057400" cy="64008"/>
          </a:xfrm>
          <a:prstGeom prst="rect">
            <a:avLst/>
          </a:prstGeom>
          <a:solidFill>
            <a:srgbClr val="065A82"/>
          </a:solidFill>
          <a:ln w="12700">
            <a:solidFill>
              <a:srgbClr val="333333"/>
            </a:solidFill>
            <a:prstDash val="solid"/>
          </a:ln>
        </p:spPr>
        <p:txBody>
          <a:bodyPr/>
          <a:lstStyle/>
          <a:p>
            <a:endParaRPr lang="de-AT"/>
          </a:p>
        </p:txBody>
      </p:sp>
      <p:sp>
        <p:nvSpPr>
          <p:cNvPr id="10" name="Text 7"/>
          <p:cNvSpPr/>
          <p:nvPr/>
        </p:nvSpPr>
        <p:spPr>
          <a:xfrm>
            <a:off x="365760" y="1115568"/>
            <a:ext cx="1783080" cy="457200"/>
          </a:xfrm>
          <a:prstGeom prst="rect">
            <a:avLst/>
          </a:prstGeom>
          <a:noFill/>
          <a:ln/>
        </p:spPr>
        <p:txBody>
          <a:bodyPr wrap="square" lIns="0" tIns="0" rIns="0" bIns="0"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01</a:t>
            </a:r>
            <a:endParaRPr lang="en-US" sz="2800" dirty="0"/>
          </a:p>
        </p:txBody>
      </p:sp>
      <p:sp>
        <p:nvSpPr>
          <p:cNvPr id="11" name="Shape 8"/>
          <p:cNvSpPr/>
          <p:nvPr/>
        </p:nvSpPr>
        <p:spPr>
          <a:xfrm>
            <a:off x="365760" y="1627632"/>
            <a:ext cx="457200" cy="457200"/>
          </a:xfrm>
          <a:prstGeom prst="ellipse">
            <a:avLst/>
          </a:prstGeom>
          <a:solidFill>
            <a:srgbClr val="065A82"/>
          </a:solidFill>
          <a:ln w="12700">
            <a:solidFill>
              <a:srgbClr val="333333"/>
            </a:solidFill>
            <a:prstDash val="solid"/>
          </a:ln>
        </p:spPr>
        <p:txBody>
          <a:bodyPr/>
          <a:lstStyle/>
          <a:p>
            <a:endParaRPr lang="de-AT"/>
          </a:p>
        </p:txBody>
      </p:sp>
      <p:pic>
        <p:nvPicPr>
          <p:cNvPr id="12" name="Image 1" descr="preencoded.png"/>
          <p:cNvPicPr>
            <a:picLocks noChangeAspect="1"/>
          </p:cNvPicPr>
          <p:nvPr/>
        </p:nvPicPr>
        <p:blipFill>
          <a:blip r:embed="rId4"/>
          <a:stretch>
            <a:fillRect/>
          </a:stretch>
        </p:blipFill>
        <p:spPr>
          <a:xfrm>
            <a:off x="429768" y="1691640"/>
            <a:ext cx="329184" cy="329184"/>
          </a:xfrm>
          <a:prstGeom prst="rect">
            <a:avLst/>
          </a:prstGeom>
        </p:spPr>
      </p:pic>
      <p:sp>
        <p:nvSpPr>
          <p:cNvPr id="13" name="Text 9"/>
          <p:cNvSpPr/>
          <p:nvPr/>
        </p:nvSpPr>
        <p:spPr>
          <a:xfrm>
            <a:off x="365760" y="2176272"/>
            <a:ext cx="1783080" cy="64008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Introductory</a:t>
            </a:r>
            <a:endParaRPr lang="en-US" sz="1300" dirty="0"/>
          </a:p>
          <a:p>
            <a:pPr marL="0" indent="0">
              <a:buNone/>
            </a:pPr>
            <a:r>
              <a:rPr lang="en-US" sz="1300" b="1" dirty="0">
                <a:solidFill>
                  <a:srgbClr val="1E293B"/>
                </a:solidFill>
                <a:latin typeface="Georgia" pitchFamily="34" charset="0"/>
                <a:ea typeface="Georgia" pitchFamily="34" charset="-122"/>
                <a:cs typeface="Georgia" pitchFamily="34" charset="-120"/>
              </a:rPr>
              <a:t>Example</a:t>
            </a:r>
            <a:endParaRPr lang="en-US" sz="1300" dirty="0"/>
          </a:p>
        </p:txBody>
      </p:sp>
      <p:sp>
        <p:nvSpPr>
          <p:cNvPr id="14" name="Text 10"/>
          <p:cNvSpPr/>
          <p:nvPr/>
        </p:nvSpPr>
        <p:spPr>
          <a:xfrm>
            <a:off x="365760" y="2880360"/>
            <a:ext cx="1783080" cy="1737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The Tico Taco case and why marketing analytics matters</a:t>
            </a:r>
            <a:endParaRPr lang="en-US" sz="1050" dirty="0"/>
          </a:p>
        </p:txBody>
      </p:sp>
      <p:sp>
        <p:nvSpPr>
          <p:cNvPr id="15" name="Shape 11"/>
          <p:cNvSpPr/>
          <p:nvPr/>
        </p:nvSpPr>
        <p:spPr>
          <a:xfrm>
            <a:off x="2423160" y="1005840"/>
            <a:ext cx="2057400" cy="38404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6" name="Shape 12"/>
          <p:cNvSpPr/>
          <p:nvPr/>
        </p:nvSpPr>
        <p:spPr>
          <a:xfrm>
            <a:off x="2423160" y="1005840"/>
            <a:ext cx="2057400" cy="64008"/>
          </a:xfrm>
          <a:prstGeom prst="rect">
            <a:avLst/>
          </a:prstGeom>
          <a:solidFill>
            <a:srgbClr val="065A82"/>
          </a:solidFill>
          <a:ln w="12700">
            <a:solidFill>
              <a:srgbClr val="333333"/>
            </a:solidFill>
            <a:prstDash val="solid"/>
          </a:ln>
        </p:spPr>
        <p:txBody>
          <a:bodyPr/>
          <a:lstStyle/>
          <a:p>
            <a:endParaRPr lang="de-AT"/>
          </a:p>
        </p:txBody>
      </p:sp>
      <p:sp>
        <p:nvSpPr>
          <p:cNvPr id="17" name="Text 13"/>
          <p:cNvSpPr/>
          <p:nvPr/>
        </p:nvSpPr>
        <p:spPr>
          <a:xfrm>
            <a:off x="2560320" y="1115568"/>
            <a:ext cx="1783080" cy="457200"/>
          </a:xfrm>
          <a:prstGeom prst="rect">
            <a:avLst/>
          </a:prstGeom>
          <a:noFill/>
          <a:ln/>
        </p:spPr>
        <p:txBody>
          <a:bodyPr wrap="square" lIns="0" tIns="0" rIns="0" bIns="0"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02</a:t>
            </a:r>
            <a:endParaRPr lang="en-US" sz="2800" dirty="0"/>
          </a:p>
        </p:txBody>
      </p:sp>
      <p:sp>
        <p:nvSpPr>
          <p:cNvPr id="18" name="Shape 14"/>
          <p:cNvSpPr/>
          <p:nvPr/>
        </p:nvSpPr>
        <p:spPr>
          <a:xfrm>
            <a:off x="2560320" y="1627632"/>
            <a:ext cx="457200" cy="457200"/>
          </a:xfrm>
          <a:prstGeom prst="ellipse">
            <a:avLst/>
          </a:prstGeom>
          <a:solidFill>
            <a:srgbClr val="065A82"/>
          </a:solidFill>
          <a:ln w="12700">
            <a:solidFill>
              <a:srgbClr val="333333"/>
            </a:solidFill>
            <a:prstDash val="solid"/>
          </a:ln>
        </p:spPr>
        <p:txBody>
          <a:bodyPr/>
          <a:lstStyle/>
          <a:p>
            <a:endParaRPr lang="de-AT"/>
          </a:p>
        </p:txBody>
      </p:sp>
      <p:pic>
        <p:nvPicPr>
          <p:cNvPr id="19" name="Image 2" descr="preencoded.png"/>
          <p:cNvPicPr>
            <a:picLocks noChangeAspect="1"/>
          </p:cNvPicPr>
          <p:nvPr/>
        </p:nvPicPr>
        <p:blipFill>
          <a:blip r:embed="rId5"/>
          <a:stretch>
            <a:fillRect/>
          </a:stretch>
        </p:blipFill>
        <p:spPr>
          <a:xfrm>
            <a:off x="2624328" y="1691640"/>
            <a:ext cx="329184" cy="329184"/>
          </a:xfrm>
          <a:prstGeom prst="rect">
            <a:avLst/>
          </a:prstGeom>
        </p:spPr>
      </p:pic>
      <p:sp>
        <p:nvSpPr>
          <p:cNvPr id="20" name="Text 15"/>
          <p:cNvSpPr/>
          <p:nvPr/>
        </p:nvSpPr>
        <p:spPr>
          <a:xfrm>
            <a:off x="2560320" y="2176272"/>
            <a:ext cx="1783080" cy="64008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Measurement</a:t>
            </a:r>
            <a:endParaRPr lang="en-US" sz="1300" dirty="0"/>
          </a:p>
          <a:p>
            <a:pPr marL="0" indent="0">
              <a:buNone/>
            </a:pPr>
            <a:r>
              <a:rPr lang="en-US" sz="1300" b="1" dirty="0">
                <a:solidFill>
                  <a:srgbClr val="1E293B"/>
                </a:solidFill>
                <a:latin typeface="Georgia" pitchFamily="34" charset="0"/>
                <a:ea typeface="Georgia" pitchFamily="34" charset="-122"/>
                <a:cs typeface="Georgia" pitchFamily="34" charset="-120"/>
              </a:rPr>
              <a:t>Scales</a:t>
            </a:r>
            <a:endParaRPr lang="en-US" sz="1300" dirty="0"/>
          </a:p>
        </p:txBody>
      </p:sp>
      <p:sp>
        <p:nvSpPr>
          <p:cNvPr id="21" name="Text 16"/>
          <p:cNvSpPr/>
          <p:nvPr/>
        </p:nvSpPr>
        <p:spPr>
          <a:xfrm>
            <a:off x="2560320" y="2880360"/>
            <a:ext cx="1783080" cy="1737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Nominal, ordinal, interval, and ratio scales</a:t>
            </a:r>
            <a:endParaRPr lang="en-US" sz="1050" dirty="0"/>
          </a:p>
        </p:txBody>
      </p:sp>
      <p:sp>
        <p:nvSpPr>
          <p:cNvPr id="22" name="Shape 17"/>
          <p:cNvSpPr/>
          <p:nvPr/>
        </p:nvSpPr>
        <p:spPr>
          <a:xfrm>
            <a:off x="4617720" y="1005840"/>
            <a:ext cx="2057400" cy="38404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23" name="Shape 18"/>
          <p:cNvSpPr/>
          <p:nvPr/>
        </p:nvSpPr>
        <p:spPr>
          <a:xfrm>
            <a:off x="4617720" y="1005840"/>
            <a:ext cx="2057400" cy="64008"/>
          </a:xfrm>
          <a:prstGeom prst="rect">
            <a:avLst/>
          </a:prstGeom>
          <a:solidFill>
            <a:srgbClr val="065A82"/>
          </a:solidFill>
          <a:ln w="12700">
            <a:solidFill>
              <a:srgbClr val="333333"/>
            </a:solidFill>
            <a:prstDash val="solid"/>
          </a:ln>
        </p:spPr>
        <p:txBody>
          <a:bodyPr/>
          <a:lstStyle/>
          <a:p>
            <a:endParaRPr lang="de-AT"/>
          </a:p>
        </p:txBody>
      </p:sp>
      <p:sp>
        <p:nvSpPr>
          <p:cNvPr id="24" name="Text 19"/>
          <p:cNvSpPr/>
          <p:nvPr/>
        </p:nvSpPr>
        <p:spPr>
          <a:xfrm>
            <a:off x="4754880" y="1115568"/>
            <a:ext cx="1783080" cy="457200"/>
          </a:xfrm>
          <a:prstGeom prst="rect">
            <a:avLst/>
          </a:prstGeom>
          <a:noFill/>
          <a:ln/>
        </p:spPr>
        <p:txBody>
          <a:bodyPr wrap="square" lIns="0" tIns="0" rIns="0" bIns="0"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03</a:t>
            </a:r>
            <a:endParaRPr lang="en-US" sz="2800" dirty="0"/>
          </a:p>
        </p:txBody>
      </p:sp>
      <p:sp>
        <p:nvSpPr>
          <p:cNvPr id="25" name="Shape 20"/>
          <p:cNvSpPr/>
          <p:nvPr/>
        </p:nvSpPr>
        <p:spPr>
          <a:xfrm>
            <a:off x="4754880" y="1627632"/>
            <a:ext cx="457200" cy="457200"/>
          </a:xfrm>
          <a:prstGeom prst="ellipse">
            <a:avLst/>
          </a:prstGeom>
          <a:solidFill>
            <a:srgbClr val="065A82"/>
          </a:solidFill>
          <a:ln w="12700">
            <a:solidFill>
              <a:srgbClr val="333333"/>
            </a:solidFill>
            <a:prstDash val="solid"/>
          </a:ln>
        </p:spPr>
        <p:txBody>
          <a:bodyPr/>
          <a:lstStyle/>
          <a:p>
            <a:endParaRPr lang="de-AT"/>
          </a:p>
        </p:txBody>
      </p:sp>
      <p:pic>
        <p:nvPicPr>
          <p:cNvPr id="26" name="Image 3" descr="preencoded.png"/>
          <p:cNvPicPr>
            <a:picLocks noChangeAspect="1"/>
          </p:cNvPicPr>
          <p:nvPr/>
        </p:nvPicPr>
        <p:blipFill>
          <a:blip r:embed="rId6"/>
          <a:stretch>
            <a:fillRect/>
          </a:stretch>
        </p:blipFill>
        <p:spPr>
          <a:xfrm>
            <a:off x="4818888" y="1691640"/>
            <a:ext cx="329184" cy="329184"/>
          </a:xfrm>
          <a:prstGeom prst="rect">
            <a:avLst/>
          </a:prstGeom>
        </p:spPr>
      </p:pic>
      <p:sp>
        <p:nvSpPr>
          <p:cNvPr id="27" name="Text 21"/>
          <p:cNvSpPr/>
          <p:nvPr/>
        </p:nvSpPr>
        <p:spPr>
          <a:xfrm>
            <a:off x="4754880" y="2176272"/>
            <a:ext cx="1783080" cy="64008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Descriptive</a:t>
            </a:r>
            <a:endParaRPr lang="en-US" sz="1300" dirty="0"/>
          </a:p>
          <a:p>
            <a:pPr marL="0" indent="0">
              <a:buNone/>
            </a:pPr>
            <a:r>
              <a:rPr lang="en-US" sz="1300" b="1" dirty="0">
                <a:solidFill>
                  <a:srgbClr val="1E293B"/>
                </a:solidFill>
                <a:latin typeface="Georgia" pitchFamily="34" charset="0"/>
                <a:ea typeface="Georgia" pitchFamily="34" charset="-122"/>
                <a:cs typeface="Georgia" pitchFamily="34" charset="-120"/>
              </a:rPr>
              <a:t>Statistics</a:t>
            </a:r>
            <a:endParaRPr lang="en-US" sz="1300" dirty="0"/>
          </a:p>
        </p:txBody>
      </p:sp>
      <p:sp>
        <p:nvSpPr>
          <p:cNvPr id="28" name="Text 22"/>
          <p:cNvSpPr/>
          <p:nvPr/>
        </p:nvSpPr>
        <p:spPr>
          <a:xfrm>
            <a:off x="4754880" y="2880360"/>
            <a:ext cx="1783080" cy="1737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Central tendency, variability, distributions</a:t>
            </a:r>
            <a:endParaRPr lang="en-US" sz="1050" dirty="0"/>
          </a:p>
        </p:txBody>
      </p:sp>
      <p:sp>
        <p:nvSpPr>
          <p:cNvPr id="29" name="Shape 23"/>
          <p:cNvSpPr/>
          <p:nvPr/>
        </p:nvSpPr>
        <p:spPr>
          <a:xfrm>
            <a:off x="6812280" y="1005840"/>
            <a:ext cx="2057400" cy="38404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30" name="Shape 24"/>
          <p:cNvSpPr/>
          <p:nvPr/>
        </p:nvSpPr>
        <p:spPr>
          <a:xfrm>
            <a:off x="6812280" y="1005840"/>
            <a:ext cx="2057400" cy="64008"/>
          </a:xfrm>
          <a:prstGeom prst="rect">
            <a:avLst/>
          </a:prstGeom>
          <a:solidFill>
            <a:srgbClr val="065A82"/>
          </a:solidFill>
          <a:ln w="12700">
            <a:solidFill>
              <a:srgbClr val="333333"/>
            </a:solidFill>
            <a:prstDash val="solid"/>
          </a:ln>
        </p:spPr>
        <p:txBody>
          <a:bodyPr/>
          <a:lstStyle/>
          <a:p>
            <a:endParaRPr lang="de-AT"/>
          </a:p>
        </p:txBody>
      </p:sp>
      <p:sp>
        <p:nvSpPr>
          <p:cNvPr id="31" name="Text 25"/>
          <p:cNvSpPr/>
          <p:nvPr/>
        </p:nvSpPr>
        <p:spPr>
          <a:xfrm>
            <a:off x="6949440" y="1115568"/>
            <a:ext cx="1783080" cy="457200"/>
          </a:xfrm>
          <a:prstGeom prst="rect">
            <a:avLst/>
          </a:prstGeom>
          <a:noFill/>
          <a:ln/>
        </p:spPr>
        <p:txBody>
          <a:bodyPr wrap="square" lIns="0" tIns="0" rIns="0" bIns="0" rtlCol="0" anchor="ctr"/>
          <a:lstStyle/>
          <a:p>
            <a:pPr marL="0" indent="0">
              <a:buNone/>
            </a:pPr>
            <a:r>
              <a:rPr lang="en-US" sz="2800" b="1" dirty="0">
                <a:solidFill>
                  <a:srgbClr val="065A82"/>
                </a:solidFill>
                <a:latin typeface="Georgia" pitchFamily="34" charset="0"/>
                <a:ea typeface="Georgia" pitchFamily="34" charset="-122"/>
                <a:cs typeface="Georgia" pitchFamily="34" charset="-120"/>
              </a:rPr>
              <a:t>04</a:t>
            </a:r>
            <a:endParaRPr lang="en-US" sz="2800" dirty="0"/>
          </a:p>
        </p:txBody>
      </p:sp>
      <p:sp>
        <p:nvSpPr>
          <p:cNvPr id="32" name="Shape 26"/>
          <p:cNvSpPr/>
          <p:nvPr/>
        </p:nvSpPr>
        <p:spPr>
          <a:xfrm>
            <a:off x="6949440" y="1627632"/>
            <a:ext cx="457200" cy="457200"/>
          </a:xfrm>
          <a:prstGeom prst="ellipse">
            <a:avLst/>
          </a:prstGeom>
          <a:solidFill>
            <a:srgbClr val="065A82"/>
          </a:solidFill>
          <a:ln w="12700">
            <a:solidFill>
              <a:srgbClr val="333333"/>
            </a:solidFill>
            <a:prstDash val="solid"/>
          </a:ln>
        </p:spPr>
        <p:txBody>
          <a:bodyPr/>
          <a:lstStyle/>
          <a:p>
            <a:endParaRPr lang="de-AT"/>
          </a:p>
        </p:txBody>
      </p:sp>
      <p:pic>
        <p:nvPicPr>
          <p:cNvPr id="33" name="Image 4" descr="preencoded.png"/>
          <p:cNvPicPr>
            <a:picLocks noChangeAspect="1"/>
          </p:cNvPicPr>
          <p:nvPr/>
        </p:nvPicPr>
        <p:blipFill>
          <a:blip r:embed="rId7"/>
          <a:stretch>
            <a:fillRect/>
          </a:stretch>
        </p:blipFill>
        <p:spPr>
          <a:xfrm>
            <a:off x="7013448" y="1691640"/>
            <a:ext cx="329184" cy="329184"/>
          </a:xfrm>
          <a:prstGeom prst="rect">
            <a:avLst/>
          </a:prstGeom>
        </p:spPr>
      </p:pic>
      <p:sp>
        <p:nvSpPr>
          <p:cNvPr id="34" name="Text 27"/>
          <p:cNvSpPr/>
          <p:nvPr/>
        </p:nvSpPr>
        <p:spPr>
          <a:xfrm>
            <a:off x="6949440" y="2176272"/>
            <a:ext cx="1783080" cy="64008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Inductive</a:t>
            </a:r>
            <a:endParaRPr lang="en-US" sz="1300" dirty="0"/>
          </a:p>
          <a:p>
            <a:pPr marL="0" indent="0">
              <a:buNone/>
            </a:pPr>
            <a:r>
              <a:rPr lang="en-US" sz="1300" b="1" dirty="0">
                <a:solidFill>
                  <a:srgbClr val="1E293B"/>
                </a:solidFill>
                <a:latin typeface="Georgia" pitchFamily="34" charset="0"/>
                <a:ea typeface="Georgia" pitchFamily="34" charset="-122"/>
                <a:cs typeface="Georgia" pitchFamily="34" charset="-120"/>
              </a:rPr>
              <a:t>Statistics</a:t>
            </a:r>
            <a:endParaRPr lang="en-US" sz="1300" dirty="0"/>
          </a:p>
        </p:txBody>
      </p:sp>
      <p:sp>
        <p:nvSpPr>
          <p:cNvPr id="35" name="Text 28"/>
          <p:cNvSpPr/>
          <p:nvPr/>
        </p:nvSpPr>
        <p:spPr>
          <a:xfrm>
            <a:off x="6949440" y="2880360"/>
            <a:ext cx="1783080" cy="17373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Hypothesis testing, p-values, significance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57200" y="1417320"/>
            <a:ext cx="685800" cy="68580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557784" y="1517904"/>
            <a:ext cx="484632" cy="484632"/>
          </a:xfrm>
          <a:prstGeom prst="rect">
            <a:avLst/>
          </a:prstGeom>
        </p:spPr>
      </p:pic>
      <p:sp>
        <p:nvSpPr>
          <p:cNvPr id="5" name="Text 2"/>
          <p:cNvSpPr/>
          <p:nvPr/>
        </p:nvSpPr>
        <p:spPr>
          <a:xfrm>
            <a:off x="457200" y="2212848"/>
            <a:ext cx="822960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Chapter 1</a:t>
            </a:r>
            <a:endParaRPr lang="en-US" sz="1200" dirty="0"/>
          </a:p>
        </p:txBody>
      </p:sp>
      <p:sp>
        <p:nvSpPr>
          <p:cNvPr id="6" name="Text 3"/>
          <p:cNvSpPr/>
          <p:nvPr/>
        </p:nvSpPr>
        <p:spPr>
          <a:xfrm>
            <a:off x="457200" y="251460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Introductory Example</a:t>
            </a:r>
            <a:endParaRPr lang="en-US" sz="3200" dirty="0"/>
          </a:p>
        </p:txBody>
      </p:sp>
      <p:sp>
        <p:nvSpPr>
          <p:cNvPr id="7" name="Shape 4"/>
          <p:cNvSpPr/>
          <p:nvPr/>
        </p:nvSpPr>
        <p:spPr>
          <a:xfrm>
            <a:off x="457200" y="3364992"/>
            <a:ext cx="1371600" cy="45720"/>
          </a:xfrm>
          <a:prstGeom prst="rect">
            <a:avLst/>
          </a:prstGeom>
          <a:solidFill>
            <a:srgbClr val="E9C46A"/>
          </a:solidFill>
          <a:ln w="12700">
            <a:solidFill>
              <a:srgbClr val="333333"/>
            </a:solidFill>
            <a:prstDash val="solid"/>
          </a:ln>
        </p:spPr>
        <p:txBody>
          <a:bodyPr/>
          <a:lstStyle/>
          <a:p>
            <a:endParaRPr lang="de-AT"/>
          </a:p>
        </p:txBody>
      </p:sp>
      <p:sp>
        <p:nvSpPr>
          <p:cNvPr id="8" name="Text 5"/>
          <p:cNvSpPr/>
          <p:nvPr/>
        </p:nvSpPr>
        <p:spPr>
          <a:xfrm>
            <a:off x="457200" y="3493008"/>
            <a:ext cx="8229600" cy="41148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The Tico Taco case and the need for marketing analytics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Tico Taco's Super Taco Option</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28600" y="1051560"/>
            <a:ext cx="4297680" cy="388620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28600" y="1051560"/>
            <a:ext cx="64008" cy="3886200"/>
          </a:xfrm>
          <a:prstGeom prst="rect">
            <a:avLst/>
          </a:prstGeom>
          <a:solidFill>
            <a:srgbClr val="065A82"/>
          </a:solidFill>
          <a:ln w="12700">
            <a:solidFill>
              <a:srgbClr val="333333"/>
            </a:solidFill>
            <a:prstDash val="solid"/>
          </a:ln>
        </p:spPr>
        <p:txBody>
          <a:bodyPr/>
          <a:lstStyle/>
          <a:p>
            <a:endParaRPr lang="de-AT"/>
          </a:p>
        </p:txBody>
      </p:sp>
      <p:sp>
        <p:nvSpPr>
          <p:cNvPr id="10" name="Text 7"/>
          <p:cNvSpPr/>
          <p:nvPr/>
        </p:nvSpPr>
        <p:spPr>
          <a:xfrm>
            <a:off x="411480" y="1143000"/>
            <a:ext cx="3977640" cy="34747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The Case</a:t>
            </a:r>
            <a:endParaRPr lang="en-US" sz="1300" dirty="0"/>
          </a:p>
        </p:txBody>
      </p:sp>
      <p:sp>
        <p:nvSpPr>
          <p:cNvPr id="11" name="Text 8"/>
          <p:cNvSpPr/>
          <p:nvPr/>
        </p:nvSpPr>
        <p:spPr>
          <a:xfrm>
            <a:off x="411480" y="1536192"/>
            <a:ext cx="3977640" cy="324612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Tico Taco, a chain of Mexican fast-food restaurants in Wichita, Kansas (est. 1962), considered offering a "Super Sonic Taco" at its 17th store.</a:t>
            </a:r>
            <a:r>
              <a:rPr lang="en-US" sz="1100" dirty="0">
                <a:solidFill>
                  <a:srgbClr val="000000"/>
                </a:solidFill>
              </a:rPr>
              <a:t>
</a:t>
            </a:r>
            <a:r>
              <a:rPr lang="en-US" sz="1200" b="1" dirty="0">
                <a:solidFill>
                  <a:srgbClr val="065A82"/>
                </a:solidFill>
                <a:latin typeface="Georgia" pitchFamily="34" charset="0"/>
                <a:ea typeface="Georgia" pitchFamily="34" charset="-122"/>
                <a:cs typeface="Georgia" pitchFamily="34" charset="-120"/>
              </a:rPr>
              <a:t>The Research Questions:</a:t>
            </a:r>
            <a:r>
              <a:rPr lang="en-US" sz="1100" dirty="0">
                <a:solidFill>
                  <a:srgbClr val="000000"/>
                </a:solidFill>
              </a:rPr>
              <a:t>
</a:t>
            </a:r>
            <a:r>
              <a:rPr lang="en-US" sz="1100" dirty="0">
                <a:solidFill>
                  <a:srgbClr val="334155"/>
                </a:solidFill>
                <a:latin typeface="Calibri" pitchFamily="34" charset="0"/>
                <a:ea typeface="Calibri" pitchFamily="34" charset="-122"/>
                <a:cs typeface="Calibri" pitchFamily="34" charset="-120"/>
              </a:rPr>
              <a:t>1) Who is the target market?</a:t>
            </a:r>
            <a:r>
              <a:rPr lang="en-US" sz="1100" dirty="0">
                <a:solidFill>
                  <a:srgbClr val="000000"/>
                </a:solidFill>
              </a:rPr>
              <a:t>
</a:t>
            </a:r>
            <a:r>
              <a:rPr lang="en-US" sz="1100" dirty="0">
                <a:solidFill>
                  <a:srgbClr val="334155"/>
                </a:solidFill>
                <a:latin typeface="Calibri" pitchFamily="34" charset="0"/>
                <a:ea typeface="Calibri" pitchFamily="34" charset="-122"/>
                <a:cs typeface="Calibri" pitchFamily="34" charset="-120"/>
              </a:rPr>
              <a:t>2) What topping options do customers prefer?</a:t>
            </a:r>
            <a:r>
              <a:rPr lang="en-US" sz="1100" dirty="0">
                <a:solidFill>
                  <a:srgbClr val="000000"/>
                </a:solidFill>
              </a:rPr>
              <a:t>
</a:t>
            </a:r>
            <a:r>
              <a:rPr lang="en-US" sz="1050" i="1" dirty="0">
                <a:solidFill>
                  <a:srgbClr val="64748B"/>
                </a:solidFill>
                <a:latin typeface="Calibri" pitchFamily="34" charset="0"/>
                <a:ea typeface="Calibri" pitchFamily="34" charset="-122"/>
                <a:cs typeface="Calibri" pitchFamily="34" charset="-120"/>
              </a:rPr>
              <a:t>500 men under 30 were surveyed about their taco preferences.</a:t>
            </a:r>
            <a:endParaRPr lang="en-US" sz="1100" dirty="0"/>
          </a:p>
        </p:txBody>
      </p:sp>
      <p:pic>
        <p:nvPicPr>
          <p:cNvPr id="12" name="Image 1" descr="preencoded.png"/>
          <p:cNvPicPr>
            <a:picLocks noChangeAspect="1"/>
          </p:cNvPicPr>
          <p:nvPr/>
        </p:nvPicPr>
        <p:blipFill>
          <a:blip r:embed="rId4"/>
          <a:srcRect/>
          <a:stretch/>
        </p:blipFill>
        <p:spPr>
          <a:xfrm>
            <a:off x="4754880" y="1051560"/>
            <a:ext cx="4160520" cy="2240280"/>
          </a:xfrm>
          <a:prstGeom prst="rect">
            <a:avLst/>
          </a:prstGeom>
        </p:spPr>
      </p:pic>
      <p:pic>
        <p:nvPicPr>
          <p:cNvPr id="13" name="Image 2" descr="preencoded.png"/>
          <p:cNvPicPr>
            <a:picLocks noChangeAspect="1"/>
          </p:cNvPicPr>
          <p:nvPr/>
        </p:nvPicPr>
        <p:blipFill>
          <a:blip r:embed="rId5"/>
          <a:srcRect/>
          <a:stretch/>
        </p:blipFill>
        <p:spPr>
          <a:xfrm>
            <a:off x="4754880" y="3364992"/>
            <a:ext cx="4160520" cy="15727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Why Marketing Research?</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Shape 4"/>
          <p:cNvSpPr/>
          <p:nvPr/>
        </p:nvSpPr>
        <p:spPr>
          <a:xfrm>
            <a:off x="274320" y="1051560"/>
            <a:ext cx="8595360" cy="86868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8" name="Shape 5"/>
          <p:cNvSpPr/>
          <p:nvPr/>
        </p:nvSpPr>
        <p:spPr>
          <a:xfrm>
            <a:off x="274320" y="1051560"/>
            <a:ext cx="64008" cy="868680"/>
          </a:xfrm>
          <a:prstGeom prst="rect">
            <a:avLst/>
          </a:prstGeom>
          <a:solidFill>
            <a:srgbClr val="1C7293"/>
          </a:solidFill>
          <a:ln w="12700">
            <a:solidFill>
              <a:srgbClr val="333333"/>
            </a:solidFill>
            <a:prstDash val="solid"/>
          </a:ln>
        </p:spPr>
        <p:txBody>
          <a:bodyPr/>
          <a:lstStyle/>
          <a:p>
            <a:endParaRPr lang="de-AT"/>
          </a:p>
        </p:txBody>
      </p:sp>
      <p:sp>
        <p:nvSpPr>
          <p:cNvPr id="9" name="Text 6"/>
          <p:cNvSpPr/>
          <p:nvPr/>
        </p:nvSpPr>
        <p:spPr>
          <a:xfrm>
            <a:off x="502920" y="1115568"/>
            <a:ext cx="8183880" cy="713232"/>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A marketing research study was undertaken to identify the target market and determine what options the Super Sonic Taco should offer.</a:t>
            </a:r>
            <a:endParaRPr lang="en-US" sz="1200" dirty="0"/>
          </a:p>
        </p:txBody>
      </p:sp>
      <p:sp>
        <p:nvSpPr>
          <p:cNvPr id="10" name="Shape 7"/>
          <p:cNvSpPr/>
          <p:nvPr/>
        </p:nvSpPr>
        <p:spPr>
          <a:xfrm>
            <a:off x="274320" y="2103120"/>
            <a:ext cx="8595360" cy="86868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11" name="Shape 8"/>
          <p:cNvSpPr/>
          <p:nvPr/>
        </p:nvSpPr>
        <p:spPr>
          <a:xfrm>
            <a:off x="274320" y="2103120"/>
            <a:ext cx="64008" cy="868680"/>
          </a:xfrm>
          <a:prstGeom prst="rect">
            <a:avLst/>
          </a:prstGeom>
          <a:solidFill>
            <a:srgbClr val="065A82"/>
          </a:solidFill>
          <a:ln w="12700">
            <a:solidFill>
              <a:srgbClr val="333333"/>
            </a:solidFill>
            <a:prstDash val="solid"/>
          </a:ln>
        </p:spPr>
        <p:txBody>
          <a:bodyPr/>
          <a:lstStyle/>
          <a:p>
            <a:endParaRPr lang="de-AT"/>
          </a:p>
        </p:txBody>
      </p:sp>
      <p:sp>
        <p:nvSpPr>
          <p:cNvPr id="12" name="Text 9"/>
          <p:cNvSpPr/>
          <p:nvPr/>
        </p:nvSpPr>
        <p:spPr>
          <a:xfrm>
            <a:off x="502920" y="2194560"/>
            <a:ext cx="8229600" cy="292608"/>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How to test the assumptions?</a:t>
            </a:r>
            <a:endParaRPr lang="en-US" sz="1200" dirty="0"/>
          </a:p>
        </p:txBody>
      </p:sp>
      <p:sp>
        <p:nvSpPr>
          <p:cNvPr id="13" name="Text 10"/>
          <p:cNvSpPr/>
          <p:nvPr/>
        </p:nvSpPr>
        <p:spPr>
          <a:xfrm>
            <a:off x="502920" y="2523744"/>
            <a:ext cx="822960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Hypothesis testing determines if the predicted profile (men under 30, not health-conscious) is supported by data.</a:t>
            </a:r>
            <a:endParaRPr lang="en-US" sz="1100" dirty="0"/>
          </a:p>
        </p:txBody>
      </p:sp>
      <p:sp>
        <p:nvSpPr>
          <p:cNvPr id="14" name="Shape 11"/>
          <p:cNvSpPr/>
          <p:nvPr/>
        </p:nvSpPr>
        <p:spPr>
          <a:xfrm>
            <a:off x="274320" y="3108960"/>
            <a:ext cx="8595360" cy="86868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15" name="Shape 12"/>
          <p:cNvSpPr/>
          <p:nvPr/>
        </p:nvSpPr>
        <p:spPr>
          <a:xfrm>
            <a:off x="274320" y="3108960"/>
            <a:ext cx="64008" cy="868680"/>
          </a:xfrm>
          <a:prstGeom prst="rect">
            <a:avLst/>
          </a:prstGeom>
          <a:solidFill>
            <a:srgbClr val="065A82"/>
          </a:solidFill>
          <a:ln w="12700">
            <a:solidFill>
              <a:srgbClr val="333333"/>
            </a:solidFill>
            <a:prstDash val="solid"/>
          </a:ln>
        </p:spPr>
        <p:txBody>
          <a:bodyPr/>
          <a:lstStyle/>
          <a:p>
            <a:endParaRPr lang="de-AT"/>
          </a:p>
        </p:txBody>
      </p:sp>
      <p:sp>
        <p:nvSpPr>
          <p:cNvPr id="16" name="Text 13"/>
          <p:cNvSpPr/>
          <p:nvPr/>
        </p:nvSpPr>
        <p:spPr>
          <a:xfrm>
            <a:off x="502920" y="3200400"/>
            <a:ext cx="8229600" cy="292608"/>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How to determine the best options?</a:t>
            </a:r>
            <a:endParaRPr lang="en-US" sz="1200" dirty="0"/>
          </a:p>
        </p:txBody>
      </p:sp>
      <p:sp>
        <p:nvSpPr>
          <p:cNvPr id="17" name="Text 14"/>
          <p:cNvSpPr/>
          <p:nvPr/>
        </p:nvSpPr>
        <p:spPr>
          <a:xfrm>
            <a:off x="502920" y="3529584"/>
            <a:ext cx="822960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Descriptive statistics (frequencies, proportions) reveal which toppings are most popular among the target group.</a:t>
            </a:r>
            <a:endParaRPr lang="en-US" sz="1100" dirty="0"/>
          </a:p>
        </p:txBody>
      </p:sp>
      <p:sp>
        <p:nvSpPr>
          <p:cNvPr id="18" name="Shape 15"/>
          <p:cNvSpPr/>
          <p:nvPr/>
        </p:nvSpPr>
        <p:spPr>
          <a:xfrm>
            <a:off x="274320" y="4114800"/>
            <a:ext cx="8595360" cy="86868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19" name="Shape 16"/>
          <p:cNvSpPr/>
          <p:nvPr/>
        </p:nvSpPr>
        <p:spPr>
          <a:xfrm>
            <a:off x="274320" y="4114800"/>
            <a:ext cx="64008" cy="868680"/>
          </a:xfrm>
          <a:prstGeom prst="rect">
            <a:avLst/>
          </a:prstGeom>
          <a:solidFill>
            <a:srgbClr val="065A82"/>
          </a:solidFill>
          <a:ln w="12700">
            <a:solidFill>
              <a:srgbClr val="333333"/>
            </a:solidFill>
            <a:prstDash val="solid"/>
          </a:ln>
        </p:spPr>
        <p:txBody>
          <a:bodyPr/>
          <a:lstStyle/>
          <a:p>
            <a:endParaRPr lang="de-AT"/>
          </a:p>
        </p:txBody>
      </p:sp>
      <p:sp>
        <p:nvSpPr>
          <p:cNvPr id="20" name="Text 17"/>
          <p:cNvSpPr/>
          <p:nvPr/>
        </p:nvSpPr>
        <p:spPr>
          <a:xfrm>
            <a:off x="502920" y="4206240"/>
            <a:ext cx="8229600" cy="292608"/>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What are the statistical differences?</a:t>
            </a:r>
            <a:endParaRPr lang="en-US" sz="1200" dirty="0"/>
          </a:p>
        </p:txBody>
      </p:sp>
      <p:sp>
        <p:nvSpPr>
          <p:cNvPr id="21" name="Text 18"/>
          <p:cNvSpPr/>
          <p:nvPr/>
        </p:nvSpPr>
        <p:spPr>
          <a:xfrm>
            <a:off x="502920" y="4535424"/>
            <a:ext cx="8229600" cy="3657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The first question calls for inductive statistics (inference); the second calls for descriptive statistics (summarization).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457200" y="1417320"/>
            <a:ext cx="685800" cy="68580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557784" y="1517904"/>
            <a:ext cx="484632" cy="484632"/>
          </a:xfrm>
          <a:prstGeom prst="rect">
            <a:avLst/>
          </a:prstGeom>
        </p:spPr>
      </p:pic>
      <p:sp>
        <p:nvSpPr>
          <p:cNvPr id="6" name="Text 3"/>
          <p:cNvSpPr/>
          <p:nvPr/>
        </p:nvSpPr>
        <p:spPr>
          <a:xfrm>
            <a:off x="457200" y="2212848"/>
            <a:ext cx="8229600" cy="320040"/>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Chapter 2</a:t>
            </a:r>
            <a:endParaRPr lang="en-US" sz="1200" dirty="0"/>
          </a:p>
        </p:txBody>
      </p:sp>
      <p:sp>
        <p:nvSpPr>
          <p:cNvPr id="7" name="Text 4"/>
          <p:cNvSpPr/>
          <p:nvPr/>
        </p:nvSpPr>
        <p:spPr>
          <a:xfrm>
            <a:off x="457200" y="2514600"/>
            <a:ext cx="8229600" cy="822960"/>
          </a:xfrm>
          <a:prstGeom prst="rect">
            <a:avLst/>
          </a:prstGeom>
          <a:noFill/>
          <a:ln/>
        </p:spPr>
        <p:txBody>
          <a:bodyPr wrap="square" lIns="0" tIns="0" rIns="0" bIns="0" rtlCol="0" anchor="ctr"/>
          <a:lstStyle/>
          <a:p>
            <a:pPr marL="0" indent="0">
              <a:buNone/>
            </a:pPr>
            <a:r>
              <a:rPr lang="en-US" sz="3200" b="1" dirty="0">
                <a:solidFill>
                  <a:srgbClr val="1E293B"/>
                </a:solidFill>
                <a:latin typeface="Georgia" pitchFamily="34" charset="0"/>
                <a:ea typeface="Georgia" pitchFamily="34" charset="-122"/>
                <a:cs typeface="Georgia" pitchFamily="34" charset="-120"/>
              </a:rPr>
              <a:t>Measurement Scales</a:t>
            </a:r>
            <a:endParaRPr lang="en-US" sz="3200" dirty="0"/>
          </a:p>
        </p:txBody>
      </p:sp>
      <p:sp>
        <p:nvSpPr>
          <p:cNvPr id="8" name="Shape 5"/>
          <p:cNvSpPr/>
          <p:nvPr/>
        </p:nvSpPr>
        <p:spPr>
          <a:xfrm>
            <a:off x="457200" y="3364992"/>
            <a:ext cx="1371600" cy="45720"/>
          </a:xfrm>
          <a:prstGeom prst="rect">
            <a:avLst/>
          </a:prstGeom>
          <a:solidFill>
            <a:srgbClr val="E9C46A"/>
          </a:solidFill>
          <a:ln w="12700">
            <a:solidFill>
              <a:srgbClr val="333333"/>
            </a:solidFill>
            <a:prstDash val="solid"/>
          </a:ln>
        </p:spPr>
        <p:txBody>
          <a:bodyPr/>
          <a:lstStyle/>
          <a:p>
            <a:endParaRPr lang="de-AT"/>
          </a:p>
        </p:txBody>
      </p:sp>
      <p:sp>
        <p:nvSpPr>
          <p:cNvPr id="9" name="Text 6"/>
          <p:cNvSpPr/>
          <p:nvPr/>
        </p:nvSpPr>
        <p:spPr>
          <a:xfrm>
            <a:off x="457200" y="3493008"/>
            <a:ext cx="8229600" cy="41148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Nominal, ordinal, interval, and ratio — the foundation of data analysis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Primary Scales of Measurement</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Text 4"/>
          <p:cNvSpPr/>
          <p:nvPr/>
        </p:nvSpPr>
        <p:spPr>
          <a:xfrm>
            <a:off x="5440680" y="1024128"/>
            <a:ext cx="3383280" cy="182880"/>
          </a:xfrm>
          <a:prstGeom prst="rect">
            <a:avLst/>
          </a:prstGeom>
          <a:noFill/>
          <a:ln/>
        </p:spPr>
        <p:txBody>
          <a:bodyPr wrap="square" lIns="0" tIns="0" rIns="0" bIns="0" rtlCol="0" anchor="ctr"/>
          <a:lstStyle/>
          <a:p>
            <a:pPr marL="0" indent="0" algn="ctr">
              <a:buNone/>
            </a:pPr>
            <a:r>
              <a:rPr lang="en-US" sz="800" b="1" dirty="0">
                <a:solidFill>
                  <a:srgbClr val="64748B"/>
                </a:solidFill>
                <a:latin typeface="Calibri" pitchFamily="34" charset="0"/>
                <a:ea typeface="Calibri" pitchFamily="34" charset="-122"/>
                <a:cs typeface="Calibri" pitchFamily="34" charset="-120"/>
              </a:rPr>
              <a:t>Permissible statistics</a:t>
            </a:r>
            <a:endParaRPr lang="en-US" sz="800" dirty="0"/>
          </a:p>
        </p:txBody>
      </p:sp>
      <p:sp>
        <p:nvSpPr>
          <p:cNvPr id="8" name="Shape 5"/>
          <p:cNvSpPr/>
          <p:nvPr/>
        </p:nvSpPr>
        <p:spPr>
          <a:xfrm>
            <a:off x="274320" y="1207008"/>
            <a:ext cx="8595360" cy="347472"/>
          </a:xfrm>
          <a:prstGeom prst="rect">
            <a:avLst/>
          </a:prstGeom>
          <a:solidFill>
            <a:srgbClr val="065A82"/>
          </a:solidFill>
          <a:ln w="12700">
            <a:solidFill>
              <a:srgbClr val="333333"/>
            </a:solidFill>
            <a:prstDash val="solid"/>
          </a:ln>
        </p:spPr>
        <p:txBody>
          <a:bodyPr/>
          <a:lstStyle/>
          <a:p>
            <a:endParaRPr lang="de-AT"/>
          </a:p>
        </p:txBody>
      </p:sp>
      <p:sp>
        <p:nvSpPr>
          <p:cNvPr id="9" name="Text 6"/>
          <p:cNvSpPr/>
          <p:nvPr/>
        </p:nvSpPr>
        <p:spPr>
          <a:xfrm>
            <a:off x="411480" y="1252728"/>
            <a:ext cx="118872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Scale</a:t>
            </a:r>
            <a:endParaRPr lang="en-US" sz="950" dirty="0"/>
          </a:p>
        </p:txBody>
      </p:sp>
      <p:sp>
        <p:nvSpPr>
          <p:cNvPr id="10" name="Text 7"/>
          <p:cNvSpPr/>
          <p:nvPr/>
        </p:nvSpPr>
        <p:spPr>
          <a:xfrm>
            <a:off x="1691640" y="1252728"/>
            <a:ext cx="201168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Characteristics</a:t>
            </a:r>
            <a:endParaRPr lang="en-US" sz="950" dirty="0"/>
          </a:p>
        </p:txBody>
      </p:sp>
      <p:sp>
        <p:nvSpPr>
          <p:cNvPr id="11" name="Text 8"/>
          <p:cNvSpPr/>
          <p:nvPr/>
        </p:nvSpPr>
        <p:spPr>
          <a:xfrm>
            <a:off x="3794760" y="1252728"/>
            <a:ext cx="155448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Example</a:t>
            </a:r>
            <a:endParaRPr lang="en-US" sz="950" dirty="0"/>
          </a:p>
        </p:txBody>
      </p:sp>
      <p:sp>
        <p:nvSpPr>
          <p:cNvPr id="12" name="Text 9"/>
          <p:cNvSpPr/>
          <p:nvPr/>
        </p:nvSpPr>
        <p:spPr>
          <a:xfrm>
            <a:off x="5440680" y="1252728"/>
            <a:ext cx="164592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Descriptive</a:t>
            </a:r>
            <a:endParaRPr lang="en-US" sz="950" dirty="0"/>
          </a:p>
        </p:txBody>
      </p:sp>
      <p:sp>
        <p:nvSpPr>
          <p:cNvPr id="13" name="Text 10"/>
          <p:cNvSpPr/>
          <p:nvPr/>
        </p:nvSpPr>
        <p:spPr>
          <a:xfrm>
            <a:off x="7178040" y="1252728"/>
            <a:ext cx="164592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Inferential</a:t>
            </a:r>
            <a:endParaRPr lang="en-US" sz="950" dirty="0"/>
          </a:p>
        </p:txBody>
      </p:sp>
      <p:sp>
        <p:nvSpPr>
          <p:cNvPr id="14" name="Shape 11"/>
          <p:cNvSpPr/>
          <p:nvPr/>
        </p:nvSpPr>
        <p:spPr>
          <a:xfrm>
            <a:off x="274320" y="1627632"/>
            <a:ext cx="8595360" cy="676656"/>
          </a:xfrm>
          <a:prstGeom prst="rect">
            <a:avLst/>
          </a:prstGeom>
          <a:solidFill>
            <a:srgbClr val="FFFFFF"/>
          </a:solidFill>
          <a:ln w="12700">
            <a:solidFill>
              <a:srgbClr val="E2E8F0"/>
            </a:solidFill>
            <a:prstDash val="solid"/>
          </a:ln>
        </p:spPr>
        <p:txBody>
          <a:bodyPr/>
          <a:lstStyle/>
          <a:p>
            <a:endParaRPr lang="de-AT"/>
          </a:p>
        </p:txBody>
      </p:sp>
      <p:sp>
        <p:nvSpPr>
          <p:cNvPr id="15" name="Shape 12"/>
          <p:cNvSpPr/>
          <p:nvPr/>
        </p:nvSpPr>
        <p:spPr>
          <a:xfrm>
            <a:off x="320040" y="1700784"/>
            <a:ext cx="1097280" cy="530352"/>
          </a:xfrm>
          <a:prstGeom prst="rect">
            <a:avLst/>
          </a:prstGeom>
          <a:solidFill>
            <a:srgbClr val="065A82"/>
          </a:solidFill>
          <a:ln w="12700">
            <a:solidFill>
              <a:srgbClr val="333333"/>
            </a:solidFill>
            <a:prstDash val="solid"/>
          </a:ln>
        </p:spPr>
        <p:txBody>
          <a:bodyPr/>
          <a:lstStyle/>
          <a:p>
            <a:endParaRPr lang="de-AT"/>
          </a:p>
        </p:txBody>
      </p:sp>
      <p:sp>
        <p:nvSpPr>
          <p:cNvPr id="16" name="Text 13"/>
          <p:cNvSpPr/>
          <p:nvPr/>
        </p:nvSpPr>
        <p:spPr>
          <a:xfrm>
            <a:off x="320040" y="1700784"/>
            <a:ext cx="109728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Nominal</a:t>
            </a:r>
            <a:endParaRPr lang="en-US" sz="1100" dirty="0"/>
          </a:p>
        </p:txBody>
      </p:sp>
      <p:sp>
        <p:nvSpPr>
          <p:cNvPr id="17" name="Text 14"/>
          <p:cNvSpPr/>
          <p:nvPr/>
        </p:nvSpPr>
        <p:spPr>
          <a:xfrm>
            <a:off x="1691640" y="1673352"/>
            <a:ext cx="201168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Numbers identify and classify objects</a:t>
            </a:r>
            <a:endParaRPr lang="en-US" sz="900" dirty="0"/>
          </a:p>
        </p:txBody>
      </p:sp>
      <p:sp>
        <p:nvSpPr>
          <p:cNvPr id="18" name="Text 15"/>
          <p:cNvSpPr/>
          <p:nvPr/>
        </p:nvSpPr>
        <p:spPr>
          <a:xfrm>
            <a:off x="3794760" y="1673352"/>
            <a:ext cx="1554480" cy="585216"/>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Gender, brand</a:t>
            </a:r>
            <a:endParaRPr lang="en-US" sz="900" dirty="0"/>
          </a:p>
        </p:txBody>
      </p:sp>
      <p:sp>
        <p:nvSpPr>
          <p:cNvPr id="19" name="Text 16"/>
          <p:cNvSpPr/>
          <p:nvPr/>
        </p:nvSpPr>
        <p:spPr>
          <a:xfrm>
            <a:off x="5440680" y="1673352"/>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Percentages, mode</a:t>
            </a:r>
            <a:endParaRPr lang="en-US" sz="900" dirty="0"/>
          </a:p>
        </p:txBody>
      </p:sp>
      <p:sp>
        <p:nvSpPr>
          <p:cNvPr id="20" name="Text 17"/>
          <p:cNvSpPr/>
          <p:nvPr/>
        </p:nvSpPr>
        <p:spPr>
          <a:xfrm>
            <a:off x="7178040" y="1673352"/>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Chi-square, binomial test</a:t>
            </a:r>
            <a:endParaRPr lang="en-US" sz="900" dirty="0"/>
          </a:p>
        </p:txBody>
      </p:sp>
      <p:sp>
        <p:nvSpPr>
          <p:cNvPr id="21" name="Shape 18"/>
          <p:cNvSpPr/>
          <p:nvPr/>
        </p:nvSpPr>
        <p:spPr>
          <a:xfrm>
            <a:off x="274320" y="2377440"/>
            <a:ext cx="8595360" cy="676656"/>
          </a:xfrm>
          <a:prstGeom prst="rect">
            <a:avLst/>
          </a:prstGeom>
          <a:solidFill>
            <a:srgbClr val="F0F4F8"/>
          </a:solidFill>
          <a:ln w="12700">
            <a:solidFill>
              <a:srgbClr val="E2E8F0"/>
            </a:solidFill>
            <a:prstDash val="solid"/>
          </a:ln>
        </p:spPr>
        <p:txBody>
          <a:bodyPr/>
          <a:lstStyle/>
          <a:p>
            <a:endParaRPr lang="de-AT"/>
          </a:p>
        </p:txBody>
      </p:sp>
      <p:sp>
        <p:nvSpPr>
          <p:cNvPr id="22" name="Shape 19"/>
          <p:cNvSpPr/>
          <p:nvPr/>
        </p:nvSpPr>
        <p:spPr>
          <a:xfrm>
            <a:off x="320040" y="2450592"/>
            <a:ext cx="1097280" cy="530352"/>
          </a:xfrm>
          <a:prstGeom prst="rect">
            <a:avLst/>
          </a:prstGeom>
          <a:solidFill>
            <a:srgbClr val="1C7293"/>
          </a:solidFill>
          <a:ln w="12700">
            <a:solidFill>
              <a:srgbClr val="333333"/>
            </a:solidFill>
            <a:prstDash val="solid"/>
          </a:ln>
        </p:spPr>
        <p:txBody>
          <a:bodyPr/>
          <a:lstStyle/>
          <a:p>
            <a:endParaRPr lang="de-AT"/>
          </a:p>
        </p:txBody>
      </p:sp>
      <p:sp>
        <p:nvSpPr>
          <p:cNvPr id="23" name="Text 20"/>
          <p:cNvSpPr/>
          <p:nvPr/>
        </p:nvSpPr>
        <p:spPr>
          <a:xfrm>
            <a:off x="320040" y="2450592"/>
            <a:ext cx="109728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Ordinal</a:t>
            </a:r>
            <a:endParaRPr lang="en-US" sz="1100" dirty="0"/>
          </a:p>
        </p:txBody>
      </p:sp>
      <p:sp>
        <p:nvSpPr>
          <p:cNvPr id="24" name="Text 21"/>
          <p:cNvSpPr/>
          <p:nvPr/>
        </p:nvSpPr>
        <p:spPr>
          <a:xfrm>
            <a:off x="1691640" y="2423160"/>
            <a:ext cx="201168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Numbers indicate relative position; magnitude unknown</a:t>
            </a:r>
            <a:endParaRPr lang="en-US" sz="900" dirty="0"/>
          </a:p>
        </p:txBody>
      </p:sp>
      <p:sp>
        <p:nvSpPr>
          <p:cNvPr id="25" name="Text 22"/>
          <p:cNvSpPr/>
          <p:nvPr/>
        </p:nvSpPr>
        <p:spPr>
          <a:xfrm>
            <a:off x="3794760" y="2423160"/>
            <a:ext cx="1554480" cy="585216"/>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Rankings, preferences</a:t>
            </a:r>
            <a:endParaRPr lang="en-US" sz="900" dirty="0"/>
          </a:p>
        </p:txBody>
      </p:sp>
      <p:sp>
        <p:nvSpPr>
          <p:cNvPr id="26" name="Text 23"/>
          <p:cNvSpPr/>
          <p:nvPr/>
        </p:nvSpPr>
        <p:spPr>
          <a:xfrm>
            <a:off x="5440680" y="2423160"/>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Percentile, median</a:t>
            </a:r>
            <a:endParaRPr lang="en-US" sz="900" dirty="0"/>
          </a:p>
        </p:txBody>
      </p:sp>
      <p:sp>
        <p:nvSpPr>
          <p:cNvPr id="27" name="Text 24"/>
          <p:cNvSpPr/>
          <p:nvPr/>
        </p:nvSpPr>
        <p:spPr>
          <a:xfrm>
            <a:off x="7178040" y="2423160"/>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Rank order correlation, Friedman ANOVA</a:t>
            </a:r>
            <a:endParaRPr lang="en-US" sz="900" dirty="0"/>
          </a:p>
        </p:txBody>
      </p:sp>
      <p:sp>
        <p:nvSpPr>
          <p:cNvPr id="28" name="Shape 25"/>
          <p:cNvSpPr/>
          <p:nvPr/>
        </p:nvSpPr>
        <p:spPr>
          <a:xfrm>
            <a:off x="274320" y="3127248"/>
            <a:ext cx="8595360" cy="676656"/>
          </a:xfrm>
          <a:prstGeom prst="rect">
            <a:avLst/>
          </a:prstGeom>
          <a:solidFill>
            <a:srgbClr val="FFFFFF"/>
          </a:solidFill>
          <a:ln w="12700">
            <a:solidFill>
              <a:srgbClr val="E2E8F0"/>
            </a:solidFill>
            <a:prstDash val="solid"/>
          </a:ln>
        </p:spPr>
        <p:txBody>
          <a:bodyPr/>
          <a:lstStyle/>
          <a:p>
            <a:endParaRPr lang="de-AT"/>
          </a:p>
        </p:txBody>
      </p:sp>
      <p:sp>
        <p:nvSpPr>
          <p:cNvPr id="29" name="Shape 26"/>
          <p:cNvSpPr/>
          <p:nvPr/>
        </p:nvSpPr>
        <p:spPr>
          <a:xfrm>
            <a:off x="320040" y="3200400"/>
            <a:ext cx="1097280" cy="530352"/>
          </a:xfrm>
          <a:prstGeom prst="rect">
            <a:avLst/>
          </a:prstGeom>
          <a:solidFill>
            <a:srgbClr val="1A3A5C"/>
          </a:solidFill>
          <a:ln w="12700">
            <a:solidFill>
              <a:srgbClr val="333333"/>
            </a:solidFill>
            <a:prstDash val="solid"/>
          </a:ln>
        </p:spPr>
        <p:txBody>
          <a:bodyPr/>
          <a:lstStyle/>
          <a:p>
            <a:endParaRPr lang="de-AT"/>
          </a:p>
        </p:txBody>
      </p:sp>
      <p:sp>
        <p:nvSpPr>
          <p:cNvPr id="30" name="Text 27"/>
          <p:cNvSpPr/>
          <p:nvPr/>
        </p:nvSpPr>
        <p:spPr>
          <a:xfrm>
            <a:off x="320040" y="3200400"/>
            <a:ext cx="109728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Interval</a:t>
            </a:r>
            <a:endParaRPr lang="en-US" sz="1100" dirty="0"/>
          </a:p>
        </p:txBody>
      </p:sp>
      <p:sp>
        <p:nvSpPr>
          <p:cNvPr id="31" name="Text 28"/>
          <p:cNvSpPr/>
          <p:nvPr/>
        </p:nvSpPr>
        <p:spPr>
          <a:xfrm>
            <a:off x="1691640" y="3172968"/>
            <a:ext cx="201168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Differences between objects can be compared; zero is arbitrary</a:t>
            </a:r>
            <a:endParaRPr lang="en-US" sz="900" dirty="0"/>
          </a:p>
        </p:txBody>
      </p:sp>
      <p:sp>
        <p:nvSpPr>
          <p:cNvPr id="32" name="Text 29"/>
          <p:cNvSpPr/>
          <p:nvPr/>
        </p:nvSpPr>
        <p:spPr>
          <a:xfrm>
            <a:off x="3794760" y="3172968"/>
            <a:ext cx="1554480" cy="585216"/>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Temperature, attitudes</a:t>
            </a:r>
            <a:endParaRPr lang="en-US" sz="900" dirty="0"/>
          </a:p>
        </p:txBody>
      </p:sp>
      <p:sp>
        <p:nvSpPr>
          <p:cNvPr id="33" name="Text 30"/>
          <p:cNvSpPr/>
          <p:nvPr/>
        </p:nvSpPr>
        <p:spPr>
          <a:xfrm>
            <a:off x="5440680" y="3172968"/>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Range, mean, SD</a:t>
            </a:r>
            <a:endParaRPr lang="en-US" sz="900" dirty="0"/>
          </a:p>
        </p:txBody>
      </p:sp>
      <p:sp>
        <p:nvSpPr>
          <p:cNvPr id="34" name="Text 31"/>
          <p:cNvSpPr/>
          <p:nvPr/>
        </p:nvSpPr>
        <p:spPr>
          <a:xfrm>
            <a:off x="7178040" y="3172968"/>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t-tests, ANOVA, regression, factor analysis</a:t>
            </a:r>
            <a:endParaRPr lang="en-US" sz="900" dirty="0"/>
          </a:p>
        </p:txBody>
      </p:sp>
      <p:sp>
        <p:nvSpPr>
          <p:cNvPr id="35" name="Shape 32"/>
          <p:cNvSpPr/>
          <p:nvPr/>
        </p:nvSpPr>
        <p:spPr>
          <a:xfrm>
            <a:off x="274320" y="3877056"/>
            <a:ext cx="8595360" cy="676656"/>
          </a:xfrm>
          <a:prstGeom prst="rect">
            <a:avLst/>
          </a:prstGeom>
          <a:solidFill>
            <a:srgbClr val="F0F4F8"/>
          </a:solidFill>
          <a:ln w="12700">
            <a:solidFill>
              <a:srgbClr val="E2E8F0"/>
            </a:solidFill>
            <a:prstDash val="solid"/>
          </a:ln>
        </p:spPr>
        <p:txBody>
          <a:bodyPr/>
          <a:lstStyle/>
          <a:p>
            <a:endParaRPr lang="de-AT"/>
          </a:p>
        </p:txBody>
      </p:sp>
      <p:sp>
        <p:nvSpPr>
          <p:cNvPr id="36" name="Shape 33"/>
          <p:cNvSpPr/>
          <p:nvPr/>
        </p:nvSpPr>
        <p:spPr>
          <a:xfrm>
            <a:off x="320040" y="3950208"/>
            <a:ext cx="1097280" cy="530352"/>
          </a:xfrm>
          <a:prstGeom prst="rect">
            <a:avLst/>
          </a:prstGeom>
          <a:solidFill>
            <a:srgbClr val="0C1B33"/>
          </a:solidFill>
          <a:ln w="12700">
            <a:solidFill>
              <a:srgbClr val="333333"/>
            </a:solidFill>
            <a:prstDash val="solid"/>
          </a:ln>
        </p:spPr>
        <p:txBody>
          <a:bodyPr/>
          <a:lstStyle/>
          <a:p>
            <a:endParaRPr lang="de-AT"/>
          </a:p>
        </p:txBody>
      </p:sp>
      <p:sp>
        <p:nvSpPr>
          <p:cNvPr id="37" name="Text 34"/>
          <p:cNvSpPr/>
          <p:nvPr/>
        </p:nvSpPr>
        <p:spPr>
          <a:xfrm>
            <a:off x="320040" y="3950208"/>
            <a:ext cx="109728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Ratio</a:t>
            </a:r>
            <a:endParaRPr lang="en-US" sz="1100" dirty="0"/>
          </a:p>
        </p:txBody>
      </p:sp>
      <p:sp>
        <p:nvSpPr>
          <p:cNvPr id="38" name="Text 35"/>
          <p:cNvSpPr/>
          <p:nvPr/>
        </p:nvSpPr>
        <p:spPr>
          <a:xfrm>
            <a:off x="1691640" y="3922776"/>
            <a:ext cx="201168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Zero point is fixed; ratios can be computed</a:t>
            </a:r>
            <a:endParaRPr lang="en-US" sz="900" dirty="0"/>
          </a:p>
        </p:txBody>
      </p:sp>
      <p:sp>
        <p:nvSpPr>
          <p:cNvPr id="39" name="Text 36"/>
          <p:cNvSpPr/>
          <p:nvPr/>
        </p:nvSpPr>
        <p:spPr>
          <a:xfrm>
            <a:off x="3794760" y="3922776"/>
            <a:ext cx="1554480" cy="585216"/>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Age, income, costs</a:t>
            </a:r>
            <a:endParaRPr lang="en-US" sz="900" dirty="0"/>
          </a:p>
        </p:txBody>
      </p:sp>
      <p:sp>
        <p:nvSpPr>
          <p:cNvPr id="40" name="Text 37"/>
          <p:cNvSpPr/>
          <p:nvPr/>
        </p:nvSpPr>
        <p:spPr>
          <a:xfrm>
            <a:off x="5440680" y="3922776"/>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Geometric mean, harmonic mean</a:t>
            </a:r>
            <a:endParaRPr lang="en-US" sz="900" dirty="0"/>
          </a:p>
        </p:txBody>
      </p:sp>
      <p:sp>
        <p:nvSpPr>
          <p:cNvPr id="41" name="Text 38"/>
          <p:cNvSpPr/>
          <p:nvPr/>
        </p:nvSpPr>
        <p:spPr>
          <a:xfrm>
            <a:off x="7178040" y="3922776"/>
            <a:ext cx="1645920" cy="585216"/>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Coefficient of variation</a:t>
            </a:r>
            <a:endParaRPr lang="en-US" sz="900" dirty="0"/>
          </a:p>
        </p:txBody>
      </p:sp>
      <p:sp>
        <p:nvSpPr>
          <p:cNvPr id="42" name="Shape 39"/>
          <p:cNvSpPr/>
          <p:nvPr/>
        </p:nvSpPr>
        <p:spPr>
          <a:xfrm>
            <a:off x="274320" y="4681728"/>
            <a:ext cx="8595360" cy="347472"/>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43" name="Shape 40"/>
          <p:cNvSpPr/>
          <p:nvPr/>
        </p:nvSpPr>
        <p:spPr>
          <a:xfrm>
            <a:off x="274320" y="4681728"/>
            <a:ext cx="64008" cy="347472"/>
          </a:xfrm>
          <a:prstGeom prst="rect">
            <a:avLst/>
          </a:prstGeom>
          <a:solidFill>
            <a:srgbClr val="065A82"/>
          </a:solidFill>
          <a:ln w="12700">
            <a:solidFill>
              <a:srgbClr val="333333"/>
            </a:solidFill>
            <a:prstDash val="solid"/>
          </a:ln>
        </p:spPr>
        <p:txBody>
          <a:bodyPr/>
          <a:lstStyle/>
          <a:p>
            <a:endParaRPr lang="de-AT"/>
          </a:p>
        </p:txBody>
      </p:sp>
      <p:sp>
        <p:nvSpPr>
          <p:cNvPr id="44" name="Text 41"/>
          <p:cNvSpPr/>
          <p:nvPr/>
        </p:nvSpPr>
        <p:spPr>
          <a:xfrm>
            <a:off x="457200" y="4709160"/>
            <a:ext cx="8229600" cy="27432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Higher-level scales contain more information and allow more analytical operations.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Illustration of Primary Scales</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8595360" cy="749808"/>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64008" cy="749808"/>
          </a:xfrm>
          <a:prstGeom prst="rect">
            <a:avLst/>
          </a:prstGeom>
          <a:solidFill>
            <a:srgbClr val="1C7293"/>
          </a:solidFill>
          <a:ln w="12700">
            <a:solidFill>
              <a:srgbClr val="333333"/>
            </a:solidFill>
            <a:prstDash val="solid"/>
          </a:ln>
        </p:spPr>
        <p:txBody>
          <a:bodyPr/>
          <a:lstStyle/>
          <a:p>
            <a:endParaRPr lang="de-AT"/>
          </a:p>
        </p:txBody>
      </p:sp>
      <p:sp>
        <p:nvSpPr>
          <p:cNvPr id="10" name="Text 7"/>
          <p:cNvSpPr/>
          <p:nvPr/>
        </p:nvSpPr>
        <p:spPr>
          <a:xfrm>
            <a:off x="502920" y="1115568"/>
            <a:ext cx="8183880" cy="621792"/>
          </a:xfrm>
          <a:prstGeom prst="rect">
            <a:avLst/>
          </a:prstGeom>
          <a:noFill/>
          <a:ln/>
        </p:spPr>
        <p:txBody>
          <a:bodyPr wrap="square" lIns="0" tIns="0" rIns="0" bIns="0" rtlCol="0" anchor="ctr"/>
          <a:lstStyle/>
          <a:p>
            <a:pPr marL="0" indent="0">
              <a:buNone/>
            </a:pPr>
            <a:r>
              <a:rPr lang="en-US" sz="1150" i="1" dirty="0">
                <a:solidFill>
                  <a:srgbClr val="1E293B"/>
                </a:solidFill>
                <a:latin typeface="Calibri" pitchFamily="34" charset="0"/>
                <a:ea typeface="Calibri" pitchFamily="34" charset="-122"/>
                <a:cs typeface="Calibri" pitchFamily="34" charset="-120"/>
              </a:rPr>
              <a:t>The horse-racing example shows how the same event can be measured at four different scale levels — each adding more mathematical information.</a:t>
            </a:r>
            <a:endParaRPr lang="en-US" sz="1150" dirty="0"/>
          </a:p>
        </p:txBody>
      </p:sp>
      <p:sp>
        <p:nvSpPr>
          <p:cNvPr id="11" name="Text 8"/>
          <p:cNvSpPr/>
          <p:nvPr/>
        </p:nvSpPr>
        <p:spPr>
          <a:xfrm>
            <a:off x="411480" y="1901952"/>
            <a:ext cx="1280160" cy="164592"/>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Scale</a:t>
            </a:r>
            <a:endParaRPr lang="en-US" sz="900" dirty="0"/>
          </a:p>
        </p:txBody>
      </p:sp>
      <p:sp>
        <p:nvSpPr>
          <p:cNvPr id="12" name="Text 9"/>
          <p:cNvSpPr/>
          <p:nvPr/>
        </p:nvSpPr>
        <p:spPr>
          <a:xfrm>
            <a:off x="1828800" y="1901952"/>
            <a:ext cx="2560320" cy="164592"/>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Description</a:t>
            </a:r>
            <a:endParaRPr lang="en-US" sz="900" dirty="0"/>
          </a:p>
        </p:txBody>
      </p:sp>
      <p:sp>
        <p:nvSpPr>
          <p:cNvPr id="13" name="Text 10"/>
          <p:cNvSpPr/>
          <p:nvPr/>
        </p:nvSpPr>
        <p:spPr>
          <a:xfrm>
            <a:off x="4572000" y="1901952"/>
            <a:ext cx="2011680" cy="164592"/>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Example</a:t>
            </a:r>
            <a:endParaRPr lang="en-US" sz="900" dirty="0"/>
          </a:p>
        </p:txBody>
      </p:sp>
      <p:sp>
        <p:nvSpPr>
          <p:cNvPr id="14" name="Text 11"/>
          <p:cNvSpPr/>
          <p:nvPr/>
        </p:nvSpPr>
        <p:spPr>
          <a:xfrm>
            <a:off x="6766560" y="1901952"/>
            <a:ext cx="2011680" cy="164592"/>
          </a:xfrm>
          <a:prstGeom prst="rect">
            <a:avLst/>
          </a:prstGeom>
          <a:noFill/>
          <a:ln/>
        </p:spPr>
        <p:txBody>
          <a:bodyPr wrap="square" lIns="0" tIns="0" rIns="0" bIns="0"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Permissible statistics</a:t>
            </a:r>
            <a:endParaRPr lang="en-US" sz="900" dirty="0"/>
          </a:p>
        </p:txBody>
      </p:sp>
      <p:sp>
        <p:nvSpPr>
          <p:cNvPr id="15" name="Shape 12"/>
          <p:cNvSpPr/>
          <p:nvPr/>
        </p:nvSpPr>
        <p:spPr>
          <a:xfrm>
            <a:off x="274320" y="2084832"/>
            <a:ext cx="8595360" cy="658368"/>
          </a:xfrm>
          <a:prstGeom prst="rect">
            <a:avLst/>
          </a:prstGeom>
          <a:solidFill>
            <a:srgbClr val="1A3A5C"/>
          </a:solidFill>
          <a:ln w="12700">
            <a:solidFill>
              <a:srgbClr val="1C7293"/>
            </a:solidFill>
            <a:prstDash val="solid"/>
          </a:ln>
        </p:spPr>
        <p:txBody>
          <a:bodyPr/>
          <a:lstStyle/>
          <a:p>
            <a:endParaRPr lang="de-AT"/>
          </a:p>
        </p:txBody>
      </p:sp>
      <p:sp>
        <p:nvSpPr>
          <p:cNvPr id="16" name="Text 13"/>
          <p:cNvSpPr/>
          <p:nvPr/>
        </p:nvSpPr>
        <p:spPr>
          <a:xfrm>
            <a:off x="411480" y="2176272"/>
            <a:ext cx="1280160" cy="475488"/>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Nominal</a:t>
            </a:r>
            <a:endParaRPr lang="en-US" sz="1200" dirty="0"/>
          </a:p>
        </p:txBody>
      </p:sp>
      <p:sp>
        <p:nvSpPr>
          <p:cNvPr id="17" name="Text 14"/>
          <p:cNvSpPr/>
          <p:nvPr/>
        </p:nvSpPr>
        <p:spPr>
          <a:xfrm>
            <a:off x="1828800" y="2176272"/>
            <a:ext cx="2560320" cy="47548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Numbers assigned to riders</a:t>
            </a:r>
            <a:endParaRPr lang="en-US" sz="1050" dirty="0"/>
          </a:p>
        </p:txBody>
      </p:sp>
      <p:sp>
        <p:nvSpPr>
          <p:cNvPr id="18" name="Text 15"/>
          <p:cNvSpPr/>
          <p:nvPr/>
        </p:nvSpPr>
        <p:spPr>
          <a:xfrm>
            <a:off x="4572000" y="2176272"/>
            <a:ext cx="2011680" cy="475488"/>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Rider 7, 11, 3</a:t>
            </a:r>
            <a:endParaRPr lang="en-US" sz="1050" dirty="0"/>
          </a:p>
        </p:txBody>
      </p:sp>
      <p:sp>
        <p:nvSpPr>
          <p:cNvPr id="19" name="Text 16"/>
          <p:cNvSpPr/>
          <p:nvPr/>
        </p:nvSpPr>
        <p:spPr>
          <a:xfrm>
            <a:off x="6766560" y="2176272"/>
            <a:ext cx="2011680" cy="47548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Percentages, mode</a:t>
            </a:r>
            <a:endParaRPr lang="en-US" sz="1000" dirty="0"/>
          </a:p>
        </p:txBody>
      </p:sp>
      <p:sp>
        <p:nvSpPr>
          <p:cNvPr id="20" name="Shape 17"/>
          <p:cNvSpPr/>
          <p:nvPr/>
        </p:nvSpPr>
        <p:spPr>
          <a:xfrm>
            <a:off x="274320" y="2834640"/>
            <a:ext cx="8595360" cy="658368"/>
          </a:xfrm>
          <a:prstGeom prst="rect">
            <a:avLst/>
          </a:prstGeom>
          <a:solidFill>
            <a:srgbClr val="0C1B33"/>
          </a:solidFill>
          <a:ln w="12700">
            <a:solidFill>
              <a:srgbClr val="1C7293"/>
            </a:solidFill>
            <a:prstDash val="solid"/>
          </a:ln>
        </p:spPr>
        <p:txBody>
          <a:bodyPr/>
          <a:lstStyle/>
          <a:p>
            <a:endParaRPr lang="de-AT"/>
          </a:p>
        </p:txBody>
      </p:sp>
      <p:sp>
        <p:nvSpPr>
          <p:cNvPr id="21" name="Text 18"/>
          <p:cNvSpPr/>
          <p:nvPr/>
        </p:nvSpPr>
        <p:spPr>
          <a:xfrm>
            <a:off x="411480" y="2926080"/>
            <a:ext cx="1280160" cy="475488"/>
          </a:xfrm>
          <a:prstGeom prst="rect">
            <a:avLst/>
          </a:prstGeom>
          <a:noFill/>
          <a:ln/>
        </p:spPr>
        <p:txBody>
          <a:bodyPr wrap="square" lIns="0" tIns="0" rIns="0" bIns="0" rtlCol="0" anchor="ctr"/>
          <a:lstStyle/>
          <a:p>
            <a:pPr marL="0" indent="0">
              <a:buNone/>
            </a:pPr>
            <a:r>
              <a:rPr lang="en-US" sz="1200" b="1" dirty="0">
                <a:solidFill>
                  <a:srgbClr val="2A9D8F"/>
                </a:solidFill>
                <a:latin typeface="Georgia" pitchFamily="34" charset="0"/>
                <a:ea typeface="Georgia" pitchFamily="34" charset="-122"/>
                <a:cs typeface="Georgia" pitchFamily="34" charset="-120"/>
              </a:rPr>
              <a:t>Ordinal</a:t>
            </a:r>
            <a:endParaRPr lang="en-US" sz="1200" dirty="0"/>
          </a:p>
        </p:txBody>
      </p:sp>
      <p:sp>
        <p:nvSpPr>
          <p:cNvPr id="22" name="Text 19"/>
          <p:cNvSpPr/>
          <p:nvPr/>
        </p:nvSpPr>
        <p:spPr>
          <a:xfrm>
            <a:off x="1828800" y="2926080"/>
            <a:ext cx="2560320" cy="47548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Rank order of winners</a:t>
            </a:r>
            <a:endParaRPr lang="en-US" sz="1050" dirty="0"/>
          </a:p>
        </p:txBody>
      </p:sp>
      <p:sp>
        <p:nvSpPr>
          <p:cNvPr id="23" name="Text 20"/>
          <p:cNvSpPr/>
          <p:nvPr/>
        </p:nvSpPr>
        <p:spPr>
          <a:xfrm>
            <a:off x="4572000" y="2926080"/>
            <a:ext cx="2011680" cy="475488"/>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1st, 2nd, 3rd</a:t>
            </a:r>
            <a:endParaRPr lang="en-US" sz="1050" dirty="0"/>
          </a:p>
        </p:txBody>
      </p:sp>
      <p:sp>
        <p:nvSpPr>
          <p:cNvPr id="24" name="Text 21"/>
          <p:cNvSpPr/>
          <p:nvPr/>
        </p:nvSpPr>
        <p:spPr>
          <a:xfrm>
            <a:off x="6766560" y="2926080"/>
            <a:ext cx="2011680" cy="47548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Percentile, median</a:t>
            </a:r>
            <a:endParaRPr lang="en-US" sz="1000" dirty="0"/>
          </a:p>
        </p:txBody>
      </p:sp>
      <p:sp>
        <p:nvSpPr>
          <p:cNvPr id="25" name="Shape 22"/>
          <p:cNvSpPr/>
          <p:nvPr/>
        </p:nvSpPr>
        <p:spPr>
          <a:xfrm>
            <a:off x="274320" y="3584448"/>
            <a:ext cx="8595360" cy="658368"/>
          </a:xfrm>
          <a:prstGeom prst="rect">
            <a:avLst/>
          </a:prstGeom>
          <a:solidFill>
            <a:srgbClr val="1A3A5C"/>
          </a:solidFill>
          <a:ln w="12700">
            <a:solidFill>
              <a:srgbClr val="1C7293"/>
            </a:solidFill>
            <a:prstDash val="solid"/>
          </a:ln>
        </p:spPr>
        <p:txBody>
          <a:bodyPr/>
          <a:lstStyle/>
          <a:p>
            <a:endParaRPr lang="de-AT"/>
          </a:p>
        </p:txBody>
      </p:sp>
      <p:sp>
        <p:nvSpPr>
          <p:cNvPr id="26" name="Text 23"/>
          <p:cNvSpPr/>
          <p:nvPr/>
        </p:nvSpPr>
        <p:spPr>
          <a:xfrm>
            <a:off x="411480" y="3675888"/>
            <a:ext cx="1280160" cy="475488"/>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Interval</a:t>
            </a:r>
            <a:endParaRPr lang="en-US" sz="1200" dirty="0"/>
          </a:p>
        </p:txBody>
      </p:sp>
      <p:sp>
        <p:nvSpPr>
          <p:cNvPr id="27" name="Text 24"/>
          <p:cNvSpPr/>
          <p:nvPr/>
        </p:nvSpPr>
        <p:spPr>
          <a:xfrm>
            <a:off x="1828800" y="3675888"/>
            <a:ext cx="2560320" cy="47548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Performance rating (0-10)</a:t>
            </a:r>
            <a:endParaRPr lang="en-US" sz="1050" dirty="0"/>
          </a:p>
        </p:txBody>
      </p:sp>
      <p:sp>
        <p:nvSpPr>
          <p:cNvPr id="28" name="Text 25"/>
          <p:cNvSpPr/>
          <p:nvPr/>
        </p:nvSpPr>
        <p:spPr>
          <a:xfrm>
            <a:off x="4572000" y="3675888"/>
            <a:ext cx="2011680" cy="475488"/>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9.6, 9.1, 8.2</a:t>
            </a:r>
            <a:endParaRPr lang="en-US" sz="1050" dirty="0"/>
          </a:p>
        </p:txBody>
      </p:sp>
      <p:sp>
        <p:nvSpPr>
          <p:cNvPr id="29" name="Text 26"/>
          <p:cNvSpPr/>
          <p:nvPr/>
        </p:nvSpPr>
        <p:spPr>
          <a:xfrm>
            <a:off x="6766560" y="3675888"/>
            <a:ext cx="2011680" cy="47548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Range, mean, SD</a:t>
            </a:r>
            <a:endParaRPr lang="en-US" sz="1000" dirty="0"/>
          </a:p>
        </p:txBody>
      </p:sp>
      <p:sp>
        <p:nvSpPr>
          <p:cNvPr id="30" name="Shape 27"/>
          <p:cNvSpPr/>
          <p:nvPr/>
        </p:nvSpPr>
        <p:spPr>
          <a:xfrm>
            <a:off x="274320" y="4334256"/>
            <a:ext cx="8595360" cy="658368"/>
          </a:xfrm>
          <a:prstGeom prst="rect">
            <a:avLst/>
          </a:prstGeom>
          <a:solidFill>
            <a:srgbClr val="0C1B33"/>
          </a:solidFill>
          <a:ln w="12700">
            <a:solidFill>
              <a:srgbClr val="1C7293"/>
            </a:solidFill>
            <a:prstDash val="solid"/>
          </a:ln>
        </p:spPr>
        <p:txBody>
          <a:bodyPr/>
          <a:lstStyle/>
          <a:p>
            <a:endParaRPr lang="de-AT"/>
          </a:p>
        </p:txBody>
      </p:sp>
      <p:sp>
        <p:nvSpPr>
          <p:cNvPr id="31" name="Text 28"/>
          <p:cNvSpPr/>
          <p:nvPr/>
        </p:nvSpPr>
        <p:spPr>
          <a:xfrm>
            <a:off x="411480" y="4425696"/>
            <a:ext cx="1280160" cy="475488"/>
          </a:xfrm>
          <a:prstGeom prst="rect">
            <a:avLst/>
          </a:prstGeom>
          <a:noFill/>
          <a:ln/>
        </p:spPr>
        <p:txBody>
          <a:bodyPr wrap="square" lIns="0" tIns="0" rIns="0" bIns="0" rtlCol="0" anchor="ctr"/>
          <a:lstStyle/>
          <a:p>
            <a:pPr marL="0" indent="0">
              <a:buNone/>
            </a:pPr>
            <a:r>
              <a:rPr lang="en-US" sz="1200" b="1" dirty="0">
                <a:solidFill>
                  <a:srgbClr val="2A9D8F"/>
                </a:solidFill>
                <a:latin typeface="Georgia" pitchFamily="34" charset="0"/>
                <a:ea typeface="Georgia" pitchFamily="34" charset="-122"/>
                <a:cs typeface="Georgia" pitchFamily="34" charset="-120"/>
              </a:rPr>
              <a:t>Ratio</a:t>
            </a:r>
            <a:endParaRPr lang="en-US" sz="1200" dirty="0"/>
          </a:p>
        </p:txBody>
      </p:sp>
      <p:sp>
        <p:nvSpPr>
          <p:cNvPr id="32" name="Text 29"/>
          <p:cNvSpPr/>
          <p:nvPr/>
        </p:nvSpPr>
        <p:spPr>
          <a:xfrm>
            <a:off x="1828800" y="4425696"/>
            <a:ext cx="2560320" cy="475488"/>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Time to finish (seconds)</a:t>
            </a:r>
            <a:endParaRPr lang="en-US" sz="1050" dirty="0"/>
          </a:p>
        </p:txBody>
      </p:sp>
      <p:sp>
        <p:nvSpPr>
          <p:cNvPr id="33" name="Text 30"/>
          <p:cNvSpPr/>
          <p:nvPr/>
        </p:nvSpPr>
        <p:spPr>
          <a:xfrm>
            <a:off x="4572000" y="4425696"/>
            <a:ext cx="2011680" cy="475488"/>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13.4, 14.1, 15.2</a:t>
            </a:r>
            <a:endParaRPr lang="en-US" sz="1050" dirty="0"/>
          </a:p>
        </p:txBody>
      </p:sp>
      <p:sp>
        <p:nvSpPr>
          <p:cNvPr id="34" name="Text 31"/>
          <p:cNvSpPr/>
          <p:nvPr/>
        </p:nvSpPr>
        <p:spPr>
          <a:xfrm>
            <a:off x="6766560" y="4425696"/>
            <a:ext cx="2011680" cy="475488"/>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All arithmetic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57200" y="1417320"/>
            <a:ext cx="685800" cy="68580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557784" y="1517904"/>
            <a:ext cx="484632" cy="484632"/>
          </a:xfrm>
          <a:prstGeom prst="rect">
            <a:avLst/>
          </a:prstGeom>
        </p:spPr>
      </p:pic>
      <p:sp>
        <p:nvSpPr>
          <p:cNvPr id="5" name="Text 2"/>
          <p:cNvSpPr/>
          <p:nvPr/>
        </p:nvSpPr>
        <p:spPr>
          <a:xfrm>
            <a:off x="457200" y="2212848"/>
            <a:ext cx="8229600" cy="320040"/>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Chapter 3</a:t>
            </a:r>
            <a:endParaRPr lang="en-US" sz="1200" dirty="0"/>
          </a:p>
        </p:txBody>
      </p:sp>
      <p:sp>
        <p:nvSpPr>
          <p:cNvPr id="6" name="Text 3"/>
          <p:cNvSpPr/>
          <p:nvPr/>
        </p:nvSpPr>
        <p:spPr>
          <a:xfrm>
            <a:off x="457200" y="251460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Descriptive Statistics</a:t>
            </a:r>
            <a:endParaRPr lang="en-US" sz="3200" dirty="0"/>
          </a:p>
        </p:txBody>
      </p:sp>
      <p:sp>
        <p:nvSpPr>
          <p:cNvPr id="7" name="Shape 4"/>
          <p:cNvSpPr/>
          <p:nvPr/>
        </p:nvSpPr>
        <p:spPr>
          <a:xfrm>
            <a:off x="457200" y="3364992"/>
            <a:ext cx="1371600" cy="45720"/>
          </a:xfrm>
          <a:prstGeom prst="rect">
            <a:avLst/>
          </a:prstGeom>
          <a:solidFill>
            <a:srgbClr val="E9C46A"/>
          </a:solidFill>
          <a:ln w="12700">
            <a:solidFill>
              <a:srgbClr val="333333"/>
            </a:solidFill>
            <a:prstDash val="solid"/>
          </a:ln>
        </p:spPr>
        <p:txBody>
          <a:bodyPr/>
          <a:lstStyle/>
          <a:p>
            <a:endParaRPr lang="de-AT"/>
          </a:p>
        </p:txBody>
      </p:sp>
      <p:sp>
        <p:nvSpPr>
          <p:cNvPr id="8" name="Text 5"/>
          <p:cNvSpPr/>
          <p:nvPr/>
        </p:nvSpPr>
        <p:spPr>
          <a:xfrm>
            <a:off x="457200" y="3493008"/>
            <a:ext cx="8229600" cy="41148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Central tendency, variability, and the shape of distributions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Central Tendency: The Mode</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4114800" cy="365760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64008" cy="3657600"/>
          </a:xfrm>
          <a:prstGeom prst="rect">
            <a:avLst/>
          </a:prstGeom>
          <a:solidFill>
            <a:srgbClr val="065A82"/>
          </a:solidFill>
          <a:ln w="12700">
            <a:solidFill>
              <a:srgbClr val="333333"/>
            </a:solidFill>
            <a:prstDash val="solid"/>
          </a:ln>
        </p:spPr>
        <p:txBody>
          <a:bodyPr/>
          <a:lstStyle/>
          <a:p>
            <a:endParaRPr lang="de-AT"/>
          </a:p>
        </p:txBody>
      </p:sp>
      <p:sp>
        <p:nvSpPr>
          <p:cNvPr id="10" name="Text 7"/>
          <p:cNvSpPr/>
          <p:nvPr/>
        </p:nvSpPr>
        <p:spPr>
          <a:xfrm>
            <a:off x="475488" y="1143000"/>
            <a:ext cx="3749040" cy="32004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Definition</a:t>
            </a:r>
            <a:endParaRPr lang="en-US" sz="1300" dirty="0"/>
          </a:p>
        </p:txBody>
      </p:sp>
      <p:sp>
        <p:nvSpPr>
          <p:cNvPr id="11" name="Text 8"/>
          <p:cNvSpPr/>
          <p:nvPr/>
        </p:nvSpPr>
        <p:spPr>
          <a:xfrm>
            <a:off x="475488" y="1508760"/>
            <a:ext cx="3749040" cy="3063240"/>
          </a:xfrm>
          <a:prstGeom prst="rect">
            <a:avLst/>
          </a:prstGeom>
          <a:noFill/>
          <a:ln/>
        </p:spPr>
        <p:txBody>
          <a:bodyPr wrap="square" lIns="0" tIns="0" rIns="0" bIns="0" rtlCol="0" anchor="t"/>
          <a:lstStyle/>
          <a:p>
            <a:pPr marL="0" indent="0">
              <a:buNone/>
            </a:pPr>
            <a:r>
              <a:rPr lang="en-US" sz="1200" b="1" dirty="0">
                <a:solidFill>
                  <a:srgbClr val="E9C46A"/>
                </a:solidFill>
                <a:latin typeface="Georgia" pitchFamily="34" charset="0"/>
                <a:ea typeface="Georgia" pitchFamily="34" charset="-122"/>
                <a:cs typeface="Georgia" pitchFamily="34" charset="-120"/>
              </a:rPr>
              <a:t>Mode:</a:t>
            </a:r>
            <a:r>
              <a:rPr lang="en-US" sz="1100" dirty="0">
                <a:solidFill>
                  <a:srgbClr val="334155"/>
                </a:solidFill>
                <a:latin typeface="Calibri" pitchFamily="34" charset="0"/>
                <a:ea typeface="Calibri" pitchFamily="34" charset="-122"/>
                <a:cs typeface="Calibri" pitchFamily="34" charset="-120"/>
              </a:rPr>
              <a:t> The most frequently occurring score in a data set.</a:t>
            </a:r>
            <a:r>
              <a:rPr lang="en-US" sz="1200" dirty="0">
                <a:solidFill>
                  <a:srgbClr val="000000"/>
                </a:solidFill>
              </a:rPr>
              <a:t>
</a:t>
            </a:r>
            <a:r>
              <a:rPr lang="en-US" sz="1200" b="1" dirty="0">
                <a:solidFill>
                  <a:srgbClr val="E9C46A"/>
                </a:solidFill>
                <a:latin typeface="Georgia" pitchFamily="34" charset="0"/>
                <a:ea typeface="Georgia" pitchFamily="34" charset="-122"/>
                <a:cs typeface="Georgia" pitchFamily="34" charset="-120"/>
              </a:rPr>
              <a:t>Bimodal:</a:t>
            </a:r>
            <a:r>
              <a:rPr lang="en-US" sz="1100" dirty="0">
                <a:solidFill>
                  <a:srgbClr val="334155"/>
                </a:solidFill>
                <a:latin typeface="Calibri" pitchFamily="34" charset="0"/>
                <a:ea typeface="Calibri" pitchFamily="34" charset="-122"/>
                <a:cs typeface="Calibri" pitchFamily="34" charset="-120"/>
              </a:rPr>
              <a:t> A distribution with two modes.</a:t>
            </a:r>
            <a:r>
              <a:rPr lang="en-US" sz="1200" dirty="0">
                <a:solidFill>
                  <a:srgbClr val="000000"/>
                </a:solidFill>
              </a:rPr>
              <a:t>
</a:t>
            </a:r>
            <a:r>
              <a:rPr lang="en-US" sz="1200" b="1" dirty="0">
                <a:solidFill>
                  <a:srgbClr val="E9C46A"/>
                </a:solidFill>
                <a:latin typeface="Georgia" pitchFamily="34" charset="0"/>
                <a:ea typeface="Georgia" pitchFamily="34" charset="-122"/>
                <a:cs typeface="Georgia" pitchFamily="34" charset="-120"/>
              </a:rPr>
              <a:t>Multimodal:</a:t>
            </a:r>
            <a:r>
              <a:rPr lang="en-US" sz="1100" dirty="0">
                <a:solidFill>
                  <a:srgbClr val="334155"/>
                </a:solidFill>
                <a:latin typeface="Calibri" pitchFamily="34" charset="0"/>
                <a:ea typeface="Calibri" pitchFamily="34" charset="-122"/>
                <a:cs typeface="Calibri" pitchFamily="34" charset="-120"/>
              </a:rPr>
              <a:t> A distribution with several modes.</a:t>
            </a:r>
            <a:r>
              <a:rPr lang="en-US" sz="1200" dirty="0">
                <a:solidFill>
                  <a:srgbClr val="000000"/>
                </a:solidFill>
              </a:rPr>
              <a:t>
</a:t>
            </a:r>
            <a:r>
              <a:rPr lang="en-US" sz="1050" i="1" dirty="0">
                <a:solidFill>
                  <a:srgbClr val="334155"/>
                </a:solidFill>
                <a:latin typeface="Calibri" pitchFamily="34" charset="0"/>
                <a:ea typeface="Calibri" pitchFamily="34" charset="-122"/>
                <a:cs typeface="Calibri" pitchFamily="34" charset="-120"/>
              </a:rPr>
              <a:t>The mode is applicable to all scale levels, including nominal data.</a:t>
            </a:r>
            <a:endParaRPr lang="en-US" sz="1200" dirty="0"/>
          </a:p>
        </p:txBody>
      </p:sp>
      <p:pic>
        <p:nvPicPr>
          <p:cNvPr id="12" name="Image 1" descr="preencoded.png"/>
          <p:cNvPicPr>
            <a:picLocks noChangeAspect="1"/>
          </p:cNvPicPr>
          <p:nvPr/>
        </p:nvPicPr>
        <p:blipFill>
          <a:blip r:embed="rId4"/>
          <a:srcRect/>
          <a:stretch/>
        </p:blipFill>
        <p:spPr>
          <a:xfrm>
            <a:off x="4572000" y="1143000"/>
            <a:ext cx="4297680" cy="3337560"/>
          </a:xfrm>
          <a:prstGeom prst="rect">
            <a:avLst/>
          </a:prstGeom>
        </p:spPr>
      </p:pic>
      <p:sp>
        <p:nvSpPr>
          <p:cNvPr id="13" name="Text 9"/>
          <p:cNvSpPr/>
          <p:nvPr/>
        </p:nvSpPr>
        <p:spPr>
          <a:xfrm>
            <a:off x="274320" y="4800600"/>
            <a:ext cx="8595360" cy="256032"/>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Note: For bimodal or multimodal distributions, all modes should be reported.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Central Tendency: The Median</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pic>
        <p:nvPicPr>
          <p:cNvPr id="7" name="Image 1" descr="preencoded.png"/>
          <p:cNvPicPr>
            <a:picLocks noChangeAspect="1"/>
          </p:cNvPicPr>
          <p:nvPr/>
        </p:nvPicPr>
        <p:blipFill>
          <a:blip r:embed="rId4"/>
          <a:srcRect/>
          <a:stretch/>
        </p:blipFill>
        <p:spPr>
          <a:xfrm>
            <a:off x="274320" y="1005840"/>
            <a:ext cx="8595360" cy="2011680"/>
          </a:xfrm>
          <a:prstGeom prst="rect">
            <a:avLst/>
          </a:prstGeom>
        </p:spPr>
      </p:pic>
      <p:sp>
        <p:nvSpPr>
          <p:cNvPr id="8" name="Shape 4"/>
          <p:cNvSpPr/>
          <p:nvPr/>
        </p:nvSpPr>
        <p:spPr>
          <a:xfrm>
            <a:off x="274320" y="3127248"/>
            <a:ext cx="8595360" cy="1810512"/>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5"/>
          <p:cNvSpPr/>
          <p:nvPr/>
        </p:nvSpPr>
        <p:spPr>
          <a:xfrm>
            <a:off x="274320" y="3127248"/>
            <a:ext cx="64008" cy="1810512"/>
          </a:xfrm>
          <a:prstGeom prst="rect">
            <a:avLst/>
          </a:prstGeom>
          <a:solidFill>
            <a:srgbClr val="065A82"/>
          </a:solidFill>
          <a:ln w="12700">
            <a:solidFill>
              <a:srgbClr val="333333"/>
            </a:solidFill>
            <a:prstDash val="solid"/>
          </a:ln>
        </p:spPr>
        <p:txBody>
          <a:bodyPr/>
          <a:lstStyle/>
          <a:p>
            <a:endParaRPr lang="de-AT"/>
          </a:p>
        </p:txBody>
      </p:sp>
      <p:sp>
        <p:nvSpPr>
          <p:cNvPr id="10" name="Text 6"/>
          <p:cNvSpPr/>
          <p:nvPr/>
        </p:nvSpPr>
        <p:spPr>
          <a:xfrm>
            <a:off x="457200" y="3246120"/>
            <a:ext cx="8229600" cy="1572768"/>
          </a:xfrm>
          <a:prstGeom prst="rect">
            <a:avLst/>
          </a:prstGeom>
          <a:noFill/>
          <a:ln/>
        </p:spPr>
        <p:txBody>
          <a:bodyPr wrap="square" lIns="0" tIns="0" rIns="0" bIns="0" rtlCol="0" anchor="t"/>
          <a:lstStyle/>
          <a:p>
            <a:pPr marL="0" indent="0">
              <a:buNone/>
            </a:pPr>
            <a:r>
              <a:rPr lang="en-US" sz="1300" b="1" dirty="0">
                <a:solidFill>
                  <a:srgbClr val="065A82"/>
                </a:solidFill>
                <a:latin typeface="Georgia" pitchFamily="34" charset="0"/>
                <a:ea typeface="Georgia" pitchFamily="34" charset="-122"/>
                <a:cs typeface="Georgia" pitchFamily="34" charset="-120"/>
              </a:rPr>
              <a:t>The Median</a:t>
            </a:r>
            <a:r>
              <a:rPr lang="en-US" sz="1100" dirty="0">
                <a:solidFill>
                  <a:srgbClr val="94A3B8"/>
                </a:solidFill>
                <a:latin typeface="Calibri" pitchFamily="34" charset="0"/>
                <a:ea typeface="Calibri" pitchFamily="34" charset="-122"/>
                <a:cs typeface="Calibri" pitchFamily="34" charset="-120"/>
              </a:rPr>
              <a:t> is the middle score when all scores are arranged in order.</a:t>
            </a:r>
            <a:r>
              <a:rPr lang="en-US" sz="1300" dirty="0">
                <a:solidFill>
                  <a:srgbClr val="000000"/>
                </a:solidFill>
              </a:rPr>
              <a:t>
</a:t>
            </a:r>
            <a:r>
              <a:rPr lang="en-US" sz="1300" b="1" dirty="0">
                <a:solidFill>
                  <a:srgbClr val="065A82"/>
                </a:solidFill>
                <a:latin typeface="Georgia" pitchFamily="34" charset="0"/>
                <a:ea typeface="Georgia" pitchFamily="34" charset="-122"/>
                <a:cs typeface="Georgia" pitchFamily="34" charset="-120"/>
              </a:rPr>
              <a:t>Odd n:</a:t>
            </a:r>
            <a:r>
              <a:rPr lang="en-US" sz="1300" dirty="0">
                <a:solidFill>
                  <a:srgbClr val="94A3B8"/>
                </a:solidFill>
                <a:latin typeface="Calibri" pitchFamily="34" charset="0"/>
                <a:ea typeface="Calibri" pitchFamily="34" charset="-122"/>
                <a:cs typeface="Calibri" pitchFamily="34" charset="-120"/>
              </a:rPr>
              <a:t> The single middle value.   </a:t>
            </a:r>
            <a:r>
              <a:rPr lang="en-US" sz="1300" b="1" dirty="0">
                <a:solidFill>
                  <a:srgbClr val="065A82"/>
                </a:solidFill>
                <a:latin typeface="Georgia" pitchFamily="34" charset="0"/>
                <a:ea typeface="Georgia" pitchFamily="34" charset="-122"/>
                <a:cs typeface="Georgia" pitchFamily="34" charset="-120"/>
              </a:rPr>
              <a:t>Even n:</a:t>
            </a:r>
            <a:r>
              <a:rPr lang="en-US" sz="1300" dirty="0">
                <a:solidFill>
                  <a:srgbClr val="94A3B8"/>
                </a:solidFill>
                <a:latin typeface="Calibri" pitchFamily="34" charset="0"/>
                <a:ea typeface="Calibri" pitchFamily="34" charset="-122"/>
                <a:cs typeface="Calibri" pitchFamily="34" charset="-120"/>
              </a:rPr>
              <a:t> The average of the two middle values.</a:t>
            </a:r>
            <a:r>
              <a:rPr lang="en-US" sz="1300" dirty="0">
                <a:solidFill>
                  <a:srgbClr val="000000"/>
                </a:solidFill>
              </a:rPr>
              <a:t>
</a:t>
            </a:r>
            <a:r>
              <a:rPr lang="en-US" sz="1050" i="1" dirty="0">
                <a:solidFill>
                  <a:srgbClr val="64748B"/>
                </a:solidFill>
                <a:latin typeface="Calibri" pitchFamily="34" charset="0"/>
                <a:ea typeface="Calibri" pitchFamily="34" charset="-122"/>
                <a:cs typeface="Calibri" pitchFamily="34" charset="-120"/>
              </a:rPr>
              <a:t>The median is robust to outliers — preferred for skewed distributions (e.g., income, property prices).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Central Tendency: The Mean</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4572000" cy="388620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64008" cy="3886200"/>
          </a:xfrm>
          <a:prstGeom prst="rect">
            <a:avLst/>
          </a:prstGeom>
          <a:solidFill>
            <a:srgbClr val="065A82"/>
          </a:solidFill>
          <a:ln w="12700">
            <a:solidFill>
              <a:srgbClr val="333333"/>
            </a:solidFill>
            <a:prstDash val="solid"/>
          </a:ln>
        </p:spPr>
        <p:txBody>
          <a:bodyPr/>
          <a:lstStyle/>
          <a:p>
            <a:endParaRPr lang="de-AT"/>
          </a:p>
        </p:txBody>
      </p:sp>
      <p:sp>
        <p:nvSpPr>
          <p:cNvPr id="10" name="Text 7"/>
          <p:cNvSpPr/>
          <p:nvPr/>
        </p:nvSpPr>
        <p:spPr>
          <a:xfrm>
            <a:off x="475488" y="1143000"/>
            <a:ext cx="4206240" cy="32004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Definition &amp; Example</a:t>
            </a:r>
            <a:endParaRPr lang="en-US" sz="1300" dirty="0"/>
          </a:p>
        </p:txBody>
      </p:sp>
      <p:sp>
        <p:nvSpPr>
          <p:cNvPr id="11" name="Text 8"/>
          <p:cNvSpPr/>
          <p:nvPr/>
        </p:nvSpPr>
        <p:spPr>
          <a:xfrm>
            <a:off x="475488" y="1508760"/>
            <a:ext cx="4206240" cy="3246120"/>
          </a:xfrm>
          <a:prstGeom prst="rect">
            <a:avLst/>
          </a:prstGeom>
          <a:noFill/>
          <a:ln/>
        </p:spPr>
        <p:txBody>
          <a:bodyPr wrap="square" lIns="0" tIns="0" rIns="0" bIns="0" rtlCol="0" anchor="t"/>
          <a:lstStyle/>
          <a:p>
            <a:pPr marL="0" indent="0">
              <a:buNone/>
            </a:pPr>
            <a:r>
              <a:rPr lang="en-US" sz="1200" b="1" dirty="0">
                <a:solidFill>
                  <a:srgbClr val="E9C46A"/>
                </a:solidFill>
                <a:latin typeface="Georgia" pitchFamily="34" charset="0"/>
                <a:ea typeface="Georgia" pitchFamily="34" charset="-122"/>
                <a:cs typeface="Georgia" pitchFamily="34" charset="-120"/>
              </a:rPr>
              <a:t>Mean (x-bar):</a:t>
            </a:r>
            <a:r>
              <a:rPr lang="en-US" sz="1100" dirty="0">
                <a:solidFill>
                  <a:srgbClr val="334155"/>
                </a:solidFill>
                <a:latin typeface="Calibri" pitchFamily="34" charset="0"/>
                <a:ea typeface="Calibri" pitchFamily="34" charset="-122"/>
                <a:cs typeface="Calibri" pitchFamily="34" charset="-120"/>
              </a:rPr>
              <a:t> The sum of all scores divided by the number of scores.</a:t>
            </a:r>
            <a:r>
              <a:rPr lang="en-US" sz="1200" dirty="0">
                <a:solidFill>
                  <a:srgbClr val="000000"/>
                </a:solidFill>
              </a:rPr>
              <a:t>
</a:t>
            </a:r>
            <a:r>
              <a:rPr lang="en-US" sz="1200" b="1" dirty="0">
                <a:solidFill>
                  <a:srgbClr val="1E293B"/>
                </a:solidFill>
                <a:latin typeface="Courier New" pitchFamily="34" charset="0"/>
                <a:ea typeface="Courier New" pitchFamily="34" charset="-122"/>
                <a:cs typeface="Courier New" pitchFamily="34" charset="-120"/>
              </a:rPr>
              <a:t>x-bar = SUM(xi) / n</a:t>
            </a:r>
            <a:r>
              <a:rPr lang="en-US" sz="1200" dirty="0">
                <a:solidFill>
                  <a:srgbClr val="000000"/>
                </a:solidFill>
              </a:rPr>
              <a:t>
</a:t>
            </a:r>
            <a:r>
              <a:rPr lang="en-US" sz="1100" b="1" dirty="0">
                <a:solidFill>
                  <a:srgbClr val="1E293B"/>
                </a:solidFill>
                <a:latin typeface="Georgia" pitchFamily="34" charset="0"/>
                <a:ea typeface="Georgia" pitchFamily="34" charset="-122"/>
                <a:cs typeface="Georgia" pitchFamily="34" charset="-120"/>
              </a:rPr>
              <a:t>Facebook friends example (n = 11):</a:t>
            </a:r>
            <a:endParaRPr lang="en-US" sz="1200" dirty="0"/>
          </a:p>
          <a:p>
            <a:pPr marL="0" indent="0">
              <a:buNone/>
            </a:pPr>
            <a:r>
              <a:rPr lang="en-US" sz="1000" dirty="0">
                <a:solidFill>
                  <a:srgbClr val="334155"/>
                </a:solidFill>
                <a:latin typeface="Courier New" pitchFamily="34" charset="0"/>
                <a:ea typeface="Courier New" pitchFamily="34" charset="-122"/>
                <a:cs typeface="Courier New" pitchFamily="34" charset="-120"/>
              </a:rPr>
              <a:t>22, 40, 53, 57, 93, 98, 103,</a:t>
            </a:r>
            <a:endParaRPr lang="en-US" sz="1200" dirty="0"/>
          </a:p>
          <a:p>
            <a:pPr marL="0" indent="0">
              <a:buNone/>
            </a:pPr>
            <a:r>
              <a:rPr lang="en-US" sz="1000" dirty="0">
                <a:solidFill>
                  <a:srgbClr val="334155"/>
                </a:solidFill>
                <a:latin typeface="Courier New" pitchFamily="34" charset="0"/>
                <a:ea typeface="Courier New" pitchFamily="34" charset="-122"/>
                <a:cs typeface="Courier New" pitchFamily="34" charset="-120"/>
              </a:rPr>
              <a:t>108, 116, 121, 234</a:t>
            </a:r>
            <a:endParaRPr lang="en-US" sz="1200" dirty="0"/>
          </a:p>
          <a:p>
            <a:pPr marL="0" indent="0">
              <a:buNone/>
            </a:pPr>
            <a:r>
              <a:rPr lang="en-US" sz="1200" dirty="0">
                <a:solidFill>
                  <a:srgbClr val="000000"/>
                </a:solidFill>
              </a:rPr>
              <a:t>
</a:t>
            </a:r>
            <a:r>
              <a:rPr lang="en-US" sz="1000" dirty="0">
                <a:solidFill>
                  <a:srgbClr val="1E293B"/>
                </a:solidFill>
                <a:latin typeface="Courier New" pitchFamily="34" charset="0"/>
                <a:ea typeface="Courier New" pitchFamily="34" charset="-122"/>
                <a:cs typeface="Courier New" pitchFamily="34" charset="-120"/>
              </a:rPr>
              <a:t>sum = 1045</a:t>
            </a:r>
            <a:r>
              <a:rPr lang="en-US" sz="1200" dirty="0">
                <a:solidFill>
                  <a:srgbClr val="000000"/>
                </a:solidFill>
              </a:rPr>
              <a:t>
</a:t>
            </a:r>
            <a:r>
              <a:rPr lang="en-US" sz="1100" b="1" dirty="0">
                <a:solidFill>
                  <a:srgbClr val="E9C46A"/>
                </a:solidFill>
                <a:latin typeface="Courier New" pitchFamily="34" charset="0"/>
                <a:ea typeface="Courier New" pitchFamily="34" charset="-122"/>
                <a:cs typeface="Courier New" pitchFamily="34" charset="-120"/>
              </a:rPr>
              <a:t>x-bar = 1045 / 11 = 95</a:t>
            </a:r>
            <a:r>
              <a:rPr lang="en-US" sz="1200" dirty="0">
                <a:solidFill>
                  <a:srgbClr val="000000"/>
                </a:solidFill>
              </a:rPr>
              <a:t>
</a:t>
            </a:r>
            <a:r>
              <a:rPr lang="en-US" sz="1050" i="1" dirty="0">
                <a:solidFill>
                  <a:srgbClr val="334155"/>
                </a:solidFill>
                <a:latin typeface="Calibri" pitchFamily="34" charset="0"/>
                <a:ea typeface="Calibri" pitchFamily="34" charset="-122"/>
                <a:cs typeface="Calibri" pitchFamily="34" charset="-120"/>
              </a:rPr>
              <a:t>Sensitive to outliers — one extreme value (234) pulls the mean away from the center.</a:t>
            </a:r>
            <a:endParaRPr lang="en-US" sz="1200" dirty="0"/>
          </a:p>
        </p:txBody>
      </p:sp>
      <p:pic>
        <p:nvPicPr>
          <p:cNvPr id="12" name="Image 1" descr="preencoded.png"/>
          <p:cNvPicPr>
            <a:picLocks noChangeAspect="1"/>
          </p:cNvPicPr>
          <p:nvPr/>
        </p:nvPicPr>
        <p:blipFill>
          <a:blip r:embed="rId4"/>
          <a:srcRect/>
          <a:stretch/>
        </p:blipFill>
        <p:spPr>
          <a:xfrm>
            <a:off x="5029200" y="1051560"/>
            <a:ext cx="3840480" cy="3886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Dispersion: Range and Deviance</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Shape 4"/>
          <p:cNvSpPr/>
          <p:nvPr/>
        </p:nvSpPr>
        <p:spPr>
          <a:xfrm>
            <a:off x="228600" y="1051560"/>
            <a:ext cx="4206240" cy="388620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8" name="Shape 5"/>
          <p:cNvSpPr/>
          <p:nvPr/>
        </p:nvSpPr>
        <p:spPr>
          <a:xfrm>
            <a:off x="228600" y="1051560"/>
            <a:ext cx="64008" cy="3886200"/>
          </a:xfrm>
          <a:prstGeom prst="rect">
            <a:avLst/>
          </a:prstGeom>
          <a:solidFill>
            <a:srgbClr val="065A82"/>
          </a:solidFill>
          <a:ln w="12700">
            <a:solidFill>
              <a:srgbClr val="333333"/>
            </a:solidFill>
            <a:prstDash val="solid"/>
          </a:ln>
        </p:spPr>
        <p:txBody>
          <a:bodyPr/>
          <a:lstStyle/>
          <a:p>
            <a:endParaRPr lang="de-AT"/>
          </a:p>
        </p:txBody>
      </p:sp>
      <p:sp>
        <p:nvSpPr>
          <p:cNvPr id="9" name="Text 6"/>
          <p:cNvSpPr/>
          <p:nvPr/>
        </p:nvSpPr>
        <p:spPr>
          <a:xfrm>
            <a:off x="411480" y="1143000"/>
            <a:ext cx="3840480" cy="32004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Measuring Spread</a:t>
            </a:r>
            <a:endParaRPr lang="en-US" sz="1300" dirty="0"/>
          </a:p>
        </p:txBody>
      </p:sp>
      <p:sp>
        <p:nvSpPr>
          <p:cNvPr id="10" name="Text 7"/>
          <p:cNvSpPr/>
          <p:nvPr/>
        </p:nvSpPr>
        <p:spPr>
          <a:xfrm>
            <a:off x="411480" y="1508760"/>
            <a:ext cx="3840480" cy="3246120"/>
          </a:xfrm>
          <a:prstGeom prst="rect">
            <a:avLst/>
          </a:prstGeom>
          <a:noFill/>
          <a:ln/>
        </p:spPr>
        <p:txBody>
          <a:bodyPr wrap="square" lIns="0" tIns="0" rIns="0" bIns="0" rtlCol="0" anchor="t"/>
          <a:lstStyle/>
          <a:p>
            <a:pPr marL="0" indent="0">
              <a:buNone/>
            </a:pPr>
            <a:r>
              <a:rPr lang="en-US" sz="1200" b="1" dirty="0">
                <a:solidFill>
                  <a:srgbClr val="065A82"/>
                </a:solidFill>
                <a:latin typeface="Georgia" pitchFamily="34" charset="0"/>
                <a:ea typeface="Georgia" pitchFamily="34" charset="-122"/>
                <a:cs typeface="Georgia" pitchFamily="34" charset="-120"/>
              </a:rPr>
              <a:t>Range:</a:t>
            </a:r>
            <a:endParaRPr lang="en-US" sz="1200" dirty="0"/>
          </a:p>
          <a:p>
            <a:pPr marL="0" indent="0">
              <a:buNone/>
            </a:pPr>
            <a:r>
              <a:rPr lang="en-US" sz="1100" dirty="0">
                <a:solidFill>
                  <a:srgbClr val="FFFFFF"/>
                </a:solidFill>
                <a:latin typeface="Courier New" pitchFamily="34" charset="0"/>
                <a:ea typeface="Courier New" pitchFamily="34" charset="-122"/>
                <a:cs typeface="Courier New" pitchFamily="34" charset="-120"/>
              </a:rPr>
              <a:t>Range = Max - Min</a:t>
            </a:r>
            <a:endParaRPr lang="en-US" sz="1200" dirty="0"/>
          </a:p>
          <a:p>
            <a:pPr marL="0" indent="0">
              <a:buNone/>
            </a:pPr>
            <a:endParaRPr lang="en-US" sz="1200" dirty="0"/>
          </a:p>
          <a:p>
            <a:pPr marL="0" indent="0">
              <a:buNone/>
            </a:pPr>
            <a:r>
              <a:rPr lang="en-US" sz="1100" dirty="0">
                <a:solidFill>
                  <a:srgbClr val="94A3B8"/>
                </a:solidFill>
                <a:latin typeface="Calibri" pitchFamily="34" charset="0"/>
                <a:ea typeface="Calibri" pitchFamily="34" charset="-122"/>
                <a:cs typeface="Calibri" pitchFamily="34" charset="-120"/>
              </a:rPr>
              <a:t>For Facebook data: 234 - 22 = 212</a:t>
            </a:r>
            <a:endParaRPr lang="en-US" sz="1200" dirty="0"/>
          </a:p>
          <a:p>
            <a:pPr marL="0" indent="0">
              <a:buNone/>
            </a:pPr>
            <a:r>
              <a:rPr lang="en-US" sz="1200" dirty="0">
                <a:solidFill>
                  <a:srgbClr val="000000"/>
                </a:solidFill>
              </a:rPr>
              <a:t>
</a:t>
            </a:r>
            <a:r>
              <a:rPr lang="en-US" sz="1200" b="1" dirty="0">
                <a:solidFill>
                  <a:srgbClr val="065A82"/>
                </a:solidFill>
                <a:latin typeface="Georgia" pitchFamily="34" charset="0"/>
                <a:ea typeface="Georgia" pitchFamily="34" charset="-122"/>
                <a:cs typeface="Georgia" pitchFamily="34" charset="-120"/>
              </a:rPr>
              <a:t>Deviance:</a:t>
            </a:r>
            <a:endParaRPr lang="en-US" sz="1200" dirty="0"/>
          </a:p>
          <a:p>
            <a:pPr marL="0" indent="0">
              <a:buNone/>
            </a:pPr>
            <a:r>
              <a:rPr lang="en-US" sz="1100" dirty="0">
                <a:solidFill>
                  <a:srgbClr val="94A3B8"/>
                </a:solidFill>
                <a:latin typeface="Calibri" pitchFamily="34" charset="0"/>
                <a:ea typeface="Calibri" pitchFamily="34" charset="-122"/>
                <a:cs typeface="Calibri" pitchFamily="34" charset="-120"/>
              </a:rPr>
              <a:t>How different each score is from the mean.</a:t>
            </a:r>
            <a:endParaRPr lang="en-US" sz="1200" dirty="0"/>
          </a:p>
          <a:p>
            <a:pPr marL="0" indent="0">
              <a:buNone/>
            </a:pPr>
            <a:endParaRPr lang="en-US" sz="1200" dirty="0"/>
          </a:p>
          <a:p>
            <a:pPr marL="0" indent="0">
              <a:buNone/>
            </a:pPr>
            <a:r>
              <a:rPr lang="en-US" sz="1100" dirty="0">
                <a:solidFill>
                  <a:srgbClr val="FFFFFF"/>
                </a:solidFill>
                <a:latin typeface="Courier New" pitchFamily="34" charset="0"/>
                <a:ea typeface="Courier New" pitchFamily="34" charset="-122"/>
                <a:cs typeface="Courier New" pitchFamily="34" charset="-120"/>
              </a:rPr>
              <a:t>deviancei = xi - x-bar</a:t>
            </a:r>
            <a:endParaRPr lang="en-US" sz="1200" dirty="0"/>
          </a:p>
          <a:p>
            <a:pPr marL="0" indent="0">
              <a:buNone/>
            </a:pPr>
            <a:r>
              <a:rPr lang="en-US" sz="1200" dirty="0">
                <a:solidFill>
                  <a:srgbClr val="000000"/>
                </a:solidFill>
              </a:rPr>
              <a:t>
</a:t>
            </a:r>
            <a:r>
              <a:rPr lang="en-US" sz="1200" b="1" dirty="0">
                <a:solidFill>
                  <a:srgbClr val="C0392B"/>
                </a:solidFill>
                <a:latin typeface="Georgia" pitchFamily="34" charset="0"/>
                <a:ea typeface="Georgia" pitchFamily="34" charset="-122"/>
                <a:cs typeface="Georgia" pitchFamily="34" charset="-120"/>
              </a:rPr>
              <a:t>Problem:</a:t>
            </a:r>
            <a:r>
              <a:rPr lang="en-US" sz="1100" dirty="0">
                <a:solidFill>
                  <a:srgbClr val="94A3B8"/>
                </a:solidFill>
                <a:latin typeface="Calibri" pitchFamily="34" charset="0"/>
                <a:ea typeface="Calibri" pitchFamily="34" charset="-122"/>
                <a:cs typeface="Calibri" pitchFamily="34" charset="-120"/>
              </a:rPr>
              <a:t> Positive and negative deviations cancel out when summed. Solution: square each deviance.</a:t>
            </a:r>
            <a:endParaRPr lang="en-US" sz="1200" dirty="0"/>
          </a:p>
        </p:txBody>
      </p:sp>
      <p:pic>
        <p:nvPicPr>
          <p:cNvPr id="11" name="Image 1" descr="preencoded.png"/>
          <p:cNvPicPr>
            <a:picLocks noChangeAspect="1"/>
          </p:cNvPicPr>
          <p:nvPr/>
        </p:nvPicPr>
        <p:blipFill>
          <a:blip r:embed="rId4"/>
          <a:srcRect/>
          <a:stretch/>
        </p:blipFill>
        <p:spPr>
          <a:xfrm>
            <a:off x="4663440" y="1051560"/>
            <a:ext cx="4251960" cy="3886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Variance and Standard Deviation</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8595360" cy="91440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64008" cy="914400"/>
          </a:xfrm>
          <a:prstGeom prst="rect">
            <a:avLst/>
          </a:prstGeom>
          <a:solidFill>
            <a:srgbClr val="065A82"/>
          </a:solidFill>
          <a:ln w="12700">
            <a:solidFill>
              <a:srgbClr val="333333"/>
            </a:solidFill>
            <a:prstDash val="solid"/>
          </a:ln>
        </p:spPr>
        <p:txBody>
          <a:bodyPr/>
          <a:lstStyle/>
          <a:p>
            <a:endParaRPr lang="de-AT"/>
          </a:p>
        </p:txBody>
      </p:sp>
      <p:sp>
        <p:nvSpPr>
          <p:cNvPr id="10" name="Text 7"/>
          <p:cNvSpPr/>
          <p:nvPr/>
        </p:nvSpPr>
        <p:spPr>
          <a:xfrm>
            <a:off x="475488" y="1143000"/>
            <a:ext cx="3657600" cy="274320"/>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Sum of Squared Errors (SS)</a:t>
            </a:r>
            <a:endParaRPr lang="en-US" sz="1200" dirty="0"/>
          </a:p>
        </p:txBody>
      </p:sp>
      <p:sp>
        <p:nvSpPr>
          <p:cNvPr id="11" name="Text 8"/>
          <p:cNvSpPr/>
          <p:nvPr/>
        </p:nvSpPr>
        <p:spPr>
          <a:xfrm>
            <a:off x="475488" y="1444752"/>
            <a:ext cx="3657600" cy="274320"/>
          </a:xfrm>
          <a:prstGeom prst="rect">
            <a:avLst/>
          </a:prstGeom>
          <a:noFill/>
          <a:ln/>
        </p:spPr>
        <p:txBody>
          <a:bodyPr wrap="square" lIns="0" tIns="0" rIns="0" bIns="0" rtlCol="0" anchor="ctr"/>
          <a:lstStyle/>
          <a:p>
            <a:pPr marL="0" indent="0">
              <a:buNone/>
            </a:pPr>
            <a:r>
              <a:rPr lang="en-US" sz="1100" b="1" dirty="0">
                <a:solidFill>
                  <a:srgbClr val="1E293B"/>
                </a:solidFill>
                <a:latin typeface="Courier New" pitchFamily="34" charset="0"/>
                <a:ea typeface="Courier New" pitchFamily="34" charset="-122"/>
                <a:cs typeface="Courier New" pitchFamily="34" charset="-120"/>
              </a:rPr>
              <a:t>SS = SUM(xi - x-bar)^2</a:t>
            </a:r>
            <a:endParaRPr lang="en-US" sz="1100" dirty="0"/>
          </a:p>
        </p:txBody>
      </p:sp>
      <p:sp>
        <p:nvSpPr>
          <p:cNvPr id="12" name="Text 9"/>
          <p:cNvSpPr/>
          <p:nvPr/>
        </p:nvSpPr>
        <p:spPr>
          <a:xfrm>
            <a:off x="4389120" y="1143000"/>
            <a:ext cx="4343400"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Total dispersion. Size depends on number of scores — not comparable across samples.</a:t>
            </a:r>
            <a:endParaRPr lang="en-US" sz="1100" dirty="0"/>
          </a:p>
        </p:txBody>
      </p:sp>
      <p:sp>
        <p:nvSpPr>
          <p:cNvPr id="13" name="Shape 10"/>
          <p:cNvSpPr/>
          <p:nvPr/>
        </p:nvSpPr>
        <p:spPr>
          <a:xfrm>
            <a:off x="274320" y="2103120"/>
            <a:ext cx="8595360" cy="91440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4" name="Shape 11"/>
          <p:cNvSpPr/>
          <p:nvPr/>
        </p:nvSpPr>
        <p:spPr>
          <a:xfrm>
            <a:off x="274320" y="2103120"/>
            <a:ext cx="64008" cy="914400"/>
          </a:xfrm>
          <a:prstGeom prst="rect">
            <a:avLst/>
          </a:prstGeom>
          <a:solidFill>
            <a:srgbClr val="065A82"/>
          </a:solidFill>
          <a:ln w="12700">
            <a:solidFill>
              <a:srgbClr val="333333"/>
            </a:solidFill>
            <a:prstDash val="solid"/>
          </a:ln>
        </p:spPr>
        <p:txBody>
          <a:bodyPr/>
          <a:lstStyle/>
          <a:p>
            <a:endParaRPr lang="de-AT"/>
          </a:p>
        </p:txBody>
      </p:sp>
      <p:sp>
        <p:nvSpPr>
          <p:cNvPr id="15" name="Text 12"/>
          <p:cNvSpPr/>
          <p:nvPr/>
        </p:nvSpPr>
        <p:spPr>
          <a:xfrm>
            <a:off x="475488" y="2194560"/>
            <a:ext cx="3657600" cy="274320"/>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Variance (s^2)</a:t>
            </a:r>
            <a:endParaRPr lang="en-US" sz="1200" dirty="0"/>
          </a:p>
        </p:txBody>
      </p:sp>
      <p:sp>
        <p:nvSpPr>
          <p:cNvPr id="16" name="Text 13"/>
          <p:cNvSpPr/>
          <p:nvPr/>
        </p:nvSpPr>
        <p:spPr>
          <a:xfrm>
            <a:off x="475488" y="2496312"/>
            <a:ext cx="3657600" cy="274320"/>
          </a:xfrm>
          <a:prstGeom prst="rect">
            <a:avLst/>
          </a:prstGeom>
          <a:noFill/>
          <a:ln/>
        </p:spPr>
        <p:txBody>
          <a:bodyPr wrap="square" lIns="0" tIns="0" rIns="0" bIns="0" rtlCol="0" anchor="ctr"/>
          <a:lstStyle/>
          <a:p>
            <a:pPr marL="0" indent="0">
              <a:buNone/>
            </a:pPr>
            <a:r>
              <a:rPr lang="en-US" sz="1100" b="1" dirty="0">
                <a:solidFill>
                  <a:srgbClr val="1E293B"/>
                </a:solidFill>
                <a:latin typeface="Courier New" pitchFamily="34" charset="0"/>
                <a:ea typeface="Courier New" pitchFamily="34" charset="-122"/>
                <a:cs typeface="Courier New" pitchFamily="34" charset="-120"/>
              </a:rPr>
              <a:t>s^2 = SS / (n - 1)</a:t>
            </a:r>
            <a:endParaRPr lang="en-US" sz="1100" dirty="0"/>
          </a:p>
        </p:txBody>
      </p:sp>
      <p:sp>
        <p:nvSpPr>
          <p:cNvPr id="17" name="Text 14"/>
          <p:cNvSpPr/>
          <p:nvPr/>
        </p:nvSpPr>
        <p:spPr>
          <a:xfrm>
            <a:off x="4389120" y="2194560"/>
            <a:ext cx="4343400"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Average squared deviance. Penalizes larger deviations disproportionately. Units are squared.</a:t>
            </a:r>
            <a:endParaRPr lang="en-US" sz="1100" dirty="0"/>
          </a:p>
        </p:txBody>
      </p:sp>
      <p:sp>
        <p:nvSpPr>
          <p:cNvPr id="18" name="Shape 15"/>
          <p:cNvSpPr/>
          <p:nvPr/>
        </p:nvSpPr>
        <p:spPr>
          <a:xfrm>
            <a:off x="274320" y="3154680"/>
            <a:ext cx="8595360" cy="91440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9" name="Shape 16"/>
          <p:cNvSpPr/>
          <p:nvPr/>
        </p:nvSpPr>
        <p:spPr>
          <a:xfrm>
            <a:off x="274320" y="3154680"/>
            <a:ext cx="64008" cy="914400"/>
          </a:xfrm>
          <a:prstGeom prst="rect">
            <a:avLst/>
          </a:prstGeom>
          <a:solidFill>
            <a:srgbClr val="065A82"/>
          </a:solidFill>
          <a:ln w="12700">
            <a:solidFill>
              <a:srgbClr val="333333"/>
            </a:solidFill>
            <a:prstDash val="solid"/>
          </a:ln>
        </p:spPr>
        <p:txBody>
          <a:bodyPr/>
          <a:lstStyle/>
          <a:p>
            <a:endParaRPr lang="de-AT"/>
          </a:p>
        </p:txBody>
      </p:sp>
      <p:sp>
        <p:nvSpPr>
          <p:cNvPr id="20" name="Text 17"/>
          <p:cNvSpPr/>
          <p:nvPr/>
        </p:nvSpPr>
        <p:spPr>
          <a:xfrm>
            <a:off x="475488" y="3246120"/>
            <a:ext cx="3657600" cy="274320"/>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Standard Deviation (s)</a:t>
            </a:r>
            <a:endParaRPr lang="en-US" sz="1200" dirty="0"/>
          </a:p>
        </p:txBody>
      </p:sp>
      <p:sp>
        <p:nvSpPr>
          <p:cNvPr id="21" name="Text 18"/>
          <p:cNvSpPr/>
          <p:nvPr/>
        </p:nvSpPr>
        <p:spPr>
          <a:xfrm>
            <a:off x="475488" y="3547872"/>
            <a:ext cx="3657600" cy="274320"/>
          </a:xfrm>
          <a:prstGeom prst="rect">
            <a:avLst/>
          </a:prstGeom>
          <a:noFill/>
          <a:ln/>
        </p:spPr>
        <p:txBody>
          <a:bodyPr wrap="square" lIns="0" tIns="0" rIns="0" bIns="0" rtlCol="0" anchor="ctr"/>
          <a:lstStyle/>
          <a:p>
            <a:pPr marL="0" indent="0">
              <a:buNone/>
            </a:pPr>
            <a:r>
              <a:rPr lang="en-US" sz="1100" b="1" dirty="0">
                <a:solidFill>
                  <a:srgbClr val="1E293B"/>
                </a:solidFill>
                <a:latin typeface="Courier New" pitchFamily="34" charset="0"/>
                <a:ea typeface="Courier New" pitchFamily="34" charset="-122"/>
                <a:cs typeface="Courier New" pitchFamily="34" charset="-120"/>
              </a:rPr>
              <a:t>s = sqrt(SS / (n - 1))</a:t>
            </a:r>
            <a:endParaRPr lang="en-US" sz="1100" dirty="0"/>
          </a:p>
        </p:txBody>
      </p:sp>
      <p:sp>
        <p:nvSpPr>
          <p:cNvPr id="22" name="Text 19"/>
          <p:cNvSpPr/>
          <p:nvPr/>
        </p:nvSpPr>
        <p:spPr>
          <a:xfrm>
            <a:off x="4389120" y="3246120"/>
            <a:ext cx="4343400" cy="7315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Square root of variance. Same units as original variable. Most widely used measure of spread.</a:t>
            </a:r>
            <a:endParaRPr lang="en-US" sz="1100" dirty="0"/>
          </a:p>
        </p:txBody>
      </p:sp>
      <p:sp>
        <p:nvSpPr>
          <p:cNvPr id="23" name="Shape 20"/>
          <p:cNvSpPr/>
          <p:nvPr/>
        </p:nvSpPr>
        <p:spPr>
          <a:xfrm>
            <a:off x="274320" y="4206240"/>
            <a:ext cx="8595360" cy="749808"/>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24" name="Shape 21"/>
          <p:cNvSpPr/>
          <p:nvPr/>
        </p:nvSpPr>
        <p:spPr>
          <a:xfrm>
            <a:off x="274320" y="4206240"/>
            <a:ext cx="64008" cy="749808"/>
          </a:xfrm>
          <a:prstGeom prst="rect">
            <a:avLst/>
          </a:prstGeom>
          <a:solidFill>
            <a:srgbClr val="1C7293"/>
          </a:solidFill>
          <a:ln w="12700">
            <a:solidFill>
              <a:srgbClr val="333333"/>
            </a:solidFill>
            <a:prstDash val="solid"/>
          </a:ln>
        </p:spPr>
        <p:txBody>
          <a:bodyPr/>
          <a:lstStyle/>
          <a:p>
            <a:endParaRPr lang="de-AT"/>
          </a:p>
        </p:txBody>
      </p:sp>
      <p:sp>
        <p:nvSpPr>
          <p:cNvPr id="25" name="Text 22"/>
          <p:cNvSpPr/>
          <p:nvPr/>
        </p:nvSpPr>
        <p:spPr>
          <a:xfrm>
            <a:off x="475488" y="4270248"/>
            <a:ext cx="8229600" cy="62179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Facebook example: </a:t>
            </a:r>
            <a:r>
              <a:rPr lang="en-US" sz="1100" dirty="0">
                <a:solidFill>
                  <a:srgbClr val="1C7293"/>
                </a:solidFill>
                <a:latin typeface="Courier New" pitchFamily="34" charset="0"/>
                <a:ea typeface="Courier New" pitchFamily="34" charset="-122"/>
                <a:cs typeface="Courier New" pitchFamily="34" charset="-120"/>
              </a:rPr>
              <a:t>Variance = 3224.6 friends^2</a:t>
            </a:r>
            <a:r>
              <a:rPr lang="en-US" sz="1100" dirty="0">
                <a:solidFill>
                  <a:srgbClr val="94A3B8"/>
                </a:solidFill>
              </a:rPr>
              <a:t>   |   </a:t>
            </a:r>
            <a:r>
              <a:rPr lang="en-US" sz="1100" b="1" dirty="0">
                <a:solidFill>
                  <a:srgbClr val="E9C46A"/>
                </a:solidFill>
                <a:latin typeface="Courier New" pitchFamily="34" charset="0"/>
                <a:ea typeface="Courier New" pitchFamily="34" charset="-122"/>
                <a:cs typeface="Courier New" pitchFamily="34" charset="-120"/>
              </a:rPr>
              <a:t>SD = sqrt(3224.6) = 56.8 friends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Same Mean, Different Spread</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pic>
        <p:nvPicPr>
          <p:cNvPr id="7" name="Image 1" descr="preencoded.png"/>
          <p:cNvPicPr>
            <a:picLocks noChangeAspect="1"/>
          </p:cNvPicPr>
          <p:nvPr/>
        </p:nvPicPr>
        <p:blipFill>
          <a:blip r:embed="rId4"/>
          <a:srcRect/>
          <a:stretch/>
        </p:blipFill>
        <p:spPr>
          <a:xfrm>
            <a:off x="228600" y="1005840"/>
            <a:ext cx="5120640" cy="3931920"/>
          </a:xfrm>
          <a:prstGeom prst="rect">
            <a:avLst/>
          </a:prstGeom>
        </p:spPr>
      </p:pic>
      <p:sp>
        <p:nvSpPr>
          <p:cNvPr id="8" name="Shape 4"/>
          <p:cNvSpPr/>
          <p:nvPr/>
        </p:nvSpPr>
        <p:spPr>
          <a:xfrm>
            <a:off x="5486400" y="1005840"/>
            <a:ext cx="3429000" cy="393192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5"/>
          <p:cNvSpPr/>
          <p:nvPr/>
        </p:nvSpPr>
        <p:spPr>
          <a:xfrm>
            <a:off x="5486400" y="1005840"/>
            <a:ext cx="64008" cy="3931920"/>
          </a:xfrm>
          <a:prstGeom prst="rect">
            <a:avLst/>
          </a:prstGeom>
          <a:solidFill>
            <a:srgbClr val="065A82"/>
          </a:solidFill>
          <a:ln w="12700">
            <a:solidFill>
              <a:srgbClr val="333333"/>
            </a:solidFill>
            <a:prstDash val="solid"/>
          </a:ln>
        </p:spPr>
        <p:txBody>
          <a:bodyPr/>
          <a:lstStyle/>
          <a:p>
            <a:endParaRPr lang="de-AT"/>
          </a:p>
        </p:txBody>
      </p:sp>
      <p:sp>
        <p:nvSpPr>
          <p:cNvPr id="10" name="Text 6"/>
          <p:cNvSpPr/>
          <p:nvPr/>
        </p:nvSpPr>
        <p:spPr>
          <a:xfrm>
            <a:off x="5669280" y="1097280"/>
            <a:ext cx="306324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Key Insight</a:t>
            </a:r>
            <a:endParaRPr lang="en-US" sz="1300" dirty="0"/>
          </a:p>
        </p:txBody>
      </p:sp>
      <p:sp>
        <p:nvSpPr>
          <p:cNvPr id="11" name="Text 7"/>
          <p:cNvSpPr/>
          <p:nvPr/>
        </p:nvSpPr>
        <p:spPr>
          <a:xfrm>
            <a:off x="5669280" y="1508760"/>
            <a:ext cx="3063240" cy="324612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Two distributions can have the same mean but very different spreads.</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065A82"/>
                </a:solidFill>
                <a:latin typeface="Georgia" pitchFamily="34" charset="0"/>
                <a:ea typeface="Georgia" pitchFamily="34" charset="-122"/>
                <a:cs typeface="Georgia" pitchFamily="34" charset="-120"/>
              </a:rPr>
              <a:t>Narrow SD:</a:t>
            </a:r>
            <a:r>
              <a:rPr lang="en-US" sz="1100" dirty="0">
                <a:solidFill>
                  <a:srgbClr val="94A3B8"/>
                </a:solidFill>
                <a:latin typeface="Calibri" pitchFamily="34" charset="0"/>
                <a:ea typeface="Calibri" pitchFamily="34" charset="-122"/>
                <a:cs typeface="Calibri" pitchFamily="34" charset="-120"/>
              </a:rPr>
              <a:t> Data points cluster tightly around the mean.</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065A82"/>
                </a:solidFill>
                <a:latin typeface="Georgia" pitchFamily="34" charset="0"/>
                <a:ea typeface="Georgia" pitchFamily="34" charset="-122"/>
                <a:cs typeface="Georgia" pitchFamily="34" charset="-120"/>
              </a:rPr>
              <a:t>Wide SD:</a:t>
            </a:r>
            <a:r>
              <a:rPr lang="en-US" sz="1100" dirty="0">
                <a:solidFill>
                  <a:srgbClr val="94A3B8"/>
                </a:solidFill>
                <a:latin typeface="Calibri" pitchFamily="34" charset="0"/>
                <a:ea typeface="Calibri" pitchFamily="34" charset="-122"/>
                <a:cs typeface="Calibri" pitchFamily="34" charset="-120"/>
              </a:rPr>
              <a:t> Data points are widely dispersed.</a:t>
            </a:r>
            <a:r>
              <a:rPr lang="en-US" sz="1100" dirty="0">
                <a:solidFill>
                  <a:srgbClr val="000000"/>
                </a:solidFill>
                <a:latin typeface="Calibri" pitchFamily="34" charset="0"/>
                <a:ea typeface="Calibri" pitchFamily="34" charset="-122"/>
                <a:cs typeface="Calibri" pitchFamily="34" charset="-120"/>
              </a:rPr>
              <a:t>
</a:t>
            </a:r>
            <a:r>
              <a:rPr lang="en-US" sz="1100" i="1" dirty="0">
                <a:solidFill>
                  <a:srgbClr val="64748B"/>
                </a:solidFill>
                <a:latin typeface="Calibri" pitchFamily="34" charset="0"/>
                <a:ea typeface="Calibri" pitchFamily="34" charset="-122"/>
                <a:cs typeface="Calibri" pitchFamily="34" charset="-120"/>
              </a:rPr>
              <a:t>Always report both central tendency and variability.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The Normal Distribution</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pic>
        <p:nvPicPr>
          <p:cNvPr id="8" name="Image 1" descr="preencoded.png"/>
          <p:cNvPicPr>
            <a:picLocks noChangeAspect="1"/>
          </p:cNvPicPr>
          <p:nvPr/>
        </p:nvPicPr>
        <p:blipFill>
          <a:blip r:embed="rId4"/>
          <a:srcRect/>
          <a:stretch/>
        </p:blipFill>
        <p:spPr>
          <a:xfrm>
            <a:off x="228600" y="1005840"/>
            <a:ext cx="5120640" cy="3931920"/>
          </a:xfrm>
          <a:prstGeom prst="rect">
            <a:avLst/>
          </a:prstGeom>
        </p:spPr>
      </p:pic>
      <p:sp>
        <p:nvSpPr>
          <p:cNvPr id="9" name="Shape 5"/>
          <p:cNvSpPr/>
          <p:nvPr/>
        </p:nvSpPr>
        <p:spPr>
          <a:xfrm>
            <a:off x="5486400" y="1005840"/>
            <a:ext cx="3429000" cy="393192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0" name="Shape 6"/>
          <p:cNvSpPr/>
          <p:nvPr/>
        </p:nvSpPr>
        <p:spPr>
          <a:xfrm>
            <a:off x="5486400" y="1005840"/>
            <a:ext cx="64008" cy="3931920"/>
          </a:xfrm>
          <a:prstGeom prst="rect">
            <a:avLst/>
          </a:prstGeom>
          <a:solidFill>
            <a:srgbClr val="065A82"/>
          </a:solidFill>
          <a:ln w="12700">
            <a:solidFill>
              <a:srgbClr val="333333"/>
            </a:solidFill>
            <a:prstDash val="solid"/>
          </a:ln>
        </p:spPr>
        <p:txBody>
          <a:bodyPr/>
          <a:lstStyle/>
          <a:p>
            <a:endParaRPr lang="de-AT"/>
          </a:p>
        </p:txBody>
      </p:sp>
      <p:sp>
        <p:nvSpPr>
          <p:cNvPr id="11" name="Text 7"/>
          <p:cNvSpPr/>
          <p:nvPr/>
        </p:nvSpPr>
        <p:spPr>
          <a:xfrm>
            <a:off x="5669280" y="1097280"/>
            <a:ext cx="3063240" cy="34747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The Bell Curve</a:t>
            </a:r>
            <a:endParaRPr lang="en-US" sz="1300" dirty="0"/>
          </a:p>
        </p:txBody>
      </p:sp>
      <p:sp>
        <p:nvSpPr>
          <p:cNvPr id="12" name="Text 8"/>
          <p:cNvSpPr/>
          <p:nvPr/>
        </p:nvSpPr>
        <p:spPr>
          <a:xfrm>
            <a:off x="5669280" y="1508760"/>
            <a:ext cx="3063240" cy="324612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Symmetric, bell-shaped distribution fully defined by mean and standard deviation.</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E9C46A"/>
                </a:solidFill>
                <a:latin typeface="Georgia" pitchFamily="34" charset="0"/>
                <a:ea typeface="Georgia" pitchFamily="34" charset="-122"/>
                <a:cs typeface="Georgia" pitchFamily="34" charset="-120"/>
              </a:rPr>
              <a:t>68-95-99.7 Rule:</a:t>
            </a:r>
            <a:endParaRPr lang="en-US" sz="1100" dirty="0"/>
          </a:p>
          <a:p>
            <a:pPr marL="0" indent="0">
              <a:buNone/>
            </a:pPr>
            <a:r>
              <a:rPr lang="en-US" sz="1100" dirty="0">
                <a:solidFill>
                  <a:srgbClr val="94A3B8"/>
                </a:solidFill>
                <a:latin typeface="Calibri" pitchFamily="34" charset="0"/>
                <a:ea typeface="Calibri" pitchFamily="34" charset="-122"/>
                <a:cs typeface="Calibri" pitchFamily="34" charset="-120"/>
              </a:rPr>
              <a:t>68% within ±1 SD</a:t>
            </a:r>
            <a:endParaRPr lang="en-US" sz="1100" dirty="0"/>
          </a:p>
          <a:p>
            <a:pPr marL="0" indent="0">
              <a:buNone/>
            </a:pPr>
            <a:r>
              <a:rPr lang="en-US" sz="1100" dirty="0">
                <a:solidFill>
                  <a:srgbClr val="94A3B8"/>
                </a:solidFill>
                <a:latin typeface="Calibri" pitchFamily="34" charset="0"/>
                <a:ea typeface="Calibri" pitchFamily="34" charset="-122"/>
                <a:cs typeface="Calibri" pitchFamily="34" charset="-120"/>
              </a:rPr>
              <a:t>95% within ±2 SD</a:t>
            </a:r>
            <a:endParaRPr lang="en-US" sz="1100" dirty="0"/>
          </a:p>
          <a:p>
            <a:pPr marL="0" indent="0">
              <a:buNone/>
            </a:pPr>
            <a:r>
              <a:rPr lang="en-US" sz="1100" dirty="0">
                <a:solidFill>
                  <a:srgbClr val="94A3B8"/>
                </a:solidFill>
                <a:latin typeface="Calibri" pitchFamily="34" charset="0"/>
                <a:ea typeface="Calibri" pitchFamily="34" charset="-122"/>
                <a:cs typeface="Calibri" pitchFamily="34" charset="-120"/>
              </a:rPr>
              <a:t>99.7% within ±3 SD</a:t>
            </a:r>
            <a:endParaRPr lang="en-US" sz="1100" dirty="0"/>
          </a:p>
          <a:p>
            <a:pPr marL="0" indent="0">
              <a:buNone/>
            </a:pPr>
            <a:r>
              <a:rPr lang="en-US" sz="1100" dirty="0">
                <a:solidFill>
                  <a:srgbClr val="000000"/>
                </a:solidFill>
                <a:latin typeface="Calibri" pitchFamily="34" charset="0"/>
                <a:ea typeface="Calibri" pitchFamily="34" charset="-122"/>
                <a:cs typeface="Calibri" pitchFamily="34" charset="-120"/>
              </a:rPr>
              <a:t>
</a:t>
            </a:r>
            <a:r>
              <a:rPr lang="en-US" sz="1100" i="1" dirty="0">
                <a:solidFill>
                  <a:srgbClr val="334155"/>
                </a:solidFill>
                <a:latin typeface="Calibri" pitchFamily="34" charset="0"/>
                <a:ea typeface="Calibri" pitchFamily="34" charset="-122"/>
                <a:cs typeface="Calibri" pitchFamily="34" charset="-120"/>
              </a:rPr>
              <a:t>Approx. 5% of values fall more than 2 SD from the mean — the basis for the 0.05 significance threshold.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Probability Density Function</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pic>
        <p:nvPicPr>
          <p:cNvPr id="7" name="Image 1" descr="preencoded.png"/>
          <p:cNvPicPr>
            <a:picLocks noChangeAspect="1"/>
          </p:cNvPicPr>
          <p:nvPr/>
        </p:nvPicPr>
        <p:blipFill>
          <a:blip r:embed="rId4"/>
          <a:srcRect/>
          <a:stretch/>
        </p:blipFill>
        <p:spPr>
          <a:xfrm>
            <a:off x="228600" y="1005840"/>
            <a:ext cx="5120640" cy="3931920"/>
          </a:xfrm>
          <a:prstGeom prst="rect">
            <a:avLst/>
          </a:prstGeom>
        </p:spPr>
      </p:pic>
      <p:sp>
        <p:nvSpPr>
          <p:cNvPr id="8" name="Shape 4"/>
          <p:cNvSpPr/>
          <p:nvPr/>
        </p:nvSpPr>
        <p:spPr>
          <a:xfrm>
            <a:off x="5486400" y="1005840"/>
            <a:ext cx="3429000" cy="393192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5"/>
          <p:cNvSpPr/>
          <p:nvPr/>
        </p:nvSpPr>
        <p:spPr>
          <a:xfrm>
            <a:off x="5486400" y="1005840"/>
            <a:ext cx="64008" cy="3931920"/>
          </a:xfrm>
          <a:prstGeom prst="rect">
            <a:avLst/>
          </a:prstGeom>
          <a:solidFill>
            <a:srgbClr val="065A82"/>
          </a:solidFill>
          <a:ln w="12700">
            <a:solidFill>
              <a:srgbClr val="333333"/>
            </a:solidFill>
            <a:prstDash val="solid"/>
          </a:ln>
        </p:spPr>
        <p:txBody>
          <a:bodyPr/>
          <a:lstStyle/>
          <a:p>
            <a:endParaRPr lang="de-AT"/>
          </a:p>
        </p:txBody>
      </p:sp>
      <p:sp>
        <p:nvSpPr>
          <p:cNvPr id="10" name="Text 6"/>
          <p:cNvSpPr/>
          <p:nvPr/>
        </p:nvSpPr>
        <p:spPr>
          <a:xfrm>
            <a:off x="5669280" y="1097280"/>
            <a:ext cx="306324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PDF Properties</a:t>
            </a:r>
            <a:endParaRPr lang="en-US" sz="1300" dirty="0"/>
          </a:p>
        </p:txBody>
      </p:sp>
      <p:sp>
        <p:nvSpPr>
          <p:cNvPr id="11" name="Text 7"/>
          <p:cNvSpPr/>
          <p:nvPr/>
        </p:nvSpPr>
        <p:spPr>
          <a:xfrm>
            <a:off x="5669280" y="1508760"/>
            <a:ext cx="3063240" cy="324612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The probability density function f(x) describes the relative likelihood of a random variable taking a given value.</a:t>
            </a:r>
            <a:r>
              <a:rPr lang="en-US" sz="1100" dirty="0">
                <a:solidFill>
                  <a:srgbClr val="000000"/>
                </a:solidFill>
                <a:latin typeface="Calibri" pitchFamily="34" charset="0"/>
                <a:ea typeface="Calibri" pitchFamily="34" charset="-122"/>
                <a:cs typeface="Calibri" pitchFamily="34" charset="-120"/>
              </a:rPr>
              <a:t>
</a:t>
            </a:r>
            <a:r>
              <a:rPr lang="en-US" sz="1100" dirty="0">
                <a:solidFill>
                  <a:srgbClr val="94A3B8"/>
                </a:solidFill>
                <a:latin typeface="Calibri" pitchFamily="34" charset="0"/>
                <a:ea typeface="Calibri" pitchFamily="34" charset="-122"/>
                <a:cs typeface="Calibri" pitchFamily="34" charset="-120"/>
              </a:rPr>
              <a:t>The area under the curve always equals 1 (total probability).</a:t>
            </a:r>
            <a:r>
              <a:rPr lang="en-US" sz="1100" dirty="0">
                <a:solidFill>
                  <a:srgbClr val="000000"/>
                </a:solidFill>
                <a:latin typeface="Calibri" pitchFamily="34" charset="0"/>
                <a:ea typeface="Calibri" pitchFamily="34" charset="-122"/>
                <a:cs typeface="Calibri" pitchFamily="34" charset="-120"/>
              </a:rPr>
              <a:t>
</a:t>
            </a:r>
            <a:r>
              <a:rPr lang="en-US" sz="1100" dirty="0">
                <a:solidFill>
                  <a:srgbClr val="94A3B8"/>
                </a:solidFill>
                <a:latin typeface="Calibri" pitchFamily="34" charset="0"/>
                <a:ea typeface="Calibri" pitchFamily="34" charset="-122"/>
                <a:cs typeface="Calibri" pitchFamily="34" charset="-120"/>
              </a:rPr>
              <a:t>Different means (mu) shift the curve left or right. Different SDs (sigma) make it narrower or wider.</a:t>
            </a:r>
            <a:r>
              <a:rPr lang="en-US" sz="1100" dirty="0">
                <a:solidFill>
                  <a:srgbClr val="000000"/>
                </a:solidFill>
                <a:latin typeface="Calibri" pitchFamily="34" charset="0"/>
                <a:ea typeface="Calibri" pitchFamily="34" charset="-122"/>
                <a:cs typeface="Calibri" pitchFamily="34" charset="-120"/>
              </a:rPr>
              <a:t>
</a:t>
            </a:r>
            <a:r>
              <a:rPr lang="en-US" sz="1100" i="1" dirty="0">
                <a:solidFill>
                  <a:srgbClr val="64748B"/>
                </a:solidFill>
                <a:latin typeface="Calibri" pitchFamily="34" charset="0"/>
                <a:ea typeface="Calibri" pitchFamily="34" charset="-122"/>
                <a:cs typeface="Calibri" pitchFamily="34" charset="-120"/>
              </a:rPr>
              <a:t>P(a &lt; X &lt; b) is the area under the curve between a and b.</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457200" y="1417320"/>
            <a:ext cx="685800" cy="68580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557784" y="1517904"/>
            <a:ext cx="484632" cy="484632"/>
          </a:xfrm>
          <a:prstGeom prst="rect">
            <a:avLst/>
          </a:prstGeom>
        </p:spPr>
      </p:pic>
      <p:sp>
        <p:nvSpPr>
          <p:cNvPr id="5" name="Text 2"/>
          <p:cNvSpPr/>
          <p:nvPr/>
        </p:nvSpPr>
        <p:spPr>
          <a:xfrm>
            <a:off x="457200" y="2212848"/>
            <a:ext cx="822960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Chapter 4</a:t>
            </a:r>
            <a:endParaRPr lang="en-US" sz="1200" dirty="0"/>
          </a:p>
        </p:txBody>
      </p:sp>
      <p:sp>
        <p:nvSpPr>
          <p:cNvPr id="6" name="Text 3"/>
          <p:cNvSpPr/>
          <p:nvPr/>
        </p:nvSpPr>
        <p:spPr>
          <a:xfrm>
            <a:off x="457200" y="2514600"/>
            <a:ext cx="8229600" cy="822960"/>
          </a:xfrm>
          <a:prstGeom prst="rect">
            <a:avLst/>
          </a:prstGeom>
          <a:noFill/>
          <a:ln/>
        </p:spPr>
        <p:txBody>
          <a:bodyPr wrap="square" lIns="0" tIns="0" rIns="0" bIns="0" rtlCol="0" anchor="ctr"/>
          <a:lstStyle/>
          <a:p>
            <a:pPr marL="0" indent="0">
              <a:buNone/>
            </a:pPr>
            <a:r>
              <a:rPr lang="en-US" sz="3200" b="1" dirty="0">
                <a:solidFill>
                  <a:srgbClr val="1E293B"/>
                </a:solidFill>
                <a:latin typeface="Georgia" pitchFamily="34" charset="0"/>
                <a:ea typeface="Georgia" pitchFamily="34" charset="-122"/>
                <a:cs typeface="Georgia" pitchFamily="34" charset="-120"/>
              </a:rPr>
              <a:t>Inductive Statistics</a:t>
            </a:r>
            <a:endParaRPr lang="en-US" sz="3200" dirty="0"/>
          </a:p>
        </p:txBody>
      </p:sp>
      <p:sp>
        <p:nvSpPr>
          <p:cNvPr id="7" name="Shape 4"/>
          <p:cNvSpPr/>
          <p:nvPr/>
        </p:nvSpPr>
        <p:spPr>
          <a:xfrm>
            <a:off x="457200" y="3364992"/>
            <a:ext cx="1371600" cy="45720"/>
          </a:xfrm>
          <a:prstGeom prst="rect">
            <a:avLst/>
          </a:prstGeom>
          <a:solidFill>
            <a:srgbClr val="E9C46A"/>
          </a:solidFill>
          <a:ln w="12700">
            <a:solidFill>
              <a:srgbClr val="333333"/>
            </a:solidFill>
            <a:prstDash val="solid"/>
          </a:ln>
        </p:spPr>
        <p:txBody>
          <a:bodyPr/>
          <a:lstStyle/>
          <a:p>
            <a:endParaRPr lang="de-AT"/>
          </a:p>
        </p:txBody>
      </p:sp>
      <p:sp>
        <p:nvSpPr>
          <p:cNvPr id="8" name="Text 5"/>
          <p:cNvSpPr/>
          <p:nvPr/>
        </p:nvSpPr>
        <p:spPr>
          <a:xfrm>
            <a:off x="457200" y="3493008"/>
            <a:ext cx="8229600" cy="411480"/>
          </a:xfrm>
          <a:prstGeom prst="rect">
            <a:avLst/>
          </a:prstGeom>
          <a:noFill/>
          <a:ln/>
        </p:spPr>
        <p:txBody>
          <a:bodyPr wrap="square" lIns="0" tIns="0" rIns="0" bIns="0" rtlCol="0" anchor="ctr"/>
          <a:lstStyle/>
          <a:p>
            <a:pPr marL="0" indent="0">
              <a:buNone/>
            </a:pPr>
            <a:r>
              <a:rPr lang="en-US" sz="1400" i="1" dirty="0">
                <a:solidFill>
                  <a:srgbClr val="334155"/>
                </a:solidFill>
                <a:latin typeface="Calibri" pitchFamily="34" charset="0"/>
                <a:ea typeface="Calibri" pitchFamily="34" charset="-122"/>
                <a:cs typeface="Calibri" pitchFamily="34" charset="-120"/>
              </a:rPr>
              <a:t>Hypothesis testing, significance levels, p-values, and t-tests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Why Do We Need Inductive Statistics?</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Shape 4"/>
          <p:cNvSpPr/>
          <p:nvPr/>
        </p:nvSpPr>
        <p:spPr>
          <a:xfrm>
            <a:off x="228600" y="1005840"/>
            <a:ext cx="4572000" cy="393192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8" name="Shape 5"/>
          <p:cNvSpPr/>
          <p:nvPr/>
        </p:nvSpPr>
        <p:spPr>
          <a:xfrm>
            <a:off x="502920" y="1188720"/>
            <a:ext cx="4023360" cy="3474720"/>
          </a:xfrm>
          <a:prstGeom prst="ellipse">
            <a:avLst/>
          </a:prstGeom>
          <a:solidFill>
            <a:srgbClr val="F0F4F8">
              <a:alpha val="80000"/>
            </a:srgbClr>
          </a:solidFill>
          <a:ln w="25400">
            <a:solidFill>
              <a:srgbClr val="065A82"/>
            </a:solidFill>
            <a:prstDash val="solid"/>
          </a:ln>
        </p:spPr>
        <p:txBody>
          <a:bodyPr/>
          <a:lstStyle/>
          <a:p>
            <a:endParaRPr lang="de-AT"/>
          </a:p>
        </p:txBody>
      </p:sp>
      <p:sp>
        <p:nvSpPr>
          <p:cNvPr id="9" name="Text 6"/>
          <p:cNvSpPr/>
          <p:nvPr/>
        </p:nvSpPr>
        <p:spPr>
          <a:xfrm>
            <a:off x="640080" y="1234440"/>
            <a:ext cx="3749040" cy="365760"/>
          </a:xfrm>
          <a:prstGeom prst="rect">
            <a:avLst/>
          </a:prstGeom>
          <a:noFill/>
          <a:ln/>
        </p:spPr>
        <p:txBody>
          <a:bodyPr wrap="square" lIns="0" tIns="0" rIns="0" bIns="0" rtlCol="0" anchor="ctr"/>
          <a:lstStyle/>
          <a:p>
            <a:pPr marL="0" indent="0" algn="ctr">
              <a:buNone/>
            </a:pPr>
            <a:r>
              <a:rPr lang="en-US" sz="1200" b="1" dirty="0">
                <a:solidFill>
                  <a:srgbClr val="065A82"/>
                </a:solidFill>
                <a:latin typeface="Georgia" pitchFamily="34" charset="0"/>
                <a:ea typeface="Georgia" pitchFamily="34" charset="-122"/>
                <a:cs typeface="Georgia" pitchFamily="34" charset="-120"/>
              </a:rPr>
              <a:t>Population (N)</a:t>
            </a:r>
            <a:endParaRPr lang="en-US" sz="1200" dirty="0"/>
          </a:p>
        </p:txBody>
      </p:sp>
      <p:sp>
        <p:nvSpPr>
          <p:cNvPr id="10" name="Text 7"/>
          <p:cNvSpPr/>
          <p:nvPr/>
        </p:nvSpPr>
        <p:spPr>
          <a:xfrm>
            <a:off x="640080" y="1627632"/>
            <a:ext cx="3749040" cy="5486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All elements sharing</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common characteristics</a:t>
            </a:r>
            <a:endParaRPr lang="en-US" sz="1000" dirty="0"/>
          </a:p>
        </p:txBody>
      </p:sp>
      <p:sp>
        <p:nvSpPr>
          <p:cNvPr id="11" name="Shape 8"/>
          <p:cNvSpPr/>
          <p:nvPr/>
        </p:nvSpPr>
        <p:spPr>
          <a:xfrm>
            <a:off x="1417320" y="2834640"/>
            <a:ext cx="2194560" cy="1600200"/>
          </a:xfrm>
          <a:prstGeom prst="ellipse">
            <a:avLst/>
          </a:prstGeom>
          <a:solidFill>
            <a:srgbClr val="E2E8F0">
              <a:alpha val="80000"/>
            </a:srgbClr>
          </a:solidFill>
          <a:ln w="25400">
            <a:solidFill>
              <a:srgbClr val="1C7293"/>
            </a:solidFill>
            <a:prstDash val="solid"/>
          </a:ln>
        </p:spPr>
        <p:txBody>
          <a:bodyPr/>
          <a:lstStyle/>
          <a:p>
            <a:endParaRPr lang="de-AT"/>
          </a:p>
        </p:txBody>
      </p:sp>
      <p:sp>
        <p:nvSpPr>
          <p:cNvPr id="12" name="Text 9"/>
          <p:cNvSpPr/>
          <p:nvPr/>
        </p:nvSpPr>
        <p:spPr>
          <a:xfrm>
            <a:off x="1463040" y="2926080"/>
            <a:ext cx="2103120" cy="1371600"/>
          </a:xfrm>
          <a:prstGeom prst="rect">
            <a:avLst/>
          </a:prstGeom>
          <a:noFill/>
          <a:ln/>
        </p:spPr>
        <p:txBody>
          <a:bodyPr wrap="square" lIns="0" tIns="0" rIns="0" bIns="0" rtlCol="0" anchor="ctr"/>
          <a:lstStyle/>
          <a:p>
            <a:pPr marL="0" indent="0" algn="ctr">
              <a:buNone/>
            </a:pPr>
            <a:r>
              <a:rPr lang="en-US" sz="1300" b="1" dirty="0">
                <a:solidFill>
                  <a:srgbClr val="1C7293"/>
                </a:solidFill>
                <a:latin typeface="Georgia" pitchFamily="34" charset="0"/>
                <a:ea typeface="Georgia" pitchFamily="34" charset="-122"/>
                <a:cs typeface="Georgia" pitchFamily="34" charset="-120"/>
              </a:rPr>
              <a:t>Sample</a:t>
            </a:r>
            <a:endParaRPr lang="en-US" sz="1300" dirty="0"/>
          </a:p>
          <a:p>
            <a:pPr marL="0" indent="0" algn="ctr">
              <a:buNone/>
            </a:pPr>
            <a:r>
              <a:rPr lang="en-US" sz="1300" b="1" dirty="0">
                <a:solidFill>
                  <a:srgbClr val="1C7293"/>
                </a:solidFill>
                <a:latin typeface="Georgia" pitchFamily="34" charset="0"/>
                <a:ea typeface="Georgia" pitchFamily="34" charset="-122"/>
                <a:cs typeface="Georgia" pitchFamily="34" charset="-120"/>
              </a:rPr>
              <a:t>(n)</a:t>
            </a:r>
            <a:endParaRPr lang="en-US" sz="1300" dirty="0"/>
          </a:p>
        </p:txBody>
      </p:sp>
      <p:sp>
        <p:nvSpPr>
          <p:cNvPr id="13" name="Text 10"/>
          <p:cNvSpPr/>
          <p:nvPr/>
        </p:nvSpPr>
        <p:spPr>
          <a:xfrm>
            <a:off x="3337560" y="2606040"/>
            <a:ext cx="1463040" cy="320040"/>
          </a:xfrm>
          <a:prstGeom prst="rect">
            <a:avLst/>
          </a:prstGeom>
          <a:noFill/>
          <a:ln/>
        </p:spPr>
        <p:txBody>
          <a:bodyPr wrap="square" lIns="0" tIns="0" rIns="0" bIns="0" rtlCol="0" anchor="ctr"/>
          <a:lstStyle/>
          <a:p>
            <a:pPr marL="0" indent="0" algn="ctr">
              <a:buNone/>
            </a:pPr>
            <a:r>
              <a:rPr lang="en-US" sz="1000" b="1" dirty="0">
                <a:solidFill>
                  <a:srgbClr val="E9C46A"/>
                </a:solidFill>
                <a:latin typeface="Georgia" pitchFamily="34" charset="0"/>
                <a:ea typeface="Georgia" pitchFamily="34" charset="-122"/>
                <a:cs typeface="Georgia" pitchFamily="34" charset="-120"/>
              </a:rPr>
              <a:t>▼ Sampling</a:t>
            </a:r>
            <a:endParaRPr lang="en-US" sz="1000" dirty="0"/>
          </a:p>
        </p:txBody>
      </p:sp>
      <p:sp>
        <p:nvSpPr>
          <p:cNvPr id="14" name="Text 11"/>
          <p:cNvSpPr/>
          <p:nvPr/>
        </p:nvSpPr>
        <p:spPr>
          <a:xfrm>
            <a:off x="3246120" y="2944368"/>
            <a:ext cx="1645920" cy="32004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Select subset from population</a:t>
            </a:r>
            <a:endParaRPr lang="en-US" sz="800" dirty="0"/>
          </a:p>
        </p:txBody>
      </p:sp>
      <p:sp>
        <p:nvSpPr>
          <p:cNvPr id="15" name="Text 12"/>
          <p:cNvSpPr/>
          <p:nvPr/>
        </p:nvSpPr>
        <p:spPr>
          <a:xfrm>
            <a:off x="3337560" y="2176272"/>
            <a:ext cx="1463040" cy="320040"/>
          </a:xfrm>
          <a:prstGeom prst="rect">
            <a:avLst/>
          </a:prstGeom>
          <a:noFill/>
          <a:ln/>
        </p:spPr>
        <p:txBody>
          <a:bodyPr wrap="square" lIns="0" tIns="0" rIns="0" bIns="0" rtlCol="0" anchor="ctr"/>
          <a:lstStyle/>
          <a:p>
            <a:pPr marL="0" indent="0" algn="ctr">
              <a:buNone/>
            </a:pPr>
            <a:r>
              <a:rPr lang="en-US" sz="1000" b="1" dirty="0">
                <a:solidFill>
                  <a:srgbClr val="065A82"/>
                </a:solidFill>
                <a:latin typeface="Georgia" pitchFamily="34" charset="0"/>
                <a:ea typeface="Georgia" pitchFamily="34" charset="-122"/>
                <a:cs typeface="Georgia" pitchFamily="34" charset="-120"/>
              </a:rPr>
              <a:t>▲ Inference</a:t>
            </a:r>
            <a:endParaRPr lang="en-US" sz="1000" dirty="0"/>
          </a:p>
        </p:txBody>
      </p:sp>
      <p:sp>
        <p:nvSpPr>
          <p:cNvPr id="16" name="Text 13"/>
          <p:cNvSpPr/>
          <p:nvPr/>
        </p:nvSpPr>
        <p:spPr>
          <a:xfrm>
            <a:off x="3246120" y="1828800"/>
            <a:ext cx="1645920" cy="32004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Generalize to population</a:t>
            </a:r>
            <a:endParaRPr lang="en-US" sz="800" dirty="0"/>
          </a:p>
        </p:txBody>
      </p:sp>
      <p:sp>
        <p:nvSpPr>
          <p:cNvPr id="17" name="Shape 14"/>
          <p:cNvSpPr/>
          <p:nvPr/>
        </p:nvSpPr>
        <p:spPr>
          <a:xfrm>
            <a:off x="5029200" y="1005840"/>
            <a:ext cx="3886200" cy="393192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18" name="Shape 15"/>
          <p:cNvSpPr/>
          <p:nvPr/>
        </p:nvSpPr>
        <p:spPr>
          <a:xfrm>
            <a:off x="5029200" y="1005840"/>
            <a:ext cx="64008" cy="3931920"/>
          </a:xfrm>
          <a:prstGeom prst="rect">
            <a:avLst/>
          </a:prstGeom>
          <a:solidFill>
            <a:srgbClr val="1C7293"/>
          </a:solidFill>
          <a:ln w="12700">
            <a:solidFill>
              <a:srgbClr val="333333"/>
            </a:solidFill>
            <a:prstDash val="solid"/>
          </a:ln>
        </p:spPr>
        <p:txBody>
          <a:bodyPr/>
          <a:lstStyle/>
          <a:p>
            <a:endParaRPr lang="de-AT"/>
          </a:p>
        </p:txBody>
      </p:sp>
      <p:sp>
        <p:nvSpPr>
          <p:cNvPr id="19" name="Text 16"/>
          <p:cNvSpPr/>
          <p:nvPr/>
        </p:nvSpPr>
        <p:spPr>
          <a:xfrm>
            <a:off x="5212080" y="1097280"/>
            <a:ext cx="352044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Key Concepts</a:t>
            </a:r>
            <a:endParaRPr lang="en-US" sz="1300" dirty="0"/>
          </a:p>
        </p:txBody>
      </p:sp>
      <p:sp>
        <p:nvSpPr>
          <p:cNvPr id="20" name="Text 17"/>
          <p:cNvSpPr/>
          <p:nvPr/>
        </p:nvSpPr>
        <p:spPr>
          <a:xfrm>
            <a:off x="5212080" y="1508760"/>
            <a:ext cx="3520440" cy="3246120"/>
          </a:xfrm>
          <a:prstGeom prst="rect">
            <a:avLst/>
          </a:prstGeom>
          <a:noFill/>
          <a:ln/>
        </p:spPr>
        <p:txBody>
          <a:bodyPr wrap="square" lIns="0" tIns="0" rIns="0" bIns="0" rtlCol="0" anchor="t"/>
          <a:lstStyle/>
          <a:p>
            <a:pPr marL="0" indent="0">
              <a:buNone/>
            </a:pPr>
            <a:r>
              <a:rPr lang="en-US" sz="1100" b="1" dirty="0">
                <a:solidFill>
                  <a:srgbClr val="1C7293"/>
                </a:solidFill>
                <a:latin typeface="Georgia" pitchFamily="34" charset="0"/>
                <a:ea typeface="Georgia" pitchFamily="34" charset="-122"/>
                <a:cs typeface="Georgia" pitchFamily="34" charset="-120"/>
              </a:rPr>
              <a:t>Population:</a:t>
            </a:r>
            <a:r>
              <a:rPr lang="en-US" sz="1100" dirty="0">
                <a:solidFill>
                  <a:srgbClr val="94A3B8"/>
                </a:solidFill>
                <a:latin typeface="Calibri" pitchFamily="34" charset="0"/>
                <a:ea typeface="Calibri" pitchFamily="34" charset="-122"/>
                <a:cs typeface="Calibri" pitchFamily="34" charset="-120"/>
              </a:rPr>
              <a:t> The aggregate of all elements sharing common characteristics for the research problem.</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1C7293"/>
                </a:solidFill>
                <a:latin typeface="Georgia" pitchFamily="34" charset="0"/>
                <a:ea typeface="Georgia" pitchFamily="34" charset="-122"/>
                <a:cs typeface="Georgia" pitchFamily="34" charset="-120"/>
              </a:rPr>
              <a:t>Census:</a:t>
            </a:r>
            <a:r>
              <a:rPr lang="en-US" sz="1100" dirty="0">
                <a:solidFill>
                  <a:srgbClr val="94A3B8"/>
                </a:solidFill>
                <a:latin typeface="Calibri" pitchFamily="34" charset="0"/>
                <a:ea typeface="Calibri" pitchFamily="34" charset="-122"/>
                <a:cs typeface="Calibri" pitchFamily="34" charset="-120"/>
              </a:rPr>
              <a:t> A complete enumeration of all population elements.</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1C7293"/>
                </a:solidFill>
                <a:latin typeface="Georgia" pitchFamily="34" charset="0"/>
                <a:ea typeface="Georgia" pitchFamily="34" charset="-122"/>
                <a:cs typeface="Georgia" pitchFamily="34" charset="-120"/>
              </a:rPr>
              <a:t>Sample:</a:t>
            </a:r>
            <a:r>
              <a:rPr lang="en-US" sz="1100" dirty="0">
                <a:solidFill>
                  <a:srgbClr val="94A3B8"/>
                </a:solidFill>
                <a:latin typeface="Calibri" pitchFamily="34" charset="0"/>
                <a:ea typeface="Calibri" pitchFamily="34" charset="-122"/>
                <a:cs typeface="Calibri" pitchFamily="34" charset="-120"/>
              </a:rPr>
              <a:t> A subgroup selected for participation in the study.</a:t>
            </a:r>
            <a:r>
              <a:rPr lang="en-US" sz="1100" dirty="0">
                <a:solidFill>
                  <a:srgbClr val="000000"/>
                </a:solidFill>
                <a:latin typeface="Calibri" pitchFamily="34" charset="0"/>
                <a:ea typeface="Calibri" pitchFamily="34" charset="-122"/>
                <a:cs typeface="Calibri" pitchFamily="34" charset="-120"/>
              </a:rPr>
              <a:t>
</a:t>
            </a:r>
            <a:r>
              <a:rPr lang="en-US" sz="1100" i="1" dirty="0">
                <a:solidFill>
                  <a:srgbClr val="64748B"/>
                </a:solidFill>
                <a:latin typeface="Calibri" pitchFamily="34" charset="0"/>
                <a:ea typeface="Calibri" pitchFamily="34" charset="-122"/>
                <a:cs typeface="Calibri" pitchFamily="34" charset="-120"/>
              </a:rPr>
              <a:t>We need inference because we almost never have census data. We must generalize from sample to population.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Purpose of Hypothesis Testing</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8595360" cy="8686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64008" cy="868680"/>
          </a:xfrm>
          <a:prstGeom prst="rect">
            <a:avLst/>
          </a:prstGeom>
          <a:solidFill>
            <a:srgbClr val="1C7293"/>
          </a:solidFill>
          <a:ln w="12700">
            <a:solidFill>
              <a:srgbClr val="333333"/>
            </a:solidFill>
            <a:prstDash val="solid"/>
          </a:ln>
        </p:spPr>
        <p:txBody>
          <a:bodyPr/>
          <a:lstStyle/>
          <a:p>
            <a:endParaRPr lang="de-AT"/>
          </a:p>
        </p:txBody>
      </p:sp>
      <p:sp>
        <p:nvSpPr>
          <p:cNvPr id="10" name="Text 7"/>
          <p:cNvSpPr/>
          <p:nvPr/>
        </p:nvSpPr>
        <p:spPr>
          <a:xfrm>
            <a:off x="502920" y="1115568"/>
            <a:ext cx="8183880" cy="713232"/>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Hypothesis testing makes a judgement about the difference between sample statistics or between a sample statistic and a hypothesized population parameter.</a:t>
            </a:r>
            <a:endParaRPr lang="en-US" sz="1200" dirty="0"/>
          </a:p>
        </p:txBody>
      </p:sp>
      <p:sp>
        <p:nvSpPr>
          <p:cNvPr id="11" name="Shape 8"/>
          <p:cNvSpPr/>
          <p:nvPr/>
        </p:nvSpPr>
        <p:spPr>
          <a:xfrm>
            <a:off x="274320" y="2103120"/>
            <a:ext cx="8595360" cy="658368"/>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2" name="Shape 9"/>
          <p:cNvSpPr/>
          <p:nvPr/>
        </p:nvSpPr>
        <p:spPr>
          <a:xfrm>
            <a:off x="274320" y="2103120"/>
            <a:ext cx="64008" cy="658368"/>
          </a:xfrm>
          <a:prstGeom prst="rect">
            <a:avLst/>
          </a:prstGeom>
          <a:solidFill>
            <a:srgbClr val="065A82"/>
          </a:solidFill>
          <a:ln w="12700">
            <a:solidFill>
              <a:srgbClr val="333333"/>
            </a:solidFill>
            <a:prstDash val="solid"/>
          </a:ln>
        </p:spPr>
        <p:txBody>
          <a:bodyPr/>
          <a:lstStyle/>
          <a:p>
            <a:endParaRPr lang="de-AT"/>
          </a:p>
        </p:txBody>
      </p:sp>
      <p:sp>
        <p:nvSpPr>
          <p:cNvPr id="13" name="Text 10"/>
          <p:cNvSpPr/>
          <p:nvPr/>
        </p:nvSpPr>
        <p:spPr>
          <a:xfrm>
            <a:off x="475488" y="2194560"/>
            <a:ext cx="3474720" cy="475488"/>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Hypothesis of Association</a:t>
            </a:r>
            <a:endParaRPr lang="en-US" sz="1200" dirty="0"/>
          </a:p>
        </p:txBody>
      </p:sp>
      <p:sp>
        <p:nvSpPr>
          <p:cNvPr id="14" name="Text 11"/>
          <p:cNvSpPr/>
          <p:nvPr/>
        </p:nvSpPr>
        <p:spPr>
          <a:xfrm>
            <a:off x="4023360" y="2194560"/>
            <a:ext cx="4663440" cy="475488"/>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Customer satisfaction leads to customer loyalty.</a:t>
            </a:r>
            <a:endParaRPr lang="en-US" sz="1100" dirty="0"/>
          </a:p>
        </p:txBody>
      </p:sp>
      <p:sp>
        <p:nvSpPr>
          <p:cNvPr id="15" name="Shape 12"/>
          <p:cNvSpPr/>
          <p:nvPr/>
        </p:nvSpPr>
        <p:spPr>
          <a:xfrm>
            <a:off x="274320" y="2907792"/>
            <a:ext cx="8595360" cy="658368"/>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6" name="Shape 13"/>
          <p:cNvSpPr/>
          <p:nvPr/>
        </p:nvSpPr>
        <p:spPr>
          <a:xfrm>
            <a:off x="274320" y="2907792"/>
            <a:ext cx="64008" cy="658368"/>
          </a:xfrm>
          <a:prstGeom prst="rect">
            <a:avLst/>
          </a:prstGeom>
          <a:solidFill>
            <a:srgbClr val="065A82"/>
          </a:solidFill>
          <a:ln w="12700">
            <a:solidFill>
              <a:srgbClr val="333333"/>
            </a:solidFill>
            <a:prstDash val="solid"/>
          </a:ln>
        </p:spPr>
        <p:txBody>
          <a:bodyPr/>
          <a:lstStyle/>
          <a:p>
            <a:endParaRPr lang="de-AT"/>
          </a:p>
        </p:txBody>
      </p:sp>
      <p:sp>
        <p:nvSpPr>
          <p:cNvPr id="17" name="Text 14"/>
          <p:cNvSpPr/>
          <p:nvPr/>
        </p:nvSpPr>
        <p:spPr>
          <a:xfrm>
            <a:off x="475488" y="2999232"/>
            <a:ext cx="3474720" cy="475488"/>
          </a:xfrm>
          <a:prstGeom prst="rect">
            <a:avLst/>
          </a:prstGeom>
          <a:noFill/>
          <a:ln/>
        </p:spPr>
        <p:txBody>
          <a:bodyPr wrap="square" lIns="0" tIns="0" rIns="0" bIns="0" rtlCol="0" anchor="ctr"/>
          <a:lstStyle/>
          <a:p>
            <a:pPr marL="0" indent="0">
              <a:buNone/>
            </a:pPr>
            <a:r>
              <a:rPr lang="en-US" sz="1200" b="1" dirty="0">
                <a:solidFill>
                  <a:srgbClr val="E9C46A"/>
                </a:solidFill>
                <a:latin typeface="Georgia" pitchFamily="34" charset="0"/>
                <a:ea typeface="Georgia" pitchFamily="34" charset="-122"/>
                <a:cs typeface="Georgia" pitchFamily="34" charset="-120"/>
              </a:rPr>
              <a:t>Hypothesis of Difference</a:t>
            </a:r>
            <a:endParaRPr lang="en-US" sz="1200" dirty="0"/>
          </a:p>
        </p:txBody>
      </p:sp>
      <p:sp>
        <p:nvSpPr>
          <p:cNvPr id="18" name="Text 15"/>
          <p:cNvSpPr/>
          <p:nvPr/>
        </p:nvSpPr>
        <p:spPr>
          <a:xfrm>
            <a:off x="4023360" y="2999232"/>
            <a:ext cx="4663440" cy="475488"/>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Female and male customers differ in terms of their customer satisfaction.</a:t>
            </a:r>
            <a:endParaRPr lang="en-US" sz="1100" dirty="0"/>
          </a:p>
        </p:txBody>
      </p:sp>
      <p:sp>
        <p:nvSpPr>
          <p:cNvPr id="19" name="Shape 16"/>
          <p:cNvSpPr/>
          <p:nvPr/>
        </p:nvSpPr>
        <p:spPr>
          <a:xfrm>
            <a:off x="274320" y="3822192"/>
            <a:ext cx="8595360" cy="114300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20" name="Shape 17"/>
          <p:cNvSpPr/>
          <p:nvPr/>
        </p:nvSpPr>
        <p:spPr>
          <a:xfrm>
            <a:off x="274320" y="3822192"/>
            <a:ext cx="64008" cy="1143000"/>
          </a:xfrm>
          <a:prstGeom prst="rect">
            <a:avLst/>
          </a:prstGeom>
          <a:solidFill>
            <a:srgbClr val="065A82"/>
          </a:solidFill>
          <a:ln w="12700">
            <a:solidFill>
              <a:srgbClr val="333333"/>
            </a:solidFill>
            <a:prstDash val="solid"/>
          </a:ln>
        </p:spPr>
        <p:txBody>
          <a:bodyPr/>
          <a:lstStyle/>
          <a:p>
            <a:endParaRPr lang="de-AT"/>
          </a:p>
        </p:txBody>
      </p:sp>
      <p:sp>
        <p:nvSpPr>
          <p:cNvPr id="21" name="Text 18"/>
          <p:cNvSpPr/>
          <p:nvPr/>
        </p:nvSpPr>
        <p:spPr>
          <a:xfrm>
            <a:off x="475488" y="3913632"/>
            <a:ext cx="8229600" cy="292608"/>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What is a Hypothesis?</a:t>
            </a:r>
            <a:endParaRPr lang="en-US" sz="1200" dirty="0"/>
          </a:p>
        </p:txBody>
      </p:sp>
      <p:sp>
        <p:nvSpPr>
          <p:cNvPr id="22" name="Text 19"/>
          <p:cNvSpPr/>
          <p:nvPr/>
        </p:nvSpPr>
        <p:spPr>
          <a:xfrm>
            <a:off x="475488" y="4224528"/>
            <a:ext cx="8229600" cy="621792"/>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A testable statement about the relationship between two or more variables or a proposed explanation for an observed phenomenon.</a:t>
            </a:r>
            <a:r>
              <a:rPr lang="en-US" sz="1100" dirty="0">
                <a:solidFill>
                  <a:srgbClr val="000000"/>
                </a:solidFill>
              </a:rPr>
              <a:t>
</a:t>
            </a:r>
            <a:r>
              <a:rPr lang="en-US" sz="1050" i="1" dirty="0">
                <a:solidFill>
                  <a:srgbClr val="334155"/>
                </a:solidFill>
                <a:latin typeface="Calibri" pitchFamily="34" charset="0"/>
                <a:ea typeface="Calibri" pitchFamily="34" charset="-122"/>
                <a:cs typeface="Calibri" pitchFamily="34" charset="-120"/>
              </a:rPr>
              <a:t>Typically formulated as "if...then" or "the higher X, the higher Y" statements.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Process of Hypothesis Testing</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Shape 4"/>
          <p:cNvSpPr/>
          <p:nvPr/>
        </p:nvSpPr>
        <p:spPr>
          <a:xfrm>
            <a:off x="1463040" y="987552"/>
            <a:ext cx="6217920" cy="411480"/>
          </a:xfrm>
          <a:prstGeom prst="rect">
            <a:avLst/>
          </a:prstGeom>
          <a:solidFill>
            <a:srgbClr val="2A9D8F"/>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8" name="Shape 5"/>
          <p:cNvSpPr/>
          <p:nvPr/>
        </p:nvSpPr>
        <p:spPr>
          <a:xfrm>
            <a:off x="1554480" y="1042416"/>
            <a:ext cx="301752" cy="301752"/>
          </a:xfrm>
          <a:prstGeom prst="ellipse">
            <a:avLst/>
          </a:prstGeom>
          <a:solidFill>
            <a:srgbClr val="0C1B33"/>
          </a:solidFill>
          <a:ln w="12700">
            <a:solidFill>
              <a:srgbClr val="333333"/>
            </a:solidFill>
            <a:prstDash val="solid"/>
          </a:ln>
        </p:spPr>
        <p:txBody>
          <a:bodyPr/>
          <a:lstStyle/>
          <a:p>
            <a:endParaRPr lang="de-AT"/>
          </a:p>
        </p:txBody>
      </p:sp>
      <p:sp>
        <p:nvSpPr>
          <p:cNvPr id="9" name="Text 6"/>
          <p:cNvSpPr/>
          <p:nvPr/>
        </p:nvSpPr>
        <p:spPr>
          <a:xfrm>
            <a:off x="1554480" y="1042416"/>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1</a:t>
            </a:r>
            <a:endParaRPr lang="en-US" sz="1000" dirty="0"/>
          </a:p>
        </p:txBody>
      </p:sp>
      <p:sp>
        <p:nvSpPr>
          <p:cNvPr id="10" name="Text 7"/>
          <p:cNvSpPr/>
          <p:nvPr/>
        </p:nvSpPr>
        <p:spPr>
          <a:xfrm>
            <a:off x="1965960" y="987552"/>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Formulate H0 and Ha</a:t>
            </a:r>
            <a:endParaRPr lang="en-US" sz="1200" dirty="0"/>
          </a:p>
        </p:txBody>
      </p:sp>
      <p:sp>
        <p:nvSpPr>
          <p:cNvPr id="11" name="Text 8"/>
          <p:cNvSpPr/>
          <p:nvPr/>
        </p:nvSpPr>
        <p:spPr>
          <a:xfrm>
            <a:off x="4389120" y="1399032"/>
            <a:ext cx="365760" cy="91440"/>
          </a:xfrm>
          <a:prstGeom prst="rect">
            <a:avLst/>
          </a:prstGeom>
          <a:noFill/>
          <a:ln/>
        </p:spPr>
        <p:txBody>
          <a:bodyPr wrap="square" lIns="0" tIns="0" rIns="0" bIns="0" rtlCol="0" anchor="ctr"/>
          <a:lstStyle/>
          <a:p>
            <a:pPr marL="0" indent="0" algn="ctr">
              <a:buNone/>
            </a:pPr>
            <a:r>
              <a:rPr lang="en-US" sz="700" dirty="0">
                <a:solidFill>
                  <a:srgbClr val="1C7293"/>
                </a:solidFill>
                <a:latin typeface="Calibri" pitchFamily="34" charset="0"/>
                <a:ea typeface="Calibri" pitchFamily="34" charset="-122"/>
                <a:cs typeface="Calibri" pitchFamily="34" charset="-120"/>
              </a:rPr>
              <a:t>▼</a:t>
            </a:r>
            <a:endParaRPr lang="en-US" sz="700" dirty="0"/>
          </a:p>
        </p:txBody>
      </p:sp>
      <p:sp>
        <p:nvSpPr>
          <p:cNvPr id="12" name="Shape 9"/>
          <p:cNvSpPr/>
          <p:nvPr/>
        </p:nvSpPr>
        <p:spPr>
          <a:xfrm>
            <a:off x="1463040" y="1453896"/>
            <a:ext cx="6217920" cy="411480"/>
          </a:xfrm>
          <a:prstGeom prst="rect">
            <a:avLst/>
          </a:prstGeom>
          <a:solidFill>
            <a:srgbClr val="2A9D8F"/>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13" name="Shape 10"/>
          <p:cNvSpPr/>
          <p:nvPr/>
        </p:nvSpPr>
        <p:spPr>
          <a:xfrm>
            <a:off x="1554480" y="1508760"/>
            <a:ext cx="301752" cy="301752"/>
          </a:xfrm>
          <a:prstGeom prst="ellipse">
            <a:avLst/>
          </a:prstGeom>
          <a:solidFill>
            <a:srgbClr val="0C1B33"/>
          </a:solidFill>
          <a:ln w="12700">
            <a:solidFill>
              <a:srgbClr val="333333"/>
            </a:solidFill>
            <a:prstDash val="solid"/>
          </a:ln>
        </p:spPr>
        <p:txBody>
          <a:bodyPr/>
          <a:lstStyle/>
          <a:p>
            <a:endParaRPr lang="de-AT"/>
          </a:p>
        </p:txBody>
      </p:sp>
      <p:sp>
        <p:nvSpPr>
          <p:cNvPr id="14" name="Text 11"/>
          <p:cNvSpPr/>
          <p:nvPr/>
        </p:nvSpPr>
        <p:spPr>
          <a:xfrm>
            <a:off x="1554480" y="1508760"/>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2</a:t>
            </a:r>
            <a:endParaRPr lang="en-US" sz="1000" dirty="0"/>
          </a:p>
        </p:txBody>
      </p:sp>
      <p:sp>
        <p:nvSpPr>
          <p:cNvPr id="15" name="Text 12"/>
          <p:cNvSpPr/>
          <p:nvPr/>
        </p:nvSpPr>
        <p:spPr>
          <a:xfrm>
            <a:off x="1965960" y="1453896"/>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Select appropriate test</a:t>
            </a:r>
            <a:endParaRPr lang="en-US" sz="1200" dirty="0"/>
          </a:p>
        </p:txBody>
      </p:sp>
      <p:sp>
        <p:nvSpPr>
          <p:cNvPr id="16" name="Text 13"/>
          <p:cNvSpPr/>
          <p:nvPr/>
        </p:nvSpPr>
        <p:spPr>
          <a:xfrm>
            <a:off x="4389120" y="1865376"/>
            <a:ext cx="365760" cy="91440"/>
          </a:xfrm>
          <a:prstGeom prst="rect">
            <a:avLst/>
          </a:prstGeom>
          <a:noFill/>
          <a:ln/>
        </p:spPr>
        <p:txBody>
          <a:bodyPr wrap="square" lIns="0" tIns="0" rIns="0" bIns="0" rtlCol="0" anchor="ctr"/>
          <a:lstStyle/>
          <a:p>
            <a:pPr marL="0" indent="0" algn="ctr">
              <a:buNone/>
            </a:pPr>
            <a:r>
              <a:rPr lang="en-US" sz="700" dirty="0">
                <a:solidFill>
                  <a:srgbClr val="1C7293"/>
                </a:solidFill>
                <a:latin typeface="Calibri" pitchFamily="34" charset="0"/>
                <a:ea typeface="Calibri" pitchFamily="34" charset="-122"/>
                <a:cs typeface="Calibri" pitchFamily="34" charset="-120"/>
              </a:rPr>
              <a:t>▼</a:t>
            </a:r>
            <a:endParaRPr lang="en-US" sz="700" dirty="0"/>
          </a:p>
        </p:txBody>
      </p:sp>
      <p:sp>
        <p:nvSpPr>
          <p:cNvPr id="17" name="Shape 14"/>
          <p:cNvSpPr/>
          <p:nvPr/>
        </p:nvSpPr>
        <p:spPr>
          <a:xfrm>
            <a:off x="1463040" y="1920240"/>
            <a:ext cx="6217920" cy="411480"/>
          </a:xfrm>
          <a:prstGeom prst="rect">
            <a:avLst/>
          </a:prstGeom>
          <a:solidFill>
            <a:srgbClr val="1C7293"/>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18" name="Shape 15"/>
          <p:cNvSpPr/>
          <p:nvPr/>
        </p:nvSpPr>
        <p:spPr>
          <a:xfrm>
            <a:off x="1554480" y="1975104"/>
            <a:ext cx="301752" cy="301752"/>
          </a:xfrm>
          <a:prstGeom prst="ellipse">
            <a:avLst/>
          </a:prstGeom>
          <a:solidFill>
            <a:srgbClr val="0C1B33"/>
          </a:solidFill>
          <a:ln w="12700">
            <a:solidFill>
              <a:srgbClr val="333333"/>
            </a:solidFill>
            <a:prstDash val="solid"/>
          </a:ln>
        </p:spPr>
        <p:txBody>
          <a:bodyPr/>
          <a:lstStyle/>
          <a:p>
            <a:endParaRPr lang="de-AT"/>
          </a:p>
        </p:txBody>
      </p:sp>
      <p:sp>
        <p:nvSpPr>
          <p:cNvPr id="19" name="Text 16"/>
          <p:cNvSpPr/>
          <p:nvPr/>
        </p:nvSpPr>
        <p:spPr>
          <a:xfrm>
            <a:off x="1554480" y="1975104"/>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3</a:t>
            </a:r>
            <a:endParaRPr lang="en-US" sz="1000" dirty="0"/>
          </a:p>
        </p:txBody>
      </p:sp>
      <p:sp>
        <p:nvSpPr>
          <p:cNvPr id="20" name="Text 17"/>
          <p:cNvSpPr/>
          <p:nvPr/>
        </p:nvSpPr>
        <p:spPr>
          <a:xfrm>
            <a:off x="1965960" y="1920240"/>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Choose significance level (alpha)</a:t>
            </a:r>
            <a:endParaRPr lang="en-US" sz="1200" dirty="0"/>
          </a:p>
        </p:txBody>
      </p:sp>
      <p:sp>
        <p:nvSpPr>
          <p:cNvPr id="21" name="Text 18"/>
          <p:cNvSpPr/>
          <p:nvPr/>
        </p:nvSpPr>
        <p:spPr>
          <a:xfrm>
            <a:off x="4389120" y="2331720"/>
            <a:ext cx="365760" cy="91440"/>
          </a:xfrm>
          <a:prstGeom prst="rect">
            <a:avLst/>
          </a:prstGeom>
          <a:noFill/>
          <a:ln/>
        </p:spPr>
        <p:txBody>
          <a:bodyPr wrap="square" lIns="0" tIns="0" rIns="0" bIns="0" rtlCol="0" anchor="ctr"/>
          <a:lstStyle/>
          <a:p>
            <a:pPr marL="0" indent="0" algn="ctr">
              <a:buNone/>
            </a:pPr>
            <a:r>
              <a:rPr lang="en-US" sz="700" dirty="0">
                <a:solidFill>
                  <a:srgbClr val="1C7293"/>
                </a:solidFill>
                <a:latin typeface="Calibri" pitchFamily="34" charset="0"/>
                <a:ea typeface="Calibri" pitchFamily="34" charset="-122"/>
                <a:cs typeface="Calibri" pitchFamily="34" charset="-120"/>
              </a:rPr>
              <a:t>▼</a:t>
            </a:r>
            <a:endParaRPr lang="en-US" sz="700" dirty="0"/>
          </a:p>
        </p:txBody>
      </p:sp>
      <p:sp>
        <p:nvSpPr>
          <p:cNvPr id="22" name="Shape 19"/>
          <p:cNvSpPr/>
          <p:nvPr/>
        </p:nvSpPr>
        <p:spPr>
          <a:xfrm>
            <a:off x="1463040" y="2386584"/>
            <a:ext cx="6217920" cy="411480"/>
          </a:xfrm>
          <a:prstGeom prst="rect">
            <a:avLst/>
          </a:prstGeom>
          <a:solidFill>
            <a:srgbClr val="1C7293"/>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23" name="Shape 20"/>
          <p:cNvSpPr/>
          <p:nvPr/>
        </p:nvSpPr>
        <p:spPr>
          <a:xfrm>
            <a:off x="1554480" y="2441448"/>
            <a:ext cx="301752" cy="301752"/>
          </a:xfrm>
          <a:prstGeom prst="ellipse">
            <a:avLst/>
          </a:prstGeom>
          <a:solidFill>
            <a:srgbClr val="0C1B33"/>
          </a:solidFill>
          <a:ln w="12700">
            <a:solidFill>
              <a:srgbClr val="333333"/>
            </a:solidFill>
            <a:prstDash val="solid"/>
          </a:ln>
        </p:spPr>
        <p:txBody>
          <a:bodyPr/>
          <a:lstStyle/>
          <a:p>
            <a:endParaRPr lang="de-AT"/>
          </a:p>
        </p:txBody>
      </p:sp>
      <p:sp>
        <p:nvSpPr>
          <p:cNvPr id="24" name="Text 21"/>
          <p:cNvSpPr/>
          <p:nvPr/>
        </p:nvSpPr>
        <p:spPr>
          <a:xfrm>
            <a:off x="1554480" y="2441448"/>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4</a:t>
            </a:r>
            <a:endParaRPr lang="en-US" sz="1000" dirty="0"/>
          </a:p>
        </p:txBody>
      </p:sp>
      <p:sp>
        <p:nvSpPr>
          <p:cNvPr id="25" name="Text 22"/>
          <p:cNvSpPr/>
          <p:nvPr/>
        </p:nvSpPr>
        <p:spPr>
          <a:xfrm>
            <a:off x="1965960" y="2386584"/>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Collect data and calculate test statistic</a:t>
            </a:r>
            <a:endParaRPr lang="en-US" sz="1200" dirty="0"/>
          </a:p>
        </p:txBody>
      </p:sp>
      <p:sp>
        <p:nvSpPr>
          <p:cNvPr id="26" name="Text 23"/>
          <p:cNvSpPr/>
          <p:nvPr/>
        </p:nvSpPr>
        <p:spPr>
          <a:xfrm>
            <a:off x="4389120" y="2798064"/>
            <a:ext cx="365760" cy="91440"/>
          </a:xfrm>
          <a:prstGeom prst="rect">
            <a:avLst/>
          </a:prstGeom>
          <a:noFill/>
          <a:ln/>
        </p:spPr>
        <p:txBody>
          <a:bodyPr wrap="square" lIns="0" tIns="0" rIns="0" bIns="0" rtlCol="0" anchor="ctr"/>
          <a:lstStyle/>
          <a:p>
            <a:pPr marL="0" indent="0" algn="ctr">
              <a:buNone/>
            </a:pPr>
            <a:r>
              <a:rPr lang="en-US" sz="700" dirty="0">
                <a:solidFill>
                  <a:srgbClr val="1C7293"/>
                </a:solidFill>
                <a:latin typeface="Calibri" pitchFamily="34" charset="0"/>
                <a:ea typeface="Calibri" pitchFamily="34" charset="-122"/>
                <a:cs typeface="Calibri" pitchFamily="34" charset="-120"/>
              </a:rPr>
              <a:t>▼</a:t>
            </a:r>
            <a:endParaRPr lang="en-US" sz="700" dirty="0"/>
          </a:p>
        </p:txBody>
      </p:sp>
      <p:sp>
        <p:nvSpPr>
          <p:cNvPr id="27" name="Shape 24"/>
          <p:cNvSpPr/>
          <p:nvPr/>
        </p:nvSpPr>
        <p:spPr>
          <a:xfrm>
            <a:off x="1463040" y="2852928"/>
            <a:ext cx="6217920" cy="411480"/>
          </a:xfrm>
          <a:prstGeom prst="rect">
            <a:avLst/>
          </a:prstGeom>
          <a:solidFill>
            <a:srgbClr val="065A82"/>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28" name="Shape 25"/>
          <p:cNvSpPr/>
          <p:nvPr/>
        </p:nvSpPr>
        <p:spPr>
          <a:xfrm>
            <a:off x="1554480" y="2907792"/>
            <a:ext cx="301752" cy="301752"/>
          </a:xfrm>
          <a:prstGeom prst="ellipse">
            <a:avLst/>
          </a:prstGeom>
          <a:solidFill>
            <a:srgbClr val="0C1B33"/>
          </a:solidFill>
          <a:ln w="12700">
            <a:solidFill>
              <a:srgbClr val="333333"/>
            </a:solidFill>
            <a:prstDash val="solid"/>
          </a:ln>
        </p:spPr>
        <p:txBody>
          <a:bodyPr/>
          <a:lstStyle/>
          <a:p>
            <a:endParaRPr lang="de-AT"/>
          </a:p>
        </p:txBody>
      </p:sp>
      <p:sp>
        <p:nvSpPr>
          <p:cNvPr id="29" name="Text 26"/>
          <p:cNvSpPr/>
          <p:nvPr/>
        </p:nvSpPr>
        <p:spPr>
          <a:xfrm>
            <a:off x="1554480" y="2907792"/>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5</a:t>
            </a:r>
            <a:endParaRPr lang="en-US" sz="1000" dirty="0"/>
          </a:p>
        </p:txBody>
      </p:sp>
      <p:sp>
        <p:nvSpPr>
          <p:cNvPr id="30" name="Text 27"/>
          <p:cNvSpPr/>
          <p:nvPr/>
        </p:nvSpPr>
        <p:spPr>
          <a:xfrm>
            <a:off x="1965960" y="2852928"/>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Determine probability (p-value)</a:t>
            </a:r>
            <a:endParaRPr lang="en-US" sz="1200" dirty="0"/>
          </a:p>
        </p:txBody>
      </p:sp>
      <p:sp>
        <p:nvSpPr>
          <p:cNvPr id="31" name="Text 28"/>
          <p:cNvSpPr/>
          <p:nvPr/>
        </p:nvSpPr>
        <p:spPr>
          <a:xfrm>
            <a:off x="4389120" y="3264408"/>
            <a:ext cx="365760" cy="91440"/>
          </a:xfrm>
          <a:prstGeom prst="rect">
            <a:avLst/>
          </a:prstGeom>
          <a:noFill/>
          <a:ln/>
        </p:spPr>
        <p:txBody>
          <a:bodyPr wrap="square" lIns="0" tIns="0" rIns="0" bIns="0" rtlCol="0" anchor="ctr"/>
          <a:lstStyle/>
          <a:p>
            <a:pPr marL="0" indent="0" algn="ctr">
              <a:buNone/>
            </a:pPr>
            <a:r>
              <a:rPr lang="en-US" sz="700" dirty="0">
                <a:solidFill>
                  <a:srgbClr val="1C7293"/>
                </a:solidFill>
                <a:latin typeface="Calibri" pitchFamily="34" charset="0"/>
                <a:ea typeface="Calibri" pitchFamily="34" charset="-122"/>
                <a:cs typeface="Calibri" pitchFamily="34" charset="-120"/>
              </a:rPr>
              <a:t>▼</a:t>
            </a:r>
            <a:endParaRPr lang="en-US" sz="700" dirty="0"/>
          </a:p>
        </p:txBody>
      </p:sp>
      <p:sp>
        <p:nvSpPr>
          <p:cNvPr id="32" name="Shape 29"/>
          <p:cNvSpPr/>
          <p:nvPr/>
        </p:nvSpPr>
        <p:spPr>
          <a:xfrm>
            <a:off x="1463040" y="3319272"/>
            <a:ext cx="6217920" cy="411480"/>
          </a:xfrm>
          <a:prstGeom prst="rect">
            <a:avLst/>
          </a:prstGeom>
          <a:solidFill>
            <a:srgbClr val="065A82"/>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33" name="Shape 30"/>
          <p:cNvSpPr/>
          <p:nvPr/>
        </p:nvSpPr>
        <p:spPr>
          <a:xfrm>
            <a:off x="1554480" y="3374136"/>
            <a:ext cx="301752" cy="301752"/>
          </a:xfrm>
          <a:prstGeom prst="ellipse">
            <a:avLst/>
          </a:prstGeom>
          <a:solidFill>
            <a:srgbClr val="0C1B33"/>
          </a:solidFill>
          <a:ln w="12700">
            <a:solidFill>
              <a:srgbClr val="333333"/>
            </a:solidFill>
            <a:prstDash val="solid"/>
          </a:ln>
        </p:spPr>
        <p:txBody>
          <a:bodyPr/>
          <a:lstStyle/>
          <a:p>
            <a:endParaRPr lang="de-AT"/>
          </a:p>
        </p:txBody>
      </p:sp>
      <p:sp>
        <p:nvSpPr>
          <p:cNvPr id="34" name="Text 31"/>
          <p:cNvSpPr/>
          <p:nvPr/>
        </p:nvSpPr>
        <p:spPr>
          <a:xfrm>
            <a:off x="1554480" y="3374136"/>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6</a:t>
            </a:r>
            <a:endParaRPr lang="en-US" sz="1000" dirty="0"/>
          </a:p>
        </p:txBody>
      </p:sp>
      <p:sp>
        <p:nvSpPr>
          <p:cNvPr id="35" name="Text 32"/>
          <p:cNvSpPr/>
          <p:nvPr/>
        </p:nvSpPr>
        <p:spPr>
          <a:xfrm>
            <a:off x="1965960" y="3319272"/>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Compare p-value to alpha</a:t>
            </a:r>
            <a:endParaRPr lang="en-US" sz="1200" dirty="0"/>
          </a:p>
        </p:txBody>
      </p:sp>
      <p:sp>
        <p:nvSpPr>
          <p:cNvPr id="36" name="Text 33"/>
          <p:cNvSpPr/>
          <p:nvPr/>
        </p:nvSpPr>
        <p:spPr>
          <a:xfrm>
            <a:off x="4389120" y="3730752"/>
            <a:ext cx="365760" cy="91440"/>
          </a:xfrm>
          <a:prstGeom prst="rect">
            <a:avLst/>
          </a:prstGeom>
          <a:noFill/>
          <a:ln/>
        </p:spPr>
        <p:txBody>
          <a:bodyPr wrap="square" lIns="0" tIns="0" rIns="0" bIns="0" rtlCol="0" anchor="ctr"/>
          <a:lstStyle/>
          <a:p>
            <a:pPr marL="0" indent="0" algn="ctr">
              <a:buNone/>
            </a:pPr>
            <a:r>
              <a:rPr lang="en-US" sz="700" dirty="0">
                <a:solidFill>
                  <a:srgbClr val="1C7293"/>
                </a:solidFill>
                <a:latin typeface="Calibri" pitchFamily="34" charset="0"/>
                <a:ea typeface="Calibri" pitchFamily="34" charset="-122"/>
                <a:cs typeface="Calibri" pitchFamily="34" charset="-120"/>
              </a:rPr>
              <a:t>▼</a:t>
            </a:r>
            <a:endParaRPr lang="en-US" sz="700" dirty="0"/>
          </a:p>
        </p:txBody>
      </p:sp>
      <p:sp>
        <p:nvSpPr>
          <p:cNvPr id="37" name="Shape 34"/>
          <p:cNvSpPr/>
          <p:nvPr/>
        </p:nvSpPr>
        <p:spPr>
          <a:xfrm>
            <a:off x="1463040" y="3785616"/>
            <a:ext cx="6217920" cy="411480"/>
          </a:xfrm>
          <a:prstGeom prst="rect">
            <a:avLst/>
          </a:prstGeom>
          <a:solidFill>
            <a:srgbClr val="1A3A5C"/>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38" name="Shape 35"/>
          <p:cNvSpPr/>
          <p:nvPr/>
        </p:nvSpPr>
        <p:spPr>
          <a:xfrm>
            <a:off x="1554480" y="3840480"/>
            <a:ext cx="301752" cy="301752"/>
          </a:xfrm>
          <a:prstGeom prst="ellipse">
            <a:avLst/>
          </a:prstGeom>
          <a:solidFill>
            <a:srgbClr val="0C1B33"/>
          </a:solidFill>
          <a:ln w="12700">
            <a:solidFill>
              <a:srgbClr val="333333"/>
            </a:solidFill>
            <a:prstDash val="solid"/>
          </a:ln>
        </p:spPr>
        <p:txBody>
          <a:bodyPr/>
          <a:lstStyle/>
          <a:p>
            <a:endParaRPr lang="de-AT"/>
          </a:p>
        </p:txBody>
      </p:sp>
      <p:sp>
        <p:nvSpPr>
          <p:cNvPr id="39" name="Text 36"/>
          <p:cNvSpPr/>
          <p:nvPr/>
        </p:nvSpPr>
        <p:spPr>
          <a:xfrm>
            <a:off x="1554480" y="3840480"/>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7</a:t>
            </a:r>
            <a:endParaRPr lang="en-US" sz="1000" dirty="0"/>
          </a:p>
        </p:txBody>
      </p:sp>
      <p:sp>
        <p:nvSpPr>
          <p:cNvPr id="40" name="Text 37"/>
          <p:cNvSpPr/>
          <p:nvPr/>
        </p:nvSpPr>
        <p:spPr>
          <a:xfrm>
            <a:off x="1965960" y="3785616"/>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Make statistical decision</a:t>
            </a:r>
            <a:endParaRPr lang="en-US" sz="1200" dirty="0"/>
          </a:p>
        </p:txBody>
      </p:sp>
      <p:sp>
        <p:nvSpPr>
          <p:cNvPr id="41" name="Text 38"/>
          <p:cNvSpPr/>
          <p:nvPr/>
        </p:nvSpPr>
        <p:spPr>
          <a:xfrm>
            <a:off x="4389120" y="4197096"/>
            <a:ext cx="365760" cy="91440"/>
          </a:xfrm>
          <a:prstGeom prst="rect">
            <a:avLst/>
          </a:prstGeom>
          <a:noFill/>
          <a:ln/>
        </p:spPr>
        <p:txBody>
          <a:bodyPr wrap="square" lIns="0" tIns="0" rIns="0" bIns="0" rtlCol="0" anchor="ctr"/>
          <a:lstStyle/>
          <a:p>
            <a:pPr marL="0" indent="0" algn="ctr">
              <a:buNone/>
            </a:pPr>
            <a:r>
              <a:rPr lang="en-US" sz="700" dirty="0">
                <a:solidFill>
                  <a:srgbClr val="1C7293"/>
                </a:solidFill>
                <a:latin typeface="Calibri" pitchFamily="34" charset="0"/>
                <a:ea typeface="Calibri" pitchFamily="34" charset="-122"/>
                <a:cs typeface="Calibri" pitchFamily="34" charset="-120"/>
              </a:rPr>
              <a:t>▼</a:t>
            </a:r>
            <a:endParaRPr lang="en-US" sz="700" dirty="0"/>
          </a:p>
        </p:txBody>
      </p:sp>
      <p:sp>
        <p:nvSpPr>
          <p:cNvPr id="42" name="Shape 39"/>
          <p:cNvSpPr/>
          <p:nvPr/>
        </p:nvSpPr>
        <p:spPr>
          <a:xfrm>
            <a:off x="1463040" y="4251960"/>
            <a:ext cx="6217920" cy="411480"/>
          </a:xfrm>
          <a:prstGeom prst="rect">
            <a:avLst/>
          </a:prstGeom>
          <a:solidFill>
            <a:srgbClr val="1A3A5C"/>
          </a:solidFill>
          <a:ln w="12700">
            <a:solidFill>
              <a:srgbClr val="333333"/>
            </a:solidFill>
            <a:prstDash val="solid"/>
          </a:ln>
          <a:effectLst>
            <a:outerShdw blurRad="76200" dist="25400" dir="8100000" algn="bl" rotWithShape="0">
              <a:srgbClr val="000000">
                <a:alpha val="12000"/>
              </a:srgbClr>
            </a:outerShdw>
          </a:effectLst>
        </p:spPr>
        <p:txBody>
          <a:bodyPr/>
          <a:lstStyle/>
          <a:p>
            <a:endParaRPr lang="de-AT"/>
          </a:p>
        </p:txBody>
      </p:sp>
      <p:sp>
        <p:nvSpPr>
          <p:cNvPr id="43" name="Shape 40"/>
          <p:cNvSpPr/>
          <p:nvPr/>
        </p:nvSpPr>
        <p:spPr>
          <a:xfrm>
            <a:off x="1554480" y="4306824"/>
            <a:ext cx="301752" cy="301752"/>
          </a:xfrm>
          <a:prstGeom prst="ellipse">
            <a:avLst/>
          </a:prstGeom>
          <a:solidFill>
            <a:srgbClr val="0C1B33"/>
          </a:solidFill>
          <a:ln w="12700">
            <a:solidFill>
              <a:srgbClr val="333333"/>
            </a:solidFill>
            <a:prstDash val="solid"/>
          </a:ln>
        </p:spPr>
        <p:txBody>
          <a:bodyPr/>
          <a:lstStyle/>
          <a:p>
            <a:endParaRPr lang="de-AT"/>
          </a:p>
        </p:txBody>
      </p:sp>
      <p:sp>
        <p:nvSpPr>
          <p:cNvPr id="44" name="Text 41"/>
          <p:cNvSpPr/>
          <p:nvPr/>
        </p:nvSpPr>
        <p:spPr>
          <a:xfrm>
            <a:off x="1554480" y="4306824"/>
            <a:ext cx="301752" cy="301752"/>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8</a:t>
            </a:r>
            <a:endParaRPr lang="en-US" sz="1000" dirty="0"/>
          </a:p>
        </p:txBody>
      </p:sp>
      <p:sp>
        <p:nvSpPr>
          <p:cNvPr id="45" name="Text 42"/>
          <p:cNvSpPr/>
          <p:nvPr/>
        </p:nvSpPr>
        <p:spPr>
          <a:xfrm>
            <a:off x="1965960" y="4251960"/>
            <a:ext cx="55778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Draw conclusion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Step 1: Formulating Hypotheses</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4251960" cy="310896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4251960" cy="457200"/>
          </a:xfrm>
          <a:prstGeom prst="rect">
            <a:avLst/>
          </a:prstGeom>
          <a:solidFill>
            <a:srgbClr val="1A3A5C"/>
          </a:solidFill>
          <a:ln w="12700">
            <a:solidFill>
              <a:srgbClr val="333333"/>
            </a:solidFill>
            <a:prstDash val="solid"/>
          </a:ln>
        </p:spPr>
        <p:txBody>
          <a:bodyPr/>
          <a:lstStyle/>
          <a:p>
            <a:endParaRPr lang="de-AT"/>
          </a:p>
        </p:txBody>
      </p:sp>
      <p:sp>
        <p:nvSpPr>
          <p:cNvPr id="10" name="Text 7"/>
          <p:cNvSpPr/>
          <p:nvPr/>
        </p:nvSpPr>
        <p:spPr>
          <a:xfrm>
            <a:off x="411480" y="1078992"/>
            <a:ext cx="397764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Null Hypothesis (H0)</a:t>
            </a:r>
            <a:endParaRPr lang="en-US" sz="1300" dirty="0"/>
          </a:p>
        </p:txBody>
      </p:sp>
      <p:sp>
        <p:nvSpPr>
          <p:cNvPr id="11" name="Shape 8"/>
          <p:cNvSpPr/>
          <p:nvPr/>
        </p:nvSpPr>
        <p:spPr>
          <a:xfrm>
            <a:off x="384048" y="1664208"/>
            <a:ext cx="54864" cy="274320"/>
          </a:xfrm>
          <a:prstGeom prst="rect">
            <a:avLst/>
          </a:prstGeom>
          <a:solidFill>
            <a:srgbClr val="E9C46A"/>
          </a:solidFill>
          <a:ln w="12700">
            <a:solidFill>
              <a:srgbClr val="333333"/>
            </a:solidFill>
            <a:prstDash val="solid"/>
          </a:ln>
        </p:spPr>
        <p:txBody>
          <a:bodyPr/>
          <a:lstStyle/>
          <a:p>
            <a:endParaRPr lang="de-AT"/>
          </a:p>
        </p:txBody>
      </p:sp>
      <p:sp>
        <p:nvSpPr>
          <p:cNvPr id="12" name="Text 9"/>
          <p:cNvSpPr/>
          <p:nvPr/>
        </p:nvSpPr>
        <p:spPr>
          <a:xfrm>
            <a:off x="530352" y="166420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Statement of the status quo</a:t>
            </a:r>
            <a:endParaRPr lang="en-US" sz="1100" dirty="0"/>
          </a:p>
        </p:txBody>
      </p:sp>
      <p:sp>
        <p:nvSpPr>
          <p:cNvPr id="13" name="Shape 10"/>
          <p:cNvSpPr/>
          <p:nvPr/>
        </p:nvSpPr>
        <p:spPr>
          <a:xfrm>
            <a:off x="384048" y="2212848"/>
            <a:ext cx="54864" cy="274320"/>
          </a:xfrm>
          <a:prstGeom prst="rect">
            <a:avLst/>
          </a:prstGeom>
          <a:solidFill>
            <a:srgbClr val="E9C46A"/>
          </a:solidFill>
          <a:ln w="12700">
            <a:solidFill>
              <a:srgbClr val="333333"/>
            </a:solidFill>
            <a:prstDash val="solid"/>
          </a:ln>
        </p:spPr>
        <p:txBody>
          <a:bodyPr/>
          <a:lstStyle/>
          <a:p>
            <a:endParaRPr lang="de-AT"/>
          </a:p>
        </p:txBody>
      </p:sp>
      <p:sp>
        <p:nvSpPr>
          <p:cNvPr id="14" name="Text 11"/>
          <p:cNvSpPr/>
          <p:nvPr/>
        </p:nvSpPr>
        <p:spPr>
          <a:xfrm>
            <a:off x="530352" y="221284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No difference, no effect</a:t>
            </a:r>
            <a:endParaRPr lang="en-US" sz="1100" dirty="0"/>
          </a:p>
        </p:txBody>
      </p:sp>
      <p:sp>
        <p:nvSpPr>
          <p:cNvPr id="15" name="Shape 12"/>
          <p:cNvSpPr/>
          <p:nvPr/>
        </p:nvSpPr>
        <p:spPr>
          <a:xfrm>
            <a:off x="384048" y="2761488"/>
            <a:ext cx="54864" cy="274320"/>
          </a:xfrm>
          <a:prstGeom prst="rect">
            <a:avLst/>
          </a:prstGeom>
          <a:solidFill>
            <a:srgbClr val="E9C46A"/>
          </a:solidFill>
          <a:ln w="12700">
            <a:solidFill>
              <a:srgbClr val="333333"/>
            </a:solidFill>
            <a:prstDash val="solid"/>
          </a:ln>
        </p:spPr>
        <p:txBody>
          <a:bodyPr/>
          <a:lstStyle/>
          <a:p>
            <a:endParaRPr lang="de-AT"/>
          </a:p>
        </p:txBody>
      </p:sp>
      <p:sp>
        <p:nvSpPr>
          <p:cNvPr id="16" name="Text 13"/>
          <p:cNvSpPr/>
          <p:nvPr/>
        </p:nvSpPr>
        <p:spPr>
          <a:xfrm>
            <a:off x="530352" y="276148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Refers to population parameter, not sample</a:t>
            </a:r>
            <a:endParaRPr lang="en-US" sz="1100" dirty="0"/>
          </a:p>
        </p:txBody>
      </p:sp>
      <p:sp>
        <p:nvSpPr>
          <p:cNvPr id="17" name="Shape 14"/>
          <p:cNvSpPr/>
          <p:nvPr/>
        </p:nvSpPr>
        <p:spPr>
          <a:xfrm>
            <a:off x="384048" y="3310128"/>
            <a:ext cx="54864" cy="274320"/>
          </a:xfrm>
          <a:prstGeom prst="rect">
            <a:avLst/>
          </a:prstGeom>
          <a:solidFill>
            <a:srgbClr val="E9C46A"/>
          </a:solidFill>
          <a:ln w="12700">
            <a:solidFill>
              <a:srgbClr val="333333"/>
            </a:solidFill>
            <a:prstDash val="solid"/>
          </a:ln>
        </p:spPr>
        <p:txBody>
          <a:bodyPr/>
          <a:lstStyle/>
          <a:p>
            <a:endParaRPr lang="de-AT"/>
          </a:p>
        </p:txBody>
      </p:sp>
      <p:sp>
        <p:nvSpPr>
          <p:cNvPr id="18" name="Text 15"/>
          <p:cNvSpPr/>
          <p:nvPr/>
        </p:nvSpPr>
        <p:spPr>
          <a:xfrm>
            <a:off x="530352" y="331012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If H0 is not rejected, no changes are made</a:t>
            </a:r>
            <a:endParaRPr lang="en-US" sz="1100" dirty="0"/>
          </a:p>
        </p:txBody>
      </p:sp>
      <p:sp>
        <p:nvSpPr>
          <p:cNvPr id="19" name="Shape 16"/>
          <p:cNvSpPr/>
          <p:nvPr/>
        </p:nvSpPr>
        <p:spPr>
          <a:xfrm>
            <a:off x="4709160" y="1051560"/>
            <a:ext cx="4251960" cy="310896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20" name="Shape 17"/>
          <p:cNvSpPr/>
          <p:nvPr/>
        </p:nvSpPr>
        <p:spPr>
          <a:xfrm>
            <a:off x="4709160" y="1051560"/>
            <a:ext cx="4251960" cy="457200"/>
          </a:xfrm>
          <a:prstGeom prst="rect">
            <a:avLst/>
          </a:prstGeom>
          <a:solidFill>
            <a:srgbClr val="065A82"/>
          </a:solidFill>
          <a:ln w="12700">
            <a:solidFill>
              <a:srgbClr val="333333"/>
            </a:solidFill>
            <a:prstDash val="solid"/>
          </a:ln>
        </p:spPr>
        <p:txBody>
          <a:bodyPr/>
          <a:lstStyle/>
          <a:p>
            <a:endParaRPr lang="de-AT"/>
          </a:p>
        </p:txBody>
      </p:sp>
      <p:sp>
        <p:nvSpPr>
          <p:cNvPr id="21" name="Text 18"/>
          <p:cNvSpPr/>
          <p:nvPr/>
        </p:nvSpPr>
        <p:spPr>
          <a:xfrm>
            <a:off x="4846320" y="1078992"/>
            <a:ext cx="3977640" cy="40233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Alternative Hypothesis (Ha)</a:t>
            </a:r>
            <a:endParaRPr lang="en-US" sz="1300" dirty="0"/>
          </a:p>
        </p:txBody>
      </p:sp>
      <p:sp>
        <p:nvSpPr>
          <p:cNvPr id="22" name="Shape 19"/>
          <p:cNvSpPr/>
          <p:nvPr/>
        </p:nvSpPr>
        <p:spPr>
          <a:xfrm>
            <a:off x="4818888" y="1664208"/>
            <a:ext cx="54864" cy="274320"/>
          </a:xfrm>
          <a:prstGeom prst="rect">
            <a:avLst/>
          </a:prstGeom>
          <a:solidFill>
            <a:srgbClr val="E9C46A"/>
          </a:solidFill>
          <a:ln w="12700">
            <a:solidFill>
              <a:srgbClr val="333333"/>
            </a:solidFill>
            <a:prstDash val="solid"/>
          </a:ln>
        </p:spPr>
        <p:txBody>
          <a:bodyPr/>
          <a:lstStyle/>
          <a:p>
            <a:endParaRPr lang="de-AT"/>
          </a:p>
        </p:txBody>
      </p:sp>
      <p:sp>
        <p:nvSpPr>
          <p:cNvPr id="23" name="Text 20"/>
          <p:cNvSpPr/>
          <p:nvPr/>
        </p:nvSpPr>
        <p:spPr>
          <a:xfrm>
            <a:off x="4965192" y="166420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Some difference or effect is expected</a:t>
            </a:r>
            <a:endParaRPr lang="en-US" sz="1100" dirty="0"/>
          </a:p>
        </p:txBody>
      </p:sp>
      <p:sp>
        <p:nvSpPr>
          <p:cNvPr id="24" name="Shape 21"/>
          <p:cNvSpPr/>
          <p:nvPr/>
        </p:nvSpPr>
        <p:spPr>
          <a:xfrm>
            <a:off x="4818888" y="2212848"/>
            <a:ext cx="54864" cy="274320"/>
          </a:xfrm>
          <a:prstGeom prst="rect">
            <a:avLst/>
          </a:prstGeom>
          <a:solidFill>
            <a:srgbClr val="E9C46A"/>
          </a:solidFill>
          <a:ln w="12700">
            <a:solidFill>
              <a:srgbClr val="333333"/>
            </a:solidFill>
            <a:prstDash val="solid"/>
          </a:ln>
        </p:spPr>
        <p:txBody>
          <a:bodyPr/>
          <a:lstStyle/>
          <a:p>
            <a:endParaRPr lang="de-AT"/>
          </a:p>
        </p:txBody>
      </p:sp>
      <p:sp>
        <p:nvSpPr>
          <p:cNvPr id="25" name="Text 22"/>
          <p:cNvSpPr/>
          <p:nvPr/>
        </p:nvSpPr>
        <p:spPr>
          <a:xfrm>
            <a:off x="4965192" y="221284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Accepting Ha leads to changes in opinions or actions</a:t>
            </a:r>
            <a:endParaRPr lang="en-US" sz="1100" dirty="0"/>
          </a:p>
        </p:txBody>
      </p:sp>
      <p:sp>
        <p:nvSpPr>
          <p:cNvPr id="26" name="Shape 23"/>
          <p:cNvSpPr/>
          <p:nvPr/>
        </p:nvSpPr>
        <p:spPr>
          <a:xfrm>
            <a:off x="4818888" y="2761488"/>
            <a:ext cx="54864" cy="274320"/>
          </a:xfrm>
          <a:prstGeom prst="rect">
            <a:avLst/>
          </a:prstGeom>
          <a:solidFill>
            <a:srgbClr val="E9C46A"/>
          </a:solidFill>
          <a:ln w="12700">
            <a:solidFill>
              <a:srgbClr val="333333"/>
            </a:solidFill>
            <a:prstDash val="solid"/>
          </a:ln>
        </p:spPr>
        <p:txBody>
          <a:bodyPr/>
          <a:lstStyle/>
          <a:p>
            <a:endParaRPr lang="de-AT"/>
          </a:p>
        </p:txBody>
      </p:sp>
      <p:sp>
        <p:nvSpPr>
          <p:cNvPr id="27" name="Text 24"/>
          <p:cNvSpPr/>
          <p:nvPr/>
        </p:nvSpPr>
        <p:spPr>
          <a:xfrm>
            <a:off x="4965192" y="276148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The researcher's prediction</a:t>
            </a:r>
            <a:endParaRPr lang="en-US" sz="1100" dirty="0"/>
          </a:p>
        </p:txBody>
      </p:sp>
      <p:sp>
        <p:nvSpPr>
          <p:cNvPr id="28" name="Shape 25"/>
          <p:cNvSpPr/>
          <p:nvPr/>
        </p:nvSpPr>
        <p:spPr>
          <a:xfrm>
            <a:off x="4818888" y="3310128"/>
            <a:ext cx="54864" cy="274320"/>
          </a:xfrm>
          <a:prstGeom prst="rect">
            <a:avLst/>
          </a:prstGeom>
          <a:solidFill>
            <a:srgbClr val="E9C46A"/>
          </a:solidFill>
          <a:ln w="12700">
            <a:solidFill>
              <a:srgbClr val="333333"/>
            </a:solidFill>
            <a:prstDash val="solid"/>
          </a:ln>
        </p:spPr>
        <p:txBody>
          <a:bodyPr/>
          <a:lstStyle/>
          <a:p>
            <a:endParaRPr lang="de-AT"/>
          </a:p>
        </p:txBody>
      </p:sp>
      <p:sp>
        <p:nvSpPr>
          <p:cNvPr id="29" name="Text 26"/>
          <p:cNvSpPr/>
          <p:nvPr/>
        </p:nvSpPr>
        <p:spPr>
          <a:xfrm>
            <a:off x="4965192" y="3310128"/>
            <a:ext cx="3840480" cy="41148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What we hope to find evidence for</a:t>
            </a:r>
            <a:endParaRPr lang="en-US" sz="1100" dirty="0"/>
          </a:p>
        </p:txBody>
      </p:sp>
      <p:sp>
        <p:nvSpPr>
          <p:cNvPr id="30" name="Shape 27"/>
          <p:cNvSpPr/>
          <p:nvPr/>
        </p:nvSpPr>
        <p:spPr>
          <a:xfrm>
            <a:off x="274320" y="4251960"/>
            <a:ext cx="8595360" cy="713232"/>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31" name="Shape 28"/>
          <p:cNvSpPr/>
          <p:nvPr/>
        </p:nvSpPr>
        <p:spPr>
          <a:xfrm>
            <a:off x="274320" y="4251960"/>
            <a:ext cx="64008" cy="713232"/>
          </a:xfrm>
          <a:prstGeom prst="rect">
            <a:avLst/>
          </a:prstGeom>
          <a:solidFill>
            <a:srgbClr val="1C7293"/>
          </a:solidFill>
          <a:ln w="12700">
            <a:solidFill>
              <a:srgbClr val="333333"/>
            </a:solidFill>
            <a:prstDash val="solid"/>
          </a:ln>
        </p:spPr>
        <p:txBody>
          <a:bodyPr/>
          <a:lstStyle/>
          <a:p>
            <a:endParaRPr lang="de-AT"/>
          </a:p>
        </p:txBody>
      </p:sp>
      <p:sp>
        <p:nvSpPr>
          <p:cNvPr id="32" name="Text 29"/>
          <p:cNvSpPr/>
          <p:nvPr/>
        </p:nvSpPr>
        <p:spPr>
          <a:xfrm>
            <a:off x="475488" y="4315968"/>
            <a:ext cx="8229600" cy="585216"/>
          </a:xfrm>
          <a:prstGeom prst="rect">
            <a:avLst/>
          </a:prstGeom>
          <a:noFill/>
          <a:ln/>
        </p:spPr>
        <p:txBody>
          <a:bodyPr wrap="square" lIns="0" tIns="0" rIns="0" bIns="0" rtlCol="0" anchor="ctr"/>
          <a:lstStyle/>
          <a:p>
            <a:pPr marL="0" indent="0">
              <a:buNone/>
            </a:pPr>
            <a:r>
              <a:rPr lang="en-US" sz="1100" b="1" dirty="0">
                <a:solidFill>
                  <a:srgbClr val="1E293B"/>
                </a:solidFill>
                <a:latin typeface="Georgia" pitchFamily="34" charset="0"/>
                <a:ea typeface="Georgia" pitchFamily="34" charset="-122"/>
                <a:cs typeface="Georgia" pitchFamily="34" charset="-120"/>
              </a:rPr>
              <a:t>Example:  </a:t>
            </a:r>
            <a:r>
              <a:rPr lang="en-US" sz="1000" dirty="0">
                <a:solidFill>
                  <a:srgbClr val="334155"/>
                </a:solidFill>
                <a:latin typeface="Courier New" pitchFamily="34" charset="0"/>
                <a:ea typeface="Courier New" pitchFamily="34" charset="-122"/>
                <a:cs typeface="Courier New" pitchFamily="34" charset="-120"/>
              </a:rPr>
              <a:t>H0: Male and female customers do NOT differ in satisfaction.   </a:t>
            </a:r>
            <a:r>
              <a:rPr lang="en-US" sz="1000" dirty="0">
                <a:solidFill>
                  <a:srgbClr val="E9C46A"/>
                </a:solidFill>
                <a:latin typeface="Courier New" pitchFamily="34" charset="0"/>
                <a:ea typeface="Courier New" pitchFamily="34" charset="-122"/>
                <a:cs typeface="Courier New" pitchFamily="34" charset="-120"/>
              </a:rPr>
              <a:t>Ha: Male and female customers DO differ in satisfaction.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Example: Sample Means</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pic>
        <p:nvPicPr>
          <p:cNvPr id="7" name="Image 1" descr="preencoded.png"/>
          <p:cNvPicPr>
            <a:picLocks noChangeAspect="1"/>
          </p:cNvPicPr>
          <p:nvPr/>
        </p:nvPicPr>
        <p:blipFill>
          <a:blip r:embed="rId4"/>
          <a:srcRect/>
          <a:stretch/>
        </p:blipFill>
        <p:spPr>
          <a:xfrm>
            <a:off x="228600" y="1005840"/>
            <a:ext cx="8686800" cy="39319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Step 2: Select an Appropriate Test</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4572000" cy="173736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64008" cy="1737360"/>
          </a:xfrm>
          <a:prstGeom prst="rect">
            <a:avLst/>
          </a:prstGeom>
          <a:solidFill>
            <a:srgbClr val="065A82"/>
          </a:solidFill>
          <a:ln w="12700">
            <a:solidFill>
              <a:srgbClr val="333333"/>
            </a:solidFill>
            <a:prstDash val="solid"/>
          </a:ln>
        </p:spPr>
        <p:txBody>
          <a:bodyPr/>
          <a:lstStyle/>
          <a:p>
            <a:endParaRPr lang="de-AT"/>
          </a:p>
        </p:txBody>
      </p:sp>
      <p:sp>
        <p:nvSpPr>
          <p:cNvPr id="10" name="Text 7"/>
          <p:cNvSpPr/>
          <p:nvPr/>
        </p:nvSpPr>
        <p:spPr>
          <a:xfrm>
            <a:off x="475488" y="1143000"/>
            <a:ext cx="4206240" cy="32004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Test Selection Principle</a:t>
            </a:r>
            <a:endParaRPr lang="en-US" sz="1300" dirty="0"/>
          </a:p>
        </p:txBody>
      </p:sp>
      <p:sp>
        <p:nvSpPr>
          <p:cNvPr id="11" name="Text 8"/>
          <p:cNvSpPr/>
          <p:nvPr/>
        </p:nvSpPr>
        <p:spPr>
          <a:xfrm>
            <a:off x="475488" y="1508760"/>
            <a:ext cx="4206240" cy="1143000"/>
          </a:xfrm>
          <a:prstGeom prst="rect">
            <a:avLst/>
          </a:prstGeom>
          <a:noFill/>
          <a:ln/>
        </p:spPr>
        <p:txBody>
          <a:bodyPr wrap="square" lIns="0" tIns="0" rIns="0" bIns="0" rtlCol="0" anchor="t"/>
          <a:lstStyle/>
          <a:p>
            <a:pPr marL="0" indent="0">
              <a:buNone/>
            </a:pPr>
            <a:r>
              <a:rPr lang="en-US" sz="1100" dirty="0">
                <a:solidFill>
                  <a:srgbClr val="334155"/>
                </a:solidFill>
                <a:latin typeface="Calibri" pitchFamily="34" charset="0"/>
                <a:ea typeface="Calibri" pitchFamily="34" charset="-122"/>
                <a:cs typeface="Calibri" pitchFamily="34" charset="-120"/>
              </a:rPr>
              <a:t>The test statistic measures how close the sample has come to the null hypothesis.</a:t>
            </a:r>
            <a:r>
              <a:rPr lang="en-US" sz="1100" dirty="0">
                <a:solidFill>
                  <a:srgbClr val="000000"/>
                </a:solidFill>
              </a:rPr>
              <a:t>
</a:t>
            </a:r>
            <a:r>
              <a:rPr lang="en-US" sz="1100" dirty="0">
                <a:solidFill>
                  <a:srgbClr val="334155"/>
                </a:solidFill>
                <a:latin typeface="Calibri" pitchFamily="34" charset="0"/>
                <a:ea typeface="Calibri" pitchFamily="34" charset="-122"/>
                <a:cs typeface="Calibri" pitchFamily="34" charset="-120"/>
              </a:rPr>
              <a:t>It follows a known distribution (normal, t, or chi-square), enabling probability calculations.</a:t>
            </a:r>
            <a:endParaRPr lang="en-US" sz="1100" dirty="0"/>
          </a:p>
        </p:txBody>
      </p:sp>
      <p:sp>
        <p:nvSpPr>
          <p:cNvPr id="12" name="Shape 9"/>
          <p:cNvSpPr/>
          <p:nvPr/>
        </p:nvSpPr>
        <p:spPr>
          <a:xfrm>
            <a:off x="5029200" y="1051560"/>
            <a:ext cx="3840480" cy="173736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3" name="Shape 10"/>
          <p:cNvSpPr/>
          <p:nvPr/>
        </p:nvSpPr>
        <p:spPr>
          <a:xfrm>
            <a:off x="5029200" y="1051560"/>
            <a:ext cx="64008" cy="1737360"/>
          </a:xfrm>
          <a:prstGeom prst="rect">
            <a:avLst/>
          </a:prstGeom>
          <a:solidFill>
            <a:srgbClr val="1C7293"/>
          </a:solidFill>
          <a:ln w="12700">
            <a:solidFill>
              <a:srgbClr val="333333"/>
            </a:solidFill>
            <a:prstDash val="solid"/>
          </a:ln>
        </p:spPr>
        <p:txBody>
          <a:bodyPr/>
          <a:lstStyle/>
          <a:p>
            <a:endParaRPr lang="de-AT"/>
          </a:p>
        </p:txBody>
      </p:sp>
      <p:sp>
        <p:nvSpPr>
          <p:cNvPr id="14" name="Text 11"/>
          <p:cNvSpPr/>
          <p:nvPr/>
        </p:nvSpPr>
        <p:spPr>
          <a:xfrm>
            <a:off x="5230368" y="1143000"/>
            <a:ext cx="3456432" cy="1536192"/>
          </a:xfrm>
          <a:prstGeom prst="rect">
            <a:avLst/>
          </a:prstGeom>
          <a:noFill/>
          <a:ln/>
        </p:spPr>
        <p:txBody>
          <a:bodyPr wrap="square" lIns="0" tIns="0" rIns="0" bIns="0" rtlCol="0" anchor="t"/>
          <a:lstStyle/>
          <a:p>
            <a:pPr marL="0" indent="0">
              <a:buNone/>
            </a:pPr>
            <a:r>
              <a:rPr lang="en-US" sz="1100" b="1" dirty="0">
                <a:solidFill>
                  <a:srgbClr val="1E293B"/>
                </a:solidFill>
                <a:latin typeface="Georgia" pitchFamily="34" charset="0"/>
                <a:ea typeface="Georgia" pitchFamily="34" charset="-122"/>
                <a:cs typeface="Georgia" pitchFamily="34" charset="-120"/>
              </a:rPr>
              <a:t>Gender Example:</a:t>
            </a:r>
            <a:r>
              <a:rPr lang="en-US" sz="1100" dirty="0">
                <a:solidFill>
                  <a:srgbClr val="000000"/>
                </a:solidFill>
              </a:rPr>
              <a:t>
</a:t>
            </a:r>
            <a:r>
              <a:rPr lang="en-US" sz="1100" dirty="0">
                <a:solidFill>
                  <a:srgbClr val="334155"/>
                </a:solidFill>
                <a:latin typeface="Calibri" pitchFamily="34" charset="0"/>
                <a:ea typeface="Calibri" pitchFamily="34" charset="-122"/>
                <a:cs typeface="Calibri" pitchFamily="34" charset="-120"/>
              </a:rPr>
              <a:t>IV: Gender (nominal)</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DV: Customer Satisfaction (metric)</a:t>
            </a:r>
            <a:endParaRPr lang="en-US" sz="1100" dirty="0"/>
          </a:p>
          <a:p>
            <a:pPr marL="0" indent="0">
              <a:buNone/>
            </a:pPr>
            <a:r>
              <a:rPr lang="en-US" sz="1100" dirty="0">
                <a:solidFill>
                  <a:srgbClr val="000000"/>
                </a:solidFill>
              </a:rPr>
              <a:t>
</a:t>
            </a:r>
            <a:r>
              <a:rPr lang="en-US" sz="1100" b="1" dirty="0">
                <a:solidFill>
                  <a:srgbClr val="E9C46A"/>
                </a:solidFill>
                <a:latin typeface="Calibri" pitchFamily="34" charset="0"/>
                <a:ea typeface="Calibri" pitchFamily="34" charset="-122"/>
                <a:cs typeface="Calibri" pitchFamily="34" charset="-120"/>
              </a:rPr>
              <a:t>=&gt; t-Test for Independent Samples</a:t>
            </a:r>
            <a:endParaRPr lang="en-US" sz="1100" dirty="0"/>
          </a:p>
        </p:txBody>
      </p:sp>
      <p:sp>
        <p:nvSpPr>
          <p:cNvPr id="15" name="Shape 12"/>
          <p:cNvSpPr/>
          <p:nvPr/>
        </p:nvSpPr>
        <p:spPr>
          <a:xfrm>
            <a:off x="777240" y="2944368"/>
            <a:ext cx="2468880" cy="438912"/>
          </a:xfrm>
          <a:prstGeom prst="rect">
            <a:avLst/>
          </a:prstGeom>
          <a:solidFill>
            <a:srgbClr val="1A3A5C"/>
          </a:solidFill>
          <a:ln w="12700">
            <a:solidFill>
              <a:srgbClr val="1C7293"/>
            </a:solidFill>
            <a:prstDash val="solid"/>
          </a:ln>
        </p:spPr>
        <p:txBody>
          <a:bodyPr/>
          <a:lstStyle/>
          <a:p>
            <a:endParaRPr lang="de-AT"/>
          </a:p>
        </p:txBody>
      </p:sp>
      <p:sp>
        <p:nvSpPr>
          <p:cNvPr id="16" name="Text 13"/>
          <p:cNvSpPr/>
          <p:nvPr/>
        </p:nvSpPr>
        <p:spPr>
          <a:xfrm>
            <a:off x="777240" y="2944368"/>
            <a:ext cx="246888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IV \ DV</a:t>
            </a:r>
            <a:endParaRPr lang="en-US" sz="1200" dirty="0"/>
          </a:p>
        </p:txBody>
      </p:sp>
      <p:sp>
        <p:nvSpPr>
          <p:cNvPr id="17" name="Shape 14"/>
          <p:cNvSpPr/>
          <p:nvPr/>
        </p:nvSpPr>
        <p:spPr>
          <a:xfrm>
            <a:off x="3246120" y="2944368"/>
            <a:ext cx="2468880" cy="438912"/>
          </a:xfrm>
          <a:prstGeom prst="rect">
            <a:avLst/>
          </a:prstGeom>
          <a:solidFill>
            <a:srgbClr val="065A82"/>
          </a:solidFill>
          <a:ln w="12700">
            <a:solidFill>
              <a:srgbClr val="1C7293"/>
            </a:solidFill>
            <a:prstDash val="solid"/>
          </a:ln>
        </p:spPr>
        <p:txBody>
          <a:bodyPr/>
          <a:lstStyle/>
          <a:p>
            <a:endParaRPr lang="de-AT"/>
          </a:p>
        </p:txBody>
      </p:sp>
      <p:sp>
        <p:nvSpPr>
          <p:cNvPr id="18" name="Text 15"/>
          <p:cNvSpPr/>
          <p:nvPr/>
        </p:nvSpPr>
        <p:spPr>
          <a:xfrm>
            <a:off x="3246120" y="2944368"/>
            <a:ext cx="246888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DV Nominal</a:t>
            </a:r>
            <a:endParaRPr lang="en-US" sz="1200" dirty="0"/>
          </a:p>
        </p:txBody>
      </p:sp>
      <p:sp>
        <p:nvSpPr>
          <p:cNvPr id="19" name="Shape 16"/>
          <p:cNvSpPr/>
          <p:nvPr/>
        </p:nvSpPr>
        <p:spPr>
          <a:xfrm>
            <a:off x="5715000" y="2944368"/>
            <a:ext cx="2468880" cy="438912"/>
          </a:xfrm>
          <a:prstGeom prst="rect">
            <a:avLst/>
          </a:prstGeom>
          <a:solidFill>
            <a:srgbClr val="065A82"/>
          </a:solidFill>
          <a:ln w="12700">
            <a:solidFill>
              <a:srgbClr val="1C7293"/>
            </a:solidFill>
            <a:prstDash val="solid"/>
          </a:ln>
        </p:spPr>
        <p:txBody>
          <a:bodyPr/>
          <a:lstStyle/>
          <a:p>
            <a:endParaRPr lang="de-AT"/>
          </a:p>
        </p:txBody>
      </p:sp>
      <p:sp>
        <p:nvSpPr>
          <p:cNvPr id="20" name="Text 17"/>
          <p:cNvSpPr/>
          <p:nvPr/>
        </p:nvSpPr>
        <p:spPr>
          <a:xfrm>
            <a:off x="5715000" y="2944368"/>
            <a:ext cx="246888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DV Metric</a:t>
            </a:r>
            <a:endParaRPr lang="en-US" sz="1200" dirty="0"/>
          </a:p>
        </p:txBody>
      </p:sp>
      <p:sp>
        <p:nvSpPr>
          <p:cNvPr id="21" name="Shape 18"/>
          <p:cNvSpPr/>
          <p:nvPr/>
        </p:nvSpPr>
        <p:spPr>
          <a:xfrm>
            <a:off x="777240" y="3383280"/>
            <a:ext cx="2468880" cy="502920"/>
          </a:xfrm>
          <a:prstGeom prst="rect">
            <a:avLst/>
          </a:prstGeom>
          <a:solidFill>
            <a:srgbClr val="1C7293"/>
          </a:solidFill>
          <a:ln w="12700">
            <a:solidFill>
              <a:srgbClr val="1C7293"/>
            </a:solidFill>
            <a:prstDash val="solid"/>
          </a:ln>
        </p:spPr>
        <p:txBody>
          <a:bodyPr/>
          <a:lstStyle/>
          <a:p>
            <a:endParaRPr lang="de-AT"/>
          </a:p>
        </p:txBody>
      </p:sp>
      <p:sp>
        <p:nvSpPr>
          <p:cNvPr id="22" name="Text 19"/>
          <p:cNvSpPr/>
          <p:nvPr/>
        </p:nvSpPr>
        <p:spPr>
          <a:xfrm>
            <a:off x="777240" y="3383280"/>
            <a:ext cx="24688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IV Nominal</a:t>
            </a:r>
            <a:endParaRPr lang="en-US" sz="1200" dirty="0"/>
          </a:p>
        </p:txBody>
      </p:sp>
      <p:sp>
        <p:nvSpPr>
          <p:cNvPr id="23" name="Shape 20"/>
          <p:cNvSpPr/>
          <p:nvPr/>
        </p:nvSpPr>
        <p:spPr>
          <a:xfrm>
            <a:off x="3246120" y="3383280"/>
            <a:ext cx="2468880" cy="502920"/>
          </a:xfrm>
          <a:prstGeom prst="rect">
            <a:avLst/>
          </a:prstGeom>
          <a:solidFill>
            <a:srgbClr val="1A3A5C"/>
          </a:solidFill>
          <a:ln w="12700">
            <a:solidFill>
              <a:srgbClr val="1C7293"/>
            </a:solidFill>
            <a:prstDash val="solid"/>
          </a:ln>
        </p:spPr>
        <p:txBody>
          <a:bodyPr/>
          <a:lstStyle/>
          <a:p>
            <a:endParaRPr lang="de-AT"/>
          </a:p>
        </p:txBody>
      </p:sp>
      <p:sp>
        <p:nvSpPr>
          <p:cNvPr id="24" name="Text 21"/>
          <p:cNvSpPr/>
          <p:nvPr/>
        </p:nvSpPr>
        <p:spPr>
          <a:xfrm>
            <a:off x="3246120" y="3383280"/>
            <a:ext cx="2468880" cy="5029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Chi-Square</a:t>
            </a:r>
            <a:endParaRPr lang="en-US" sz="1100" dirty="0"/>
          </a:p>
        </p:txBody>
      </p:sp>
      <p:sp>
        <p:nvSpPr>
          <p:cNvPr id="25" name="Shape 22"/>
          <p:cNvSpPr/>
          <p:nvPr/>
        </p:nvSpPr>
        <p:spPr>
          <a:xfrm>
            <a:off x="5715000" y="3383280"/>
            <a:ext cx="2468880" cy="502920"/>
          </a:xfrm>
          <a:prstGeom prst="rect">
            <a:avLst/>
          </a:prstGeom>
          <a:solidFill>
            <a:srgbClr val="1A3A5C"/>
          </a:solidFill>
          <a:ln w="12700">
            <a:solidFill>
              <a:srgbClr val="1C7293"/>
            </a:solidFill>
            <a:prstDash val="solid"/>
          </a:ln>
        </p:spPr>
        <p:txBody>
          <a:bodyPr/>
          <a:lstStyle/>
          <a:p>
            <a:endParaRPr lang="de-AT"/>
          </a:p>
        </p:txBody>
      </p:sp>
      <p:sp>
        <p:nvSpPr>
          <p:cNvPr id="26" name="Text 23"/>
          <p:cNvSpPr/>
          <p:nvPr/>
        </p:nvSpPr>
        <p:spPr>
          <a:xfrm>
            <a:off x="5715000" y="3383280"/>
            <a:ext cx="2468880" cy="5029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t-Test</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ANOVA</a:t>
            </a:r>
            <a:endParaRPr lang="en-US" sz="1100" dirty="0"/>
          </a:p>
        </p:txBody>
      </p:sp>
      <p:sp>
        <p:nvSpPr>
          <p:cNvPr id="27" name="Shape 24"/>
          <p:cNvSpPr/>
          <p:nvPr/>
        </p:nvSpPr>
        <p:spPr>
          <a:xfrm>
            <a:off x="777240" y="3886200"/>
            <a:ext cx="2468880" cy="502920"/>
          </a:xfrm>
          <a:prstGeom prst="rect">
            <a:avLst/>
          </a:prstGeom>
          <a:solidFill>
            <a:srgbClr val="1C7293"/>
          </a:solidFill>
          <a:ln w="12700">
            <a:solidFill>
              <a:srgbClr val="1C7293"/>
            </a:solidFill>
            <a:prstDash val="solid"/>
          </a:ln>
        </p:spPr>
        <p:txBody>
          <a:bodyPr/>
          <a:lstStyle/>
          <a:p>
            <a:endParaRPr lang="de-AT"/>
          </a:p>
        </p:txBody>
      </p:sp>
      <p:sp>
        <p:nvSpPr>
          <p:cNvPr id="28" name="Text 25"/>
          <p:cNvSpPr/>
          <p:nvPr/>
        </p:nvSpPr>
        <p:spPr>
          <a:xfrm>
            <a:off x="777240" y="3886200"/>
            <a:ext cx="246888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IV Metric</a:t>
            </a:r>
            <a:endParaRPr lang="en-US" sz="1200" dirty="0"/>
          </a:p>
        </p:txBody>
      </p:sp>
      <p:sp>
        <p:nvSpPr>
          <p:cNvPr id="29" name="Shape 26"/>
          <p:cNvSpPr/>
          <p:nvPr/>
        </p:nvSpPr>
        <p:spPr>
          <a:xfrm>
            <a:off x="3246120" y="3886200"/>
            <a:ext cx="2468880" cy="502920"/>
          </a:xfrm>
          <a:prstGeom prst="rect">
            <a:avLst/>
          </a:prstGeom>
          <a:solidFill>
            <a:srgbClr val="1A3A5C"/>
          </a:solidFill>
          <a:ln w="12700">
            <a:solidFill>
              <a:srgbClr val="1C7293"/>
            </a:solidFill>
            <a:prstDash val="solid"/>
          </a:ln>
        </p:spPr>
        <p:txBody>
          <a:bodyPr/>
          <a:lstStyle/>
          <a:p>
            <a:endParaRPr lang="de-AT"/>
          </a:p>
        </p:txBody>
      </p:sp>
      <p:sp>
        <p:nvSpPr>
          <p:cNvPr id="30" name="Text 27"/>
          <p:cNvSpPr/>
          <p:nvPr/>
        </p:nvSpPr>
        <p:spPr>
          <a:xfrm>
            <a:off x="3246120" y="3886200"/>
            <a:ext cx="2468880" cy="5029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Logistic</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Regression</a:t>
            </a:r>
            <a:endParaRPr lang="en-US" sz="1100" dirty="0"/>
          </a:p>
        </p:txBody>
      </p:sp>
      <p:sp>
        <p:nvSpPr>
          <p:cNvPr id="31" name="Shape 28"/>
          <p:cNvSpPr/>
          <p:nvPr/>
        </p:nvSpPr>
        <p:spPr>
          <a:xfrm>
            <a:off x="5715000" y="3886200"/>
            <a:ext cx="2468880" cy="502920"/>
          </a:xfrm>
          <a:prstGeom prst="rect">
            <a:avLst/>
          </a:prstGeom>
          <a:solidFill>
            <a:srgbClr val="1A3A5C"/>
          </a:solidFill>
          <a:ln w="12700">
            <a:solidFill>
              <a:srgbClr val="1C7293"/>
            </a:solidFill>
            <a:prstDash val="solid"/>
          </a:ln>
        </p:spPr>
        <p:txBody>
          <a:bodyPr/>
          <a:lstStyle/>
          <a:p>
            <a:endParaRPr lang="de-AT"/>
          </a:p>
        </p:txBody>
      </p:sp>
      <p:sp>
        <p:nvSpPr>
          <p:cNvPr id="32" name="Text 29"/>
          <p:cNvSpPr/>
          <p:nvPr/>
        </p:nvSpPr>
        <p:spPr>
          <a:xfrm>
            <a:off x="5715000" y="3886200"/>
            <a:ext cx="2468880" cy="5029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Correlation</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Regression</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Step 3: Choose the Level of Significance</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Shape 4"/>
          <p:cNvSpPr/>
          <p:nvPr/>
        </p:nvSpPr>
        <p:spPr>
          <a:xfrm>
            <a:off x="457200" y="1024128"/>
            <a:ext cx="7955280" cy="347472"/>
          </a:xfrm>
          <a:prstGeom prst="rect">
            <a:avLst/>
          </a:prstGeom>
          <a:solidFill>
            <a:srgbClr val="065A82"/>
          </a:solidFill>
          <a:ln w="12700">
            <a:solidFill>
              <a:srgbClr val="333333"/>
            </a:solidFill>
            <a:prstDash val="solid"/>
          </a:ln>
        </p:spPr>
        <p:txBody>
          <a:bodyPr/>
          <a:lstStyle/>
          <a:p>
            <a:endParaRPr lang="de-AT"/>
          </a:p>
        </p:txBody>
      </p:sp>
      <p:sp>
        <p:nvSpPr>
          <p:cNvPr id="8" name="Text 5"/>
          <p:cNvSpPr/>
          <p:nvPr/>
        </p:nvSpPr>
        <p:spPr>
          <a:xfrm>
            <a:off x="2377440" y="1024128"/>
            <a:ext cx="603504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DECISION</a:t>
            </a:r>
            <a:endParaRPr lang="en-US" sz="1400" dirty="0"/>
          </a:p>
        </p:txBody>
      </p:sp>
      <p:sp>
        <p:nvSpPr>
          <p:cNvPr id="10" name="Text 7"/>
          <p:cNvSpPr/>
          <p:nvPr/>
        </p:nvSpPr>
        <p:spPr>
          <a:xfrm>
            <a:off x="457200" y="1024128"/>
            <a:ext cx="192024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ACTUAL</a:t>
            </a:r>
            <a:endParaRPr lang="en-US" sz="1400" dirty="0"/>
          </a:p>
        </p:txBody>
      </p:sp>
      <p:sp>
        <p:nvSpPr>
          <p:cNvPr id="11" name="Shape 8"/>
          <p:cNvSpPr/>
          <p:nvPr/>
        </p:nvSpPr>
        <p:spPr>
          <a:xfrm>
            <a:off x="2377440" y="1371600"/>
            <a:ext cx="3017520" cy="384048"/>
          </a:xfrm>
          <a:prstGeom prst="rect">
            <a:avLst/>
          </a:prstGeom>
          <a:solidFill>
            <a:srgbClr val="1C7293"/>
          </a:solidFill>
          <a:ln w="12700">
            <a:solidFill>
              <a:srgbClr val="1C7293"/>
            </a:solidFill>
            <a:prstDash val="solid"/>
          </a:ln>
        </p:spPr>
        <p:txBody>
          <a:bodyPr/>
          <a:lstStyle/>
          <a:p>
            <a:endParaRPr lang="de-AT"/>
          </a:p>
        </p:txBody>
      </p:sp>
      <p:sp>
        <p:nvSpPr>
          <p:cNvPr id="12" name="Text 9"/>
          <p:cNvSpPr/>
          <p:nvPr/>
        </p:nvSpPr>
        <p:spPr>
          <a:xfrm>
            <a:off x="2377440" y="1371600"/>
            <a:ext cx="30175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Do not reject H0</a:t>
            </a:r>
            <a:endParaRPr lang="en-US" sz="1200" dirty="0"/>
          </a:p>
        </p:txBody>
      </p:sp>
      <p:sp>
        <p:nvSpPr>
          <p:cNvPr id="13" name="Shape 10"/>
          <p:cNvSpPr/>
          <p:nvPr/>
        </p:nvSpPr>
        <p:spPr>
          <a:xfrm>
            <a:off x="5394960" y="1371600"/>
            <a:ext cx="3017520" cy="384048"/>
          </a:xfrm>
          <a:prstGeom prst="rect">
            <a:avLst/>
          </a:prstGeom>
          <a:solidFill>
            <a:srgbClr val="1C7293"/>
          </a:solidFill>
          <a:ln w="12700">
            <a:solidFill>
              <a:srgbClr val="1C7293"/>
            </a:solidFill>
            <a:prstDash val="solid"/>
          </a:ln>
        </p:spPr>
        <p:txBody>
          <a:bodyPr/>
          <a:lstStyle/>
          <a:p>
            <a:endParaRPr lang="de-AT"/>
          </a:p>
        </p:txBody>
      </p:sp>
      <p:sp>
        <p:nvSpPr>
          <p:cNvPr id="14" name="Text 11"/>
          <p:cNvSpPr/>
          <p:nvPr/>
        </p:nvSpPr>
        <p:spPr>
          <a:xfrm>
            <a:off x="5394960" y="1371600"/>
            <a:ext cx="30175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Reject H0</a:t>
            </a:r>
            <a:endParaRPr lang="en-US" sz="1200" dirty="0"/>
          </a:p>
        </p:txBody>
      </p:sp>
      <p:sp>
        <p:nvSpPr>
          <p:cNvPr id="15" name="Shape 12"/>
          <p:cNvSpPr/>
          <p:nvPr/>
        </p:nvSpPr>
        <p:spPr>
          <a:xfrm>
            <a:off x="457200" y="1755648"/>
            <a:ext cx="1920240" cy="804672"/>
          </a:xfrm>
          <a:prstGeom prst="rect">
            <a:avLst/>
          </a:prstGeom>
          <a:solidFill>
            <a:srgbClr val="F0F4F8"/>
          </a:solidFill>
          <a:ln w="12700">
            <a:solidFill>
              <a:srgbClr val="1C7293"/>
            </a:solidFill>
            <a:prstDash val="solid"/>
          </a:ln>
        </p:spPr>
        <p:txBody>
          <a:bodyPr/>
          <a:lstStyle/>
          <a:p>
            <a:endParaRPr lang="de-AT"/>
          </a:p>
        </p:txBody>
      </p:sp>
      <p:sp>
        <p:nvSpPr>
          <p:cNvPr id="16" name="Text 13"/>
          <p:cNvSpPr/>
          <p:nvPr/>
        </p:nvSpPr>
        <p:spPr>
          <a:xfrm>
            <a:off x="457200" y="1755648"/>
            <a:ext cx="1920240" cy="804672"/>
          </a:xfrm>
          <a:prstGeom prst="rect">
            <a:avLst/>
          </a:prstGeom>
          <a:noFill/>
          <a:ln/>
        </p:spPr>
        <p:txBody>
          <a:bodyPr wrap="square" lIns="0" tIns="0" rIns="0" bIns="0" rtlCol="0" anchor="ctr"/>
          <a:lstStyle/>
          <a:p>
            <a:pPr marL="0" indent="0" algn="ctr">
              <a:buNone/>
            </a:pPr>
            <a:r>
              <a:rPr lang="en-US" sz="1200" b="1" dirty="0">
                <a:solidFill>
                  <a:srgbClr val="065A82"/>
                </a:solidFill>
                <a:latin typeface="Georgia" pitchFamily="34" charset="0"/>
                <a:ea typeface="Georgia" pitchFamily="34" charset="-122"/>
                <a:cs typeface="Georgia" pitchFamily="34" charset="-120"/>
              </a:rPr>
              <a:t>H0 is TRUE</a:t>
            </a:r>
            <a:endParaRPr lang="en-US" sz="1200" dirty="0"/>
          </a:p>
        </p:txBody>
      </p:sp>
      <p:sp>
        <p:nvSpPr>
          <p:cNvPr id="17" name="Shape 14"/>
          <p:cNvSpPr/>
          <p:nvPr/>
        </p:nvSpPr>
        <p:spPr>
          <a:xfrm>
            <a:off x="2377440" y="1755648"/>
            <a:ext cx="3017520" cy="804672"/>
          </a:xfrm>
          <a:prstGeom prst="rect">
            <a:avLst/>
          </a:prstGeom>
          <a:solidFill>
            <a:srgbClr val="E0F2EE"/>
          </a:solidFill>
          <a:ln w="12700">
            <a:solidFill>
              <a:srgbClr val="1C7293"/>
            </a:solidFill>
            <a:prstDash val="solid"/>
          </a:ln>
        </p:spPr>
        <p:txBody>
          <a:bodyPr/>
          <a:lstStyle/>
          <a:p>
            <a:endParaRPr lang="de-AT"/>
          </a:p>
        </p:txBody>
      </p:sp>
      <p:sp>
        <p:nvSpPr>
          <p:cNvPr id="18" name="Text 15"/>
          <p:cNvSpPr/>
          <p:nvPr/>
        </p:nvSpPr>
        <p:spPr>
          <a:xfrm>
            <a:off x="2377440" y="1755648"/>
            <a:ext cx="3017520" cy="804672"/>
          </a:xfrm>
          <a:prstGeom prst="rect">
            <a:avLst/>
          </a:prstGeom>
          <a:noFill/>
          <a:ln/>
        </p:spPr>
        <p:txBody>
          <a:bodyPr wrap="square" lIns="0" tIns="0" rIns="0" bIns="0" rtlCol="0" anchor="ctr"/>
          <a:lstStyle/>
          <a:p>
            <a:pPr marL="0" indent="0" algn="ctr">
              <a:buNone/>
            </a:pPr>
            <a:r>
              <a:rPr lang="en-US" sz="1200" b="1" dirty="0">
                <a:solidFill>
                  <a:srgbClr val="2A9D8F"/>
                </a:solidFill>
                <a:latin typeface="Georgia" pitchFamily="34" charset="0"/>
                <a:ea typeface="Georgia" pitchFamily="34" charset="-122"/>
                <a:cs typeface="Georgia" pitchFamily="34" charset="-120"/>
              </a:rPr>
              <a:t>Correct</a:t>
            </a:r>
            <a:endParaRPr lang="en-US" sz="1200" dirty="0"/>
          </a:p>
          <a:p>
            <a:pPr marL="0" indent="0" algn="ctr">
              <a:buNone/>
            </a:pPr>
            <a:r>
              <a:rPr lang="en-US" sz="1000" dirty="0">
                <a:solidFill>
                  <a:srgbClr val="2A9D8F"/>
                </a:solidFill>
                <a:latin typeface="Calibri" pitchFamily="34" charset="0"/>
                <a:ea typeface="Calibri" pitchFamily="34" charset="-122"/>
                <a:cs typeface="Calibri" pitchFamily="34" charset="-120"/>
              </a:rPr>
              <a:t>(True Negative)</a:t>
            </a:r>
            <a:endParaRPr lang="en-US" sz="1200" dirty="0"/>
          </a:p>
        </p:txBody>
      </p:sp>
      <p:sp>
        <p:nvSpPr>
          <p:cNvPr id="19" name="Shape 16"/>
          <p:cNvSpPr/>
          <p:nvPr/>
        </p:nvSpPr>
        <p:spPr>
          <a:xfrm>
            <a:off x="5394960" y="1755648"/>
            <a:ext cx="3017520" cy="804672"/>
          </a:xfrm>
          <a:prstGeom prst="rect">
            <a:avLst/>
          </a:prstGeom>
          <a:solidFill>
            <a:srgbClr val="FDE8E8"/>
          </a:solidFill>
          <a:ln w="12700">
            <a:solidFill>
              <a:srgbClr val="1C7293"/>
            </a:solidFill>
            <a:prstDash val="solid"/>
          </a:ln>
        </p:spPr>
        <p:txBody>
          <a:bodyPr/>
          <a:lstStyle/>
          <a:p>
            <a:endParaRPr lang="de-AT"/>
          </a:p>
        </p:txBody>
      </p:sp>
      <p:sp>
        <p:nvSpPr>
          <p:cNvPr id="20" name="Text 17"/>
          <p:cNvSpPr/>
          <p:nvPr/>
        </p:nvSpPr>
        <p:spPr>
          <a:xfrm>
            <a:off x="5394960" y="1755648"/>
            <a:ext cx="3017520" cy="804672"/>
          </a:xfrm>
          <a:prstGeom prst="rect">
            <a:avLst/>
          </a:prstGeom>
          <a:noFill/>
          <a:ln/>
        </p:spPr>
        <p:txBody>
          <a:bodyPr wrap="square" lIns="0" tIns="0" rIns="0" bIns="0" rtlCol="0" anchor="ctr"/>
          <a:lstStyle/>
          <a:p>
            <a:pPr marL="0" indent="0" algn="ctr">
              <a:buNone/>
            </a:pPr>
            <a:r>
              <a:rPr lang="en-US" sz="1200" b="1" dirty="0">
                <a:solidFill>
                  <a:srgbClr val="C62828"/>
                </a:solidFill>
                <a:latin typeface="Georgia" pitchFamily="34" charset="0"/>
                <a:ea typeface="Georgia" pitchFamily="34" charset="-122"/>
                <a:cs typeface="Georgia" pitchFamily="34" charset="-120"/>
              </a:rPr>
              <a:t>TYPE I ERROR</a:t>
            </a:r>
            <a:endParaRPr lang="en-US" sz="1200" dirty="0"/>
          </a:p>
          <a:p>
            <a:pPr marL="0" indent="0" algn="ctr">
              <a:buNone/>
            </a:pPr>
            <a:r>
              <a:rPr lang="en-US" sz="1000" dirty="0">
                <a:solidFill>
                  <a:srgbClr val="C62828"/>
                </a:solidFill>
                <a:latin typeface="Calibri" pitchFamily="34" charset="0"/>
                <a:ea typeface="Calibri" pitchFamily="34" charset="-122"/>
                <a:cs typeface="Calibri" pitchFamily="34" charset="-120"/>
              </a:rPr>
              <a:t>(False Positive)</a:t>
            </a:r>
            <a:endParaRPr lang="en-US" sz="1200" dirty="0"/>
          </a:p>
          <a:p>
            <a:pPr marL="0" indent="0" algn="ctr">
              <a:buNone/>
            </a:pPr>
            <a:r>
              <a:rPr lang="en-US" sz="1000" dirty="0">
                <a:solidFill>
                  <a:srgbClr val="C62828"/>
                </a:solidFill>
                <a:latin typeface="Calibri" pitchFamily="34" charset="0"/>
                <a:ea typeface="Calibri" pitchFamily="34" charset="-122"/>
                <a:cs typeface="Calibri" pitchFamily="34" charset="-120"/>
              </a:rPr>
              <a:t>alpha error</a:t>
            </a:r>
            <a:endParaRPr lang="en-US" sz="1200" dirty="0"/>
          </a:p>
        </p:txBody>
      </p:sp>
      <p:sp>
        <p:nvSpPr>
          <p:cNvPr id="21" name="Shape 18"/>
          <p:cNvSpPr/>
          <p:nvPr/>
        </p:nvSpPr>
        <p:spPr>
          <a:xfrm>
            <a:off x="457200" y="2560320"/>
            <a:ext cx="1920240" cy="804672"/>
          </a:xfrm>
          <a:prstGeom prst="rect">
            <a:avLst/>
          </a:prstGeom>
          <a:solidFill>
            <a:srgbClr val="F0F4F8"/>
          </a:solidFill>
          <a:ln w="12700">
            <a:solidFill>
              <a:srgbClr val="1C7293"/>
            </a:solidFill>
            <a:prstDash val="solid"/>
          </a:ln>
        </p:spPr>
        <p:txBody>
          <a:bodyPr/>
          <a:lstStyle/>
          <a:p>
            <a:endParaRPr lang="de-AT"/>
          </a:p>
        </p:txBody>
      </p:sp>
      <p:sp>
        <p:nvSpPr>
          <p:cNvPr id="22" name="Text 19"/>
          <p:cNvSpPr/>
          <p:nvPr/>
        </p:nvSpPr>
        <p:spPr>
          <a:xfrm>
            <a:off x="457200" y="2560320"/>
            <a:ext cx="1920240" cy="804672"/>
          </a:xfrm>
          <a:prstGeom prst="rect">
            <a:avLst/>
          </a:prstGeom>
          <a:noFill/>
          <a:ln/>
        </p:spPr>
        <p:txBody>
          <a:bodyPr wrap="square" lIns="0" tIns="0" rIns="0" bIns="0" rtlCol="0" anchor="ctr"/>
          <a:lstStyle/>
          <a:p>
            <a:pPr marL="0" indent="0" algn="ctr">
              <a:buNone/>
            </a:pPr>
            <a:r>
              <a:rPr lang="en-US" sz="1200" b="1" dirty="0">
                <a:solidFill>
                  <a:srgbClr val="065A82"/>
                </a:solidFill>
                <a:latin typeface="Georgia" pitchFamily="34" charset="0"/>
                <a:ea typeface="Georgia" pitchFamily="34" charset="-122"/>
                <a:cs typeface="Georgia" pitchFamily="34" charset="-120"/>
              </a:rPr>
              <a:t>H0 is FALSE</a:t>
            </a:r>
            <a:endParaRPr lang="en-US" sz="1200" dirty="0"/>
          </a:p>
        </p:txBody>
      </p:sp>
      <p:sp>
        <p:nvSpPr>
          <p:cNvPr id="23" name="Shape 20"/>
          <p:cNvSpPr/>
          <p:nvPr/>
        </p:nvSpPr>
        <p:spPr>
          <a:xfrm>
            <a:off x="2377440" y="2560320"/>
            <a:ext cx="3017520" cy="804672"/>
          </a:xfrm>
          <a:prstGeom prst="rect">
            <a:avLst/>
          </a:prstGeom>
          <a:solidFill>
            <a:srgbClr val="FFF4D6"/>
          </a:solidFill>
          <a:ln w="12700">
            <a:solidFill>
              <a:srgbClr val="1C7293"/>
            </a:solidFill>
            <a:prstDash val="solid"/>
          </a:ln>
        </p:spPr>
        <p:txBody>
          <a:bodyPr/>
          <a:lstStyle/>
          <a:p>
            <a:endParaRPr lang="de-AT"/>
          </a:p>
        </p:txBody>
      </p:sp>
      <p:sp>
        <p:nvSpPr>
          <p:cNvPr id="24" name="Text 21"/>
          <p:cNvSpPr/>
          <p:nvPr/>
        </p:nvSpPr>
        <p:spPr>
          <a:xfrm>
            <a:off x="2377440" y="2560320"/>
            <a:ext cx="3017520" cy="804672"/>
          </a:xfrm>
          <a:prstGeom prst="rect">
            <a:avLst/>
          </a:prstGeom>
          <a:noFill/>
          <a:ln/>
        </p:spPr>
        <p:txBody>
          <a:bodyPr wrap="square" lIns="0" tIns="0" rIns="0" bIns="0" rtlCol="0" anchor="ctr"/>
          <a:lstStyle/>
          <a:p>
            <a:pPr marL="0" indent="0" algn="ctr">
              <a:buNone/>
            </a:pPr>
            <a:r>
              <a:rPr lang="en-US" sz="1200" b="1" dirty="0">
                <a:solidFill>
                  <a:srgbClr val="E9C46A"/>
                </a:solidFill>
                <a:latin typeface="Georgia" pitchFamily="34" charset="0"/>
                <a:ea typeface="Georgia" pitchFamily="34" charset="-122"/>
                <a:cs typeface="Georgia" pitchFamily="34" charset="-120"/>
              </a:rPr>
              <a:t>TYPE II ERROR</a:t>
            </a:r>
            <a:endParaRPr lang="en-US" sz="1200" dirty="0"/>
          </a:p>
          <a:p>
            <a:pPr marL="0" indent="0" algn="ctr">
              <a:buNone/>
            </a:pPr>
            <a:r>
              <a:rPr lang="en-US" sz="1000" dirty="0">
                <a:solidFill>
                  <a:srgbClr val="E9C46A"/>
                </a:solidFill>
                <a:latin typeface="Calibri" pitchFamily="34" charset="0"/>
                <a:ea typeface="Calibri" pitchFamily="34" charset="-122"/>
                <a:cs typeface="Calibri" pitchFamily="34" charset="-120"/>
              </a:rPr>
              <a:t>(False Negative)</a:t>
            </a:r>
            <a:endParaRPr lang="en-US" sz="1200" dirty="0"/>
          </a:p>
          <a:p>
            <a:pPr marL="0" indent="0" algn="ctr">
              <a:buNone/>
            </a:pPr>
            <a:r>
              <a:rPr lang="en-US" sz="1000" dirty="0">
                <a:solidFill>
                  <a:srgbClr val="E9C46A"/>
                </a:solidFill>
                <a:latin typeface="Calibri" pitchFamily="34" charset="0"/>
                <a:ea typeface="Calibri" pitchFamily="34" charset="-122"/>
                <a:cs typeface="Calibri" pitchFamily="34" charset="-120"/>
              </a:rPr>
              <a:t>beta error</a:t>
            </a:r>
            <a:endParaRPr lang="en-US" sz="1200" dirty="0"/>
          </a:p>
        </p:txBody>
      </p:sp>
      <p:sp>
        <p:nvSpPr>
          <p:cNvPr id="25" name="Shape 22"/>
          <p:cNvSpPr/>
          <p:nvPr/>
        </p:nvSpPr>
        <p:spPr>
          <a:xfrm>
            <a:off x="5394960" y="2560320"/>
            <a:ext cx="3017520" cy="804672"/>
          </a:xfrm>
          <a:prstGeom prst="rect">
            <a:avLst/>
          </a:prstGeom>
          <a:solidFill>
            <a:srgbClr val="E0F2EE"/>
          </a:solidFill>
          <a:ln w="12700">
            <a:solidFill>
              <a:srgbClr val="1C7293"/>
            </a:solidFill>
            <a:prstDash val="solid"/>
          </a:ln>
        </p:spPr>
        <p:txBody>
          <a:bodyPr/>
          <a:lstStyle/>
          <a:p>
            <a:endParaRPr lang="de-AT"/>
          </a:p>
        </p:txBody>
      </p:sp>
      <p:sp>
        <p:nvSpPr>
          <p:cNvPr id="26" name="Text 23"/>
          <p:cNvSpPr/>
          <p:nvPr/>
        </p:nvSpPr>
        <p:spPr>
          <a:xfrm>
            <a:off x="5394960" y="2560320"/>
            <a:ext cx="3017520" cy="804672"/>
          </a:xfrm>
          <a:prstGeom prst="rect">
            <a:avLst/>
          </a:prstGeom>
          <a:noFill/>
          <a:ln/>
        </p:spPr>
        <p:txBody>
          <a:bodyPr wrap="square" lIns="0" tIns="0" rIns="0" bIns="0" rtlCol="0" anchor="ctr"/>
          <a:lstStyle/>
          <a:p>
            <a:pPr marL="0" indent="0" algn="ctr">
              <a:buNone/>
            </a:pPr>
            <a:r>
              <a:rPr lang="en-US" sz="1200" b="1" dirty="0">
                <a:solidFill>
                  <a:srgbClr val="2A9D8F"/>
                </a:solidFill>
                <a:latin typeface="Georgia" pitchFamily="34" charset="0"/>
                <a:ea typeface="Georgia" pitchFamily="34" charset="-122"/>
                <a:cs typeface="Georgia" pitchFamily="34" charset="-120"/>
              </a:rPr>
              <a:t>Correct</a:t>
            </a:r>
            <a:endParaRPr lang="en-US" sz="1200" dirty="0"/>
          </a:p>
          <a:p>
            <a:pPr marL="0" indent="0" algn="ctr">
              <a:buNone/>
            </a:pPr>
            <a:r>
              <a:rPr lang="en-US" sz="1000" dirty="0">
                <a:solidFill>
                  <a:srgbClr val="2A9D8F"/>
                </a:solidFill>
                <a:latin typeface="Calibri" pitchFamily="34" charset="0"/>
                <a:ea typeface="Calibri" pitchFamily="34" charset="-122"/>
                <a:cs typeface="Calibri" pitchFamily="34" charset="-120"/>
              </a:rPr>
              <a:t>(True Positive)</a:t>
            </a:r>
            <a:endParaRPr lang="en-US" sz="1200" dirty="0"/>
          </a:p>
          <a:p>
            <a:pPr marL="0" indent="0" algn="ctr">
              <a:buNone/>
            </a:pPr>
            <a:r>
              <a:rPr lang="en-US" sz="1000" b="1" dirty="0">
                <a:solidFill>
                  <a:srgbClr val="2A9D8F"/>
                </a:solidFill>
                <a:latin typeface="Calibri" pitchFamily="34" charset="0"/>
                <a:ea typeface="Calibri" pitchFamily="34" charset="-122"/>
                <a:cs typeface="Calibri" pitchFamily="34" charset="-120"/>
              </a:rPr>
              <a:t>Power = 1 - beta</a:t>
            </a:r>
            <a:endParaRPr lang="en-US" sz="1200" dirty="0"/>
          </a:p>
        </p:txBody>
      </p:sp>
      <p:sp>
        <p:nvSpPr>
          <p:cNvPr id="27" name="Shape 24"/>
          <p:cNvSpPr/>
          <p:nvPr/>
        </p:nvSpPr>
        <p:spPr>
          <a:xfrm>
            <a:off x="274320" y="4069080"/>
            <a:ext cx="8595360" cy="91440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28" name="Shape 25"/>
          <p:cNvSpPr/>
          <p:nvPr/>
        </p:nvSpPr>
        <p:spPr>
          <a:xfrm>
            <a:off x="274320" y="4069080"/>
            <a:ext cx="64008" cy="914400"/>
          </a:xfrm>
          <a:prstGeom prst="rect">
            <a:avLst/>
          </a:prstGeom>
          <a:solidFill>
            <a:srgbClr val="065A82"/>
          </a:solidFill>
          <a:ln w="12700">
            <a:solidFill>
              <a:srgbClr val="333333"/>
            </a:solidFill>
            <a:prstDash val="solid"/>
          </a:ln>
        </p:spPr>
        <p:txBody>
          <a:bodyPr/>
          <a:lstStyle/>
          <a:p>
            <a:endParaRPr lang="de-AT"/>
          </a:p>
        </p:txBody>
      </p:sp>
      <p:sp>
        <p:nvSpPr>
          <p:cNvPr id="29" name="Text 26"/>
          <p:cNvSpPr/>
          <p:nvPr/>
        </p:nvSpPr>
        <p:spPr>
          <a:xfrm>
            <a:off x="457200" y="4160520"/>
            <a:ext cx="8229600" cy="749808"/>
          </a:xfrm>
          <a:prstGeom prst="rect">
            <a:avLst/>
          </a:prstGeom>
          <a:noFill/>
          <a:ln/>
        </p:spPr>
        <p:txBody>
          <a:bodyPr wrap="square" lIns="0" tIns="0" rIns="0" bIns="0" rtlCol="0" anchor="t"/>
          <a:lstStyle/>
          <a:p>
            <a:pPr marL="0" indent="0">
              <a:buNone/>
            </a:pPr>
            <a:r>
              <a:rPr lang="en-US" sz="1100" b="1" dirty="0">
                <a:solidFill>
                  <a:srgbClr val="E9C46A"/>
                </a:solidFill>
                <a:latin typeface="Georgia" pitchFamily="34" charset="0"/>
                <a:ea typeface="Georgia" pitchFamily="34" charset="-122"/>
                <a:cs typeface="Georgia" pitchFamily="34" charset="-120"/>
              </a:rPr>
              <a:t>Type I error (alpha):</a:t>
            </a:r>
            <a:r>
              <a:rPr lang="en-US" sz="1100" dirty="0">
                <a:solidFill>
                  <a:srgbClr val="94A3B8"/>
                </a:solidFill>
                <a:latin typeface="Calibri" pitchFamily="34" charset="0"/>
                <a:ea typeface="Calibri" pitchFamily="34" charset="-122"/>
                <a:cs typeface="Calibri" pitchFamily="34" charset="-120"/>
              </a:rPr>
              <a:t> Rejecting H0 when it is actually true (false positive). Controlled by setting alpha.</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E9C46A"/>
                </a:solidFill>
                <a:latin typeface="Georgia" pitchFamily="34" charset="0"/>
                <a:ea typeface="Georgia" pitchFamily="34" charset="-122"/>
                <a:cs typeface="Georgia" pitchFamily="34" charset="-120"/>
              </a:rPr>
              <a:t>Type II error (beta):</a:t>
            </a:r>
            <a:r>
              <a:rPr lang="en-US" sz="1100" dirty="0">
                <a:solidFill>
                  <a:srgbClr val="94A3B8"/>
                </a:solidFill>
                <a:latin typeface="Calibri" pitchFamily="34" charset="0"/>
                <a:ea typeface="Calibri" pitchFamily="34" charset="-122"/>
                <a:cs typeface="Calibri" pitchFamily="34" charset="-120"/>
              </a:rPr>
              <a:t> Failing to reject H0 when it is false (false negative). Power = 1 - beta.</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E9C46A"/>
                </a:solidFill>
                <a:latin typeface="Georgia" pitchFamily="34" charset="0"/>
                <a:ea typeface="Georgia" pitchFamily="34" charset="-122"/>
                <a:cs typeface="Georgia" pitchFamily="34" charset="-120"/>
              </a:rPr>
              <a:t>Convention: alpha = 0.05 or 0.01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Type I and Type II Errors in Detail</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sp>
        <p:nvSpPr>
          <p:cNvPr id="8" name="Shape 5"/>
          <p:cNvSpPr/>
          <p:nvPr/>
        </p:nvSpPr>
        <p:spPr>
          <a:xfrm>
            <a:off x="274320" y="1051560"/>
            <a:ext cx="2743200" cy="384048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6"/>
          <p:cNvSpPr/>
          <p:nvPr/>
        </p:nvSpPr>
        <p:spPr>
          <a:xfrm>
            <a:off x="274320" y="1051560"/>
            <a:ext cx="2743200" cy="457200"/>
          </a:xfrm>
          <a:prstGeom prst="rect">
            <a:avLst/>
          </a:prstGeom>
          <a:solidFill>
            <a:srgbClr val="065A82"/>
          </a:solidFill>
          <a:ln w="12700">
            <a:solidFill>
              <a:srgbClr val="333333"/>
            </a:solidFill>
            <a:prstDash val="solid"/>
          </a:ln>
        </p:spPr>
        <p:txBody>
          <a:bodyPr/>
          <a:lstStyle/>
          <a:p>
            <a:endParaRPr lang="de-AT"/>
          </a:p>
        </p:txBody>
      </p:sp>
      <p:sp>
        <p:nvSpPr>
          <p:cNvPr id="10" name="Shape 7"/>
          <p:cNvSpPr/>
          <p:nvPr/>
        </p:nvSpPr>
        <p:spPr>
          <a:xfrm>
            <a:off x="274320" y="1051560"/>
            <a:ext cx="64008" cy="3840480"/>
          </a:xfrm>
          <a:prstGeom prst="rect">
            <a:avLst/>
          </a:prstGeom>
          <a:solidFill>
            <a:srgbClr val="E9C46A"/>
          </a:solidFill>
          <a:ln w="12700">
            <a:solidFill>
              <a:srgbClr val="333333"/>
            </a:solidFill>
            <a:prstDash val="solid"/>
          </a:ln>
        </p:spPr>
        <p:txBody>
          <a:bodyPr/>
          <a:lstStyle/>
          <a:p>
            <a:endParaRPr lang="de-AT"/>
          </a:p>
        </p:txBody>
      </p:sp>
      <p:sp>
        <p:nvSpPr>
          <p:cNvPr id="11" name="Text 8"/>
          <p:cNvSpPr/>
          <p:nvPr/>
        </p:nvSpPr>
        <p:spPr>
          <a:xfrm>
            <a:off x="411480" y="1078992"/>
            <a:ext cx="2468880" cy="40233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Type I Error (alpha)</a:t>
            </a:r>
            <a:endParaRPr lang="en-US" sz="1200" dirty="0"/>
          </a:p>
        </p:txBody>
      </p:sp>
      <p:sp>
        <p:nvSpPr>
          <p:cNvPr id="12" name="Text 9"/>
          <p:cNvSpPr/>
          <p:nvPr/>
        </p:nvSpPr>
        <p:spPr>
          <a:xfrm>
            <a:off x="438912" y="1572768"/>
            <a:ext cx="2468880" cy="3200400"/>
          </a:xfrm>
          <a:prstGeom prst="rect">
            <a:avLst/>
          </a:prstGeom>
          <a:noFill/>
          <a:ln/>
        </p:spPr>
        <p:txBody>
          <a:bodyPr wrap="square" lIns="0" tIns="0" rIns="0" bIns="0" rtlCol="0" anchor="t"/>
          <a:lstStyle/>
          <a:p>
            <a:pPr marL="0" indent="0">
              <a:buNone/>
            </a:pPr>
            <a:r>
              <a:rPr lang="en-US" sz="1100" dirty="0">
                <a:solidFill>
                  <a:srgbClr val="E2E8F0"/>
                </a:solidFill>
                <a:latin typeface="Calibri" pitchFamily="34" charset="0"/>
                <a:ea typeface="Calibri" pitchFamily="34" charset="-122"/>
                <a:cs typeface="Calibri" pitchFamily="34" charset="-120"/>
              </a:rPr>
              <a:t>Occurs when sample results lead to rejecting H0 when it is true. The probability is called the level of significance or alpha. Set by the researcher (typically 0.05 or 0.01).</a:t>
            </a:r>
            <a:endParaRPr lang="en-US" sz="1100" dirty="0"/>
          </a:p>
        </p:txBody>
      </p:sp>
      <p:sp>
        <p:nvSpPr>
          <p:cNvPr id="13" name="Shape 10"/>
          <p:cNvSpPr/>
          <p:nvPr/>
        </p:nvSpPr>
        <p:spPr>
          <a:xfrm>
            <a:off x="1179576" y="-178307"/>
            <a:ext cx="2743200" cy="384048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14" name="Shape 11"/>
          <p:cNvSpPr/>
          <p:nvPr/>
        </p:nvSpPr>
        <p:spPr>
          <a:xfrm>
            <a:off x="3200400" y="1051560"/>
            <a:ext cx="2743200" cy="457200"/>
          </a:xfrm>
          <a:prstGeom prst="rect">
            <a:avLst/>
          </a:prstGeom>
          <a:solidFill>
            <a:srgbClr val="1C7293"/>
          </a:solidFill>
          <a:ln w="12700">
            <a:solidFill>
              <a:srgbClr val="333333"/>
            </a:solidFill>
            <a:prstDash val="solid"/>
          </a:ln>
        </p:spPr>
        <p:txBody>
          <a:bodyPr/>
          <a:lstStyle/>
          <a:p>
            <a:endParaRPr lang="de-AT"/>
          </a:p>
        </p:txBody>
      </p:sp>
      <p:sp>
        <p:nvSpPr>
          <p:cNvPr id="15" name="Shape 12"/>
          <p:cNvSpPr/>
          <p:nvPr/>
        </p:nvSpPr>
        <p:spPr>
          <a:xfrm>
            <a:off x="3200400" y="1051560"/>
            <a:ext cx="64008" cy="3840480"/>
          </a:xfrm>
          <a:prstGeom prst="rect">
            <a:avLst/>
          </a:prstGeom>
          <a:solidFill>
            <a:srgbClr val="1C7293"/>
          </a:solidFill>
          <a:ln w="12700">
            <a:solidFill>
              <a:srgbClr val="333333"/>
            </a:solidFill>
            <a:prstDash val="solid"/>
          </a:ln>
        </p:spPr>
        <p:txBody>
          <a:bodyPr/>
          <a:lstStyle/>
          <a:p>
            <a:endParaRPr lang="de-AT"/>
          </a:p>
        </p:txBody>
      </p:sp>
      <p:sp>
        <p:nvSpPr>
          <p:cNvPr id="16" name="Text 13"/>
          <p:cNvSpPr/>
          <p:nvPr/>
        </p:nvSpPr>
        <p:spPr>
          <a:xfrm>
            <a:off x="3337560" y="1078992"/>
            <a:ext cx="2468880" cy="40233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Type II Error (beta)</a:t>
            </a:r>
            <a:endParaRPr lang="en-US" sz="1200" dirty="0"/>
          </a:p>
        </p:txBody>
      </p:sp>
      <p:sp>
        <p:nvSpPr>
          <p:cNvPr id="17" name="Text 14"/>
          <p:cNvSpPr/>
          <p:nvPr/>
        </p:nvSpPr>
        <p:spPr>
          <a:xfrm>
            <a:off x="3364992" y="1572768"/>
            <a:ext cx="2468880" cy="3200400"/>
          </a:xfrm>
          <a:prstGeom prst="rect">
            <a:avLst/>
          </a:prstGeom>
          <a:noFill/>
          <a:ln/>
        </p:spPr>
        <p:txBody>
          <a:bodyPr wrap="square" lIns="0" tIns="0" rIns="0" bIns="0" rtlCol="0" anchor="t"/>
          <a:lstStyle/>
          <a:p>
            <a:pPr marL="0" indent="0">
              <a:buNone/>
            </a:pPr>
            <a:r>
              <a:rPr lang="en-US" sz="1100" dirty="0">
                <a:solidFill>
                  <a:srgbClr val="E2E8F0"/>
                </a:solidFill>
                <a:latin typeface="Calibri" pitchFamily="34" charset="0"/>
                <a:ea typeface="Calibri" pitchFamily="34" charset="-122"/>
                <a:cs typeface="Calibri" pitchFamily="34" charset="-120"/>
              </a:rPr>
              <a:t>Occurs when sample results fail to reject H0 when it is false. The probability (beta) depends on the actual value of the population parameter. Unlike alpha, beta is not directly controlled by the researcher.</a:t>
            </a:r>
            <a:endParaRPr lang="en-US" sz="1100" dirty="0"/>
          </a:p>
        </p:txBody>
      </p:sp>
      <p:sp>
        <p:nvSpPr>
          <p:cNvPr id="18" name="Shape 15"/>
          <p:cNvSpPr/>
          <p:nvPr/>
        </p:nvSpPr>
        <p:spPr>
          <a:xfrm>
            <a:off x="6126480" y="1051560"/>
            <a:ext cx="2743200" cy="384048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19" name="Shape 16"/>
          <p:cNvSpPr/>
          <p:nvPr/>
        </p:nvSpPr>
        <p:spPr>
          <a:xfrm>
            <a:off x="6126480" y="1051560"/>
            <a:ext cx="2743200" cy="457200"/>
          </a:xfrm>
          <a:prstGeom prst="rect">
            <a:avLst/>
          </a:prstGeom>
          <a:solidFill>
            <a:srgbClr val="065A82"/>
          </a:solidFill>
          <a:ln w="12700">
            <a:solidFill>
              <a:srgbClr val="333333"/>
            </a:solidFill>
            <a:prstDash val="solid"/>
          </a:ln>
        </p:spPr>
        <p:txBody>
          <a:bodyPr/>
          <a:lstStyle/>
          <a:p>
            <a:endParaRPr lang="de-AT"/>
          </a:p>
        </p:txBody>
      </p:sp>
      <p:sp>
        <p:nvSpPr>
          <p:cNvPr id="20" name="Shape 17"/>
          <p:cNvSpPr/>
          <p:nvPr/>
        </p:nvSpPr>
        <p:spPr>
          <a:xfrm>
            <a:off x="6126480" y="1051560"/>
            <a:ext cx="64008" cy="3840480"/>
          </a:xfrm>
          <a:prstGeom prst="rect">
            <a:avLst/>
          </a:prstGeom>
          <a:solidFill>
            <a:srgbClr val="065A82"/>
          </a:solidFill>
          <a:ln w="12700">
            <a:solidFill>
              <a:srgbClr val="333333"/>
            </a:solidFill>
            <a:prstDash val="solid"/>
          </a:ln>
        </p:spPr>
        <p:txBody>
          <a:bodyPr/>
          <a:lstStyle/>
          <a:p>
            <a:endParaRPr lang="de-AT"/>
          </a:p>
        </p:txBody>
      </p:sp>
      <p:sp>
        <p:nvSpPr>
          <p:cNvPr id="21" name="Text 18"/>
          <p:cNvSpPr/>
          <p:nvPr/>
        </p:nvSpPr>
        <p:spPr>
          <a:xfrm>
            <a:off x="6263640" y="1078992"/>
            <a:ext cx="2468880" cy="40233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The Trade-Off</a:t>
            </a:r>
            <a:endParaRPr lang="en-US" sz="1200" dirty="0"/>
          </a:p>
        </p:txBody>
      </p:sp>
      <p:sp>
        <p:nvSpPr>
          <p:cNvPr id="22" name="Text 19"/>
          <p:cNvSpPr/>
          <p:nvPr/>
        </p:nvSpPr>
        <p:spPr>
          <a:xfrm>
            <a:off x="6291072" y="1572768"/>
            <a:ext cx="2468880" cy="3200400"/>
          </a:xfrm>
          <a:prstGeom prst="rect">
            <a:avLst/>
          </a:prstGeom>
          <a:noFill/>
          <a:ln/>
        </p:spPr>
        <p:txBody>
          <a:bodyPr wrap="square" lIns="0" tIns="0" rIns="0" bIns="0" rtlCol="0" anchor="t"/>
          <a:lstStyle/>
          <a:p>
            <a:pPr marL="0" indent="0">
              <a:buNone/>
            </a:pPr>
            <a:r>
              <a:rPr lang="en-US" sz="1100" dirty="0">
                <a:solidFill>
                  <a:srgbClr val="E2E8F0"/>
                </a:solidFill>
                <a:latin typeface="Calibri" pitchFamily="34" charset="0"/>
                <a:ea typeface="Calibri" pitchFamily="34" charset="-122"/>
                <a:cs typeface="Calibri" pitchFamily="34" charset="-120"/>
              </a:rPr>
              <a:t>When choosing a significance level, there is an inherent trade-off: decreasing alpha (stricter) increases beta, and vice versa. A good test should reject H0 when it is false (high power).</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Significance Levels in Marketing</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pic>
        <p:nvPicPr>
          <p:cNvPr id="7" name="Image 1" descr="preencoded.png"/>
          <p:cNvPicPr>
            <a:picLocks noChangeAspect="1"/>
          </p:cNvPicPr>
          <p:nvPr/>
        </p:nvPicPr>
        <p:blipFill>
          <a:blip r:embed="rId4"/>
          <a:srcRect/>
          <a:stretch/>
        </p:blipFill>
        <p:spPr>
          <a:xfrm>
            <a:off x="274320" y="960120"/>
            <a:ext cx="8595360" cy="2971800"/>
          </a:xfrm>
          <a:prstGeom prst="rect">
            <a:avLst/>
          </a:prstGeom>
        </p:spPr>
      </p:pic>
      <p:sp>
        <p:nvSpPr>
          <p:cNvPr id="8" name="Shape 4"/>
          <p:cNvSpPr/>
          <p:nvPr/>
        </p:nvSpPr>
        <p:spPr>
          <a:xfrm>
            <a:off x="274320" y="4041648"/>
            <a:ext cx="8595360" cy="914400"/>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9" name="Shape 5"/>
          <p:cNvSpPr/>
          <p:nvPr/>
        </p:nvSpPr>
        <p:spPr>
          <a:xfrm>
            <a:off x="274320" y="4041648"/>
            <a:ext cx="64008" cy="914400"/>
          </a:xfrm>
          <a:prstGeom prst="rect">
            <a:avLst/>
          </a:prstGeom>
          <a:solidFill>
            <a:srgbClr val="065A82"/>
          </a:solidFill>
          <a:ln w="12700">
            <a:solidFill>
              <a:srgbClr val="333333"/>
            </a:solidFill>
            <a:prstDash val="solid"/>
          </a:ln>
        </p:spPr>
        <p:txBody>
          <a:bodyPr/>
          <a:lstStyle/>
          <a:p>
            <a:endParaRPr lang="de-AT"/>
          </a:p>
        </p:txBody>
      </p:sp>
      <p:sp>
        <p:nvSpPr>
          <p:cNvPr id="10" name="Text 6"/>
          <p:cNvSpPr/>
          <p:nvPr/>
        </p:nvSpPr>
        <p:spPr>
          <a:xfrm>
            <a:off x="457200" y="4133088"/>
            <a:ext cx="8229600" cy="749808"/>
          </a:xfrm>
          <a:prstGeom prst="rect">
            <a:avLst/>
          </a:prstGeom>
          <a:noFill/>
          <a:ln/>
        </p:spPr>
        <p:txBody>
          <a:bodyPr wrap="square" lIns="0" tIns="0" rIns="0" bIns="0" rtlCol="0" anchor="ctr"/>
          <a:lstStyle/>
          <a:p>
            <a:pPr marL="0" indent="0">
              <a:buNone/>
            </a:pPr>
            <a:r>
              <a:rPr lang="en-US" sz="1100" b="1" dirty="0">
                <a:solidFill>
                  <a:srgbClr val="065A82"/>
                </a:solidFill>
                <a:latin typeface="Georgia" pitchFamily="34" charset="0"/>
                <a:ea typeface="Georgia" pitchFamily="34" charset="-122"/>
                <a:cs typeface="Georgia" pitchFamily="34" charset="-120"/>
              </a:rPr>
              <a:t>alpha = 0.05:</a:t>
            </a:r>
            <a:r>
              <a:rPr lang="en-US" sz="1100" dirty="0">
                <a:solidFill>
                  <a:srgbClr val="94A3B8"/>
                </a:solidFill>
                <a:latin typeface="Calibri" pitchFamily="34" charset="0"/>
                <a:ea typeface="Calibri" pitchFamily="34" charset="-122"/>
                <a:cs typeface="Calibri" pitchFamily="34" charset="-120"/>
              </a:rPr>
              <a:t> 5% risk of false positive. Critical z = ±1.96. The standard in marketing research.   |   </a:t>
            </a:r>
            <a:r>
              <a:rPr lang="en-US" sz="1100" b="1" dirty="0">
                <a:solidFill>
                  <a:srgbClr val="1C7293"/>
                </a:solidFill>
                <a:latin typeface="Georgia" pitchFamily="34" charset="0"/>
                <a:ea typeface="Georgia" pitchFamily="34" charset="-122"/>
                <a:cs typeface="Georgia" pitchFamily="34" charset="-120"/>
              </a:rPr>
              <a:t>alpha = 0.01:</a:t>
            </a:r>
            <a:r>
              <a:rPr lang="en-US" sz="1100" dirty="0">
                <a:solidFill>
                  <a:srgbClr val="94A3B8"/>
                </a:solidFill>
                <a:latin typeface="Calibri" pitchFamily="34" charset="0"/>
                <a:ea typeface="Calibri" pitchFamily="34" charset="-122"/>
                <a:cs typeface="Calibri" pitchFamily="34" charset="-120"/>
              </a:rPr>
              <a:t> 1% risk. Critical z = ±2.576. More conservative — used when false positives are costly.</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0" y="0"/>
            <a:ext cx="73152" cy="5143500"/>
          </a:xfrm>
          <a:prstGeom prst="rect">
            <a:avLst/>
          </a:prstGeom>
          <a:solidFill>
            <a:srgbClr val="065A82"/>
          </a:solidFill>
          <a:ln w="12700">
            <a:solidFill>
              <a:srgbClr val="333333"/>
            </a:solidFill>
            <a:prstDash val="solid"/>
          </a:ln>
        </p:spPr>
        <p:txBody>
          <a:bodyPr/>
          <a:lstStyle/>
          <a:p>
            <a:endParaRPr lang="de-AT"/>
          </a:p>
        </p:txBody>
      </p:sp>
      <p:sp>
        <p:nvSpPr>
          <p:cNvPr id="4" name="Shape 2"/>
          <p:cNvSpPr/>
          <p:nvPr/>
        </p:nvSpPr>
        <p:spPr>
          <a:xfrm>
            <a:off x="256032" y="256032"/>
            <a:ext cx="502920" cy="502920"/>
          </a:xfrm>
          <a:prstGeom prst="ellipse">
            <a:avLst/>
          </a:prstGeom>
          <a:solidFill>
            <a:srgbClr val="065A82"/>
          </a:solidFill>
          <a:ln w="12700">
            <a:solidFill>
              <a:srgbClr val="1C7293"/>
            </a:solidFill>
            <a:prstDash val="solid"/>
          </a:ln>
        </p:spPr>
        <p:txBody>
          <a:bodyPr/>
          <a:lstStyle/>
          <a:p>
            <a:endParaRPr lang="de-AT"/>
          </a:p>
        </p:txBody>
      </p:sp>
      <p:pic>
        <p:nvPicPr>
          <p:cNvPr id="5" name="Image 0" descr="preencoded.png"/>
          <p:cNvPicPr>
            <a:picLocks noChangeAspect="1"/>
          </p:cNvPicPr>
          <p:nvPr/>
        </p:nvPicPr>
        <p:blipFill>
          <a:blip r:embed="rId3"/>
          <a:stretch>
            <a:fillRect/>
          </a:stretch>
        </p:blipFill>
        <p:spPr>
          <a:xfrm>
            <a:off x="338328" y="329184"/>
            <a:ext cx="338328" cy="338328"/>
          </a:xfrm>
          <a:prstGeom prst="rect">
            <a:avLst/>
          </a:prstGeom>
        </p:spPr>
      </p:pic>
      <p:sp>
        <p:nvSpPr>
          <p:cNvPr id="6" name="Text 3"/>
          <p:cNvSpPr/>
          <p:nvPr/>
        </p:nvSpPr>
        <p:spPr>
          <a:xfrm>
            <a:off x="914400" y="237744"/>
            <a:ext cx="7863840" cy="548640"/>
          </a:xfrm>
          <a:prstGeom prst="rect">
            <a:avLst/>
          </a:prstGeom>
          <a:noFill/>
          <a:ln/>
        </p:spPr>
        <p:txBody>
          <a:bodyPr wrap="square" lIns="0" tIns="0" rIns="0" bIns="0" rtlCol="0" anchor="ctr"/>
          <a:lstStyle/>
          <a:p>
            <a:pPr marL="0" indent="0" algn="l">
              <a:buNone/>
            </a:pPr>
            <a:r>
              <a:rPr lang="en-US" sz="2800" b="1" dirty="0">
                <a:solidFill>
                  <a:srgbClr val="1E293B"/>
                </a:solidFill>
                <a:latin typeface="Georgia" pitchFamily="34" charset="0"/>
                <a:ea typeface="Georgia" pitchFamily="34" charset="-122"/>
                <a:cs typeface="Georgia" pitchFamily="34" charset="-120"/>
              </a:rPr>
              <a:t>Steps 4-6: Test Statistic &amp; p-Value</a:t>
            </a:r>
            <a:endParaRPr lang="en-US" sz="2800" dirty="0"/>
          </a:p>
        </p:txBody>
      </p:sp>
      <p:sp>
        <p:nvSpPr>
          <p:cNvPr id="7" name="Shape 4"/>
          <p:cNvSpPr/>
          <p:nvPr/>
        </p:nvSpPr>
        <p:spPr>
          <a:xfrm>
            <a:off x="914400" y="822960"/>
            <a:ext cx="914400" cy="36576"/>
          </a:xfrm>
          <a:prstGeom prst="rect">
            <a:avLst/>
          </a:prstGeom>
          <a:solidFill>
            <a:srgbClr val="E9C46A"/>
          </a:solidFill>
          <a:ln w="12700">
            <a:solidFill>
              <a:srgbClr val="333333"/>
            </a:solidFill>
            <a:prstDash val="solid"/>
          </a:ln>
        </p:spPr>
        <p:txBody>
          <a:bodyPr/>
          <a:lstStyle/>
          <a:p>
            <a:endParaRPr lang="de-AT"/>
          </a:p>
        </p:txBody>
      </p:sp>
      <p:pic>
        <p:nvPicPr>
          <p:cNvPr id="8" name="Image 1" descr="preencoded.png"/>
          <p:cNvPicPr>
            <a:picLocks noChangeAspect="1"/>
          </p:cNvPicPr>
          <p:nvPr/>
        </p:nvPicPr>
        <p:blipFill>
          <a:blip r:embed="rId4"/>
          <a:srcRect/>
          <a:stretch/>
        </p:blipFill>
        <p:spPr>
          <a:xfrm>
            <a:off x="228600" y="1005840"/>
            <a:ext cx="4663440" cy="3931920"/>
          </a:xfrm>
          <a:prstGeom prst="rect">
            <a:avLst/>
          </a:prstGeom>
        </p:spPr>
      </p:pic>
      <p:sp>
        <p:nvSpPr>
          <p:cNvPr id="9" name="Shape 5"/>
          <p:cNvSpPr/>
          <p:nvPr/>
        </p:nvSpPr>
        <p:spPr>
          <a:xfrm>
            <a:off x="5074920" y="1005840"/>
            <a:ext cx="3794760" cy="393192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de-AT"/>
          </a:p>
        </p:txBody>
      </p:sp>
      <p:sp>
        <p:nvSpPr>
          <p:cNvPr id="10" name="Shape 6"/>
          <p:cNvSpPr/>
          <p:nvPr/>
        </p:nvSpPr>
        <p:spPr>
          <a:xfrm>
            <a:off x="5074920" y="1005840"/>
            <a:ext cx="64008" cy="3931920"/>
          </a:xfrm>
          <a:prstGeom prst="rect">
            <a:avLst/>
          </a:prstGeom>
          <a:solidFill>
            <a:srgbClr val="065A82"/>
          </a:solidFill>
          <a:ln w="12700">
            <a:solidFill>
              <a:srgbClr val="333333"/>
            </a:solidFill>
            <a:prstDash val="solid"/>
          </a:ln>
        </p:spPr>
        <p:txBody>
          <a:bodyPr/>
          <a:lstStyle/>
          <a:p>
            <a:endParaRPr lang="de-AT"/>
          </a:p>
        </p:txBody>
      </p:sp>
      <p:sp>
        <p:nvSpPr>
          <p:cNvPr id="11" name="Text 7"/>
          <p:cNvSpPr/>
          <p:nvPr/>
        </p:nvSpPr>
        <p:spPr>
          <a:xfrm>
            <a:off x="5257800" y="1097280"/>
            <a:ext cx="3429000" cy="34747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Interpreting p-Values</a:t>
            </a:r>
            <a:endParaRPr lang="en-US" sz="1300" dirty="0"/>
          </a:p>
        </p:txBody>
      </p:sp>
      <p:sp>
        <p:nvSpPr>
          <p:cNvPr id="12" name="Text 8"/>
          <p:cNvSpPr/>
          <p:nvPr/>
        </p:nvSpPr>
        <p:spPr>
          <a:xfrm>
            <a:off x="5257800" y="1508760"/>
            <a:ext cx="3429000" cy="3246120"/>
          </a:xfrm>
          <a:prstGeom prst="rect">
            <a:avLst/>
          </a:prstGeom>
          <a:noFill/>
          <a:ln/>
        </p:spPr>
        <p:txBody>
          <a:bodyPr wrap="square" lIns="0" tIns="0" rIns="0" bIns="0" rtlCol="0" anchor="t"/>
          <a:lstStyle/>
          <a:p>
            <a:pPr marL="0" indent="0">
              <a:buNone/>
            </a:pPr>
            <a:r>
              <a:rPr lang="en-US" sz="1100" b="1" dirty="0">
                <a:solidFill>
                  <a:srgbClr val="E9C46A"/>
                </a:solidFill>
                <a:latin typeface="Georgia" pitchFamily="34" charset="0"/>
                <a:ea typeface="Georgia" pitchFamily="34" charset="-122"/>
                <a:cs typeface="Georgia" pitchFamily="34" charset="-120"/>
              </a:rPr>
              <a:t>p &lt; 0.05:</a:t>
            </a:r>
            <a:r>
              <a:rPr lang="en-US" sz="1100" dirty="0">
                <a:solidFill>
                  <a:srgbClr val="94A3B8"/>
                </a:solidFill>
                <a:latin typeface="Calibri" pitchFamily="34" charset="0"/>
                <a:ea typeface="Calibri" pitchFamily="34" charset="-122"/>
                <a:cs typeface="Calibri" pitchFamily="34" charset="-120"/>
              </a:rPr>
              <a:t> Statistically significant. Strong evidence against H0. Reject H0.</a:t>
            </a:r>
            <a:r>
              <a:rPr lang="en-US" sz="1100" dirty="0">
                <a:solidFill>
                  <a:srgbClr val="000000"/>
                </a:solidFill>
                <a:latin typeface="Calibri" pitchFamily="34" charset="0"/>
                <a:ea typeface="Calibri" pitchFamily="34" charset="-122"/>
                <a:cs typeface="Calibri" pitchFamily="34" charset="-120"/>
              </a:rPr>
              <a:t>
</a:t>
            </a:r>
            <a:r>
              <a:rPr lang="en-US" sz="1100" b="1" dirty="0">
                <a:solidFill>
                  <a:srgbClr val="2A9D8F"/>
                </a:solidFill>
                <a:latin typeface="Georgia" pitchFamily="34" charset="0"/>
                <a:ea typeface="Georgia" pitchFamily="34" charset="-122"/>
                <a:cs typeface="Georgia" pitchFamily="34" charset="-120"/>
              </a:rPr>
              <a:t>p &gt; 0.05:</a:t>
            </a:r>
            <a:r>
              <a:rPr lang="en-US" sz="1100" dirty="0">
                <a:solidFill>
                  <a:srgbClr val="94A3B8"/>
                </a:solidFill>
                <a:latin typeface="Calibri" pitchFamily="34" charset="0"/>
                <a:ea typeface="Calibri" pitchFamily="34" charset="-122"/>
                <a:cs typeface="Calibri" pitchFamily="34" charset="-120"/>
              </a:rPr>
              <a:t> Not statistically significant. Weak evidence against H0. Fail to reject H0.</a:t>
            </a:r>
            <a:r>
              <a:rPr lang="en-US" sz="1100" dirty="0">
                <a:solidFill>
                  <a:srgbClr val="000000"/>
                </a:solidFill>
                <a:latin typeface="Calibri" pitchFamily="34" charset="0"/>
                <a:ea typeface="Calibri" pitchFamily="34" charset="-122"/>
                <a:cs typeface="Calibri" pitchFamily="34" charset="-120"/>
              </a:rPr>
              <a:t>
</a:t>
            </a:r>
            <a:r>
              <a:rPr lang="en-US" sz="1100" i="1" dirty="0">
                <a:solidFill>
                  <a:srgbClr val="334155"/>
                </a:solidFill>
                <a:latin typeface="Calibri" pitchFamily="34" charset="0"/>
                <a:ea typeface="Calibri" pitchFamily="34" charset="-122"/>
                <a:cs typeface="Calibri" pitchFamily="34" charset="-120"/>
              </a:rPr>
              <a:t>The p-value is the probability of observing a result as extreme as the data, assuming H0 is true.</a:t>
            </a:r>
            <a:r>
              <a:rPr lang="en-US" sz="1100" dirty="0">
                <a:solidFill>
                  <a:srgbClr val="000000"/>
                </a:solidFill>
                <a:latin typeface="Calibri" pitchFamily="34" charset="0"/>
                <a:ea typeface="Calibri" pitchFamily="34" charset="-122"/>
                <a:cs typeface="Calibri" pitchFamily="34" charset="-120"/>
              </a:rPr>
              <a:t>
</a:t>
            </a:r>
            <a:r>
              <a:rPr lang="en-US" sz="1100" i="1" dirty="0">
                <a:solidFill>
                  <a:srgbClr val="334155"/>
                </a:solidFill>
                <a:latin typeface="Calibri" pitchFamily="34" charset="0"/>
                <a:ea typeface="Calibri" pitchFamily="34" charset="-122"/>
                <a:cs typeface="Calibri" pitchFamily="34" charset="-120"/>
              </a:rPr>
              <a:t>Smaller p does not mean a larger or more important effect.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1480" y="292608"/>
            <a:ext cx="502920" cy="50292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93776" y="365760"/>
            <a:ext cx="338328" cy="338328"/>
          </a:xfrm>
          <a:prstGeom prst="rect">
            <a:avLst/>
          </a:prstGeom>
        </p:spPr>
      </p:pic>
      <p:sp>
        <p:nvSpPr>
          <p:cNvPr id="5" name="Text 2"/>
          <p:cNvSpPr/>
          <p:nvPr/>
        </p:nvSpPr>
        <p:spPr>
          <a:xfrm>
            <a:off x="1051560" y="274320"/>
            <a:ext cx="777240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Example: Applying the Hypothesis Test</a:t>
            </a:r>
            <a:endParaRPr lang="en-US" sz="3000" dirty="0"/>
          </a:p>
        </p:txBody>
      </p:sp>
      <p:sp>
        <p:nvSpPr>
          <p:cNvPr id="6" name="Shape 3"/>
          <p:cNvSpPr/>
          <p:nvPr/>
        </p:nvSpPr>
        <p:spPr>
          <a:xfrm>
            <a:off x="1051560" y="859536"/>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Shape 4"/>
          <p:cNvSpPr/>
          <p:nvPr/>
        </p:nvSpPr>
        <p:spPr>
          <a:xfrm>
            <a:off x="274320" y="1024128"/>
            <a:ext cx="8595360" cy="749808"/>
          </a:xfrm>
          <a:prstGeom prst="rect">
            <a:avLst/>
          </a:prstGeom>
          <a:solidFill>
            <a:srgbClr val="1A3A5C"/>
          </a:solidFill>
          <a:ln w="12700">
            <a:solidFill>
              <a:srgbClr val="1C7293"/>
            </a:solidFill>
            <a:prstDash val="solid"/>
          </a:ln>
          <a:effectLst>
            <a:outerShdw blurRad="76200" dist="25400" dir="8100000" algn="bl" rotWithShape="0">
              <a:srgbClr val="000000">
                <a:alpha val="12000"/>
              </a:srgbClr>
            </a:outerShdw>
          </a:effectLst>
        </p:spPr>
        <p:txBody>
          <a:bodyPr/>
          <a:lstStyle/>
          <a:p>
            <a:endParaRPr lang="de-AT"/>
          </a:p>
        </p:txBody>
      </p:sp>
      <p:sp>
        <p:nvSpPr>
          <p:cNvPr id="8" name="Shape 5"/>
          <p:cNvSpPr/>
          <p:nvPr/>
        </p:nvSpPr>
        <p:spPr>
          <a:xfrm>
            <a:off x="274320" y="1024128"/>
            <a:ext cx="64008" cy="749808"/>
          </a:xfrm>
          <a:prstGeom prst="rect">
            <a:avLst/>
          </a:prstGeom>
          <a:solidFill>
            <a:srgbClr val="1C7293"/>
          </a:solidFill>
          <a:ln w="12700">
            <a:solidFill>
              <a:srgbClr val="333333"/>
            </a:solidFill>
            <a:prstDash val="solid"/>
          </a:ln>
        </p:spPr>
        <p:txBody>
          <a:bodyPr/>
          <a:lstStyle/>
          <a:p>
            <a:endParaRPr lang="de-AT"/>
          </a:p>
        </p:txBody>
      </p:sp>
      <p:sp>
        <p:nvSpPr>
          <p:cNvPr id="9" name="Text 6"/>
          <p:cNvSpPr/>
          <p:nvPr/>
        </p:nvSpPr>
        <p:spPr>
          <a:xfrm>
            <a:off x="457200" y="1078992"/>
            <a:ext cx="8229600" cy="621792"/>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Gender and Customer Satisfaction — p = 0.069 &gt; 0.05. We fail to reject H0.</a:t>
            </a:r>
            <a:endParaRPr lang="en-US" sz="1200" dirty="0"/>
          </a:p>
        </p:txBody>
      </p:sp>
      <p:sp>
        <p:nvSpPr>
          <p:cNvPr id="10" name="Shape 7"/>
          <p:cNvSpPr/>
          <p:nvPr/>
        </p:nvSpPr>
        <p:spPr>
          <a:xfrm>
            <a:off x="274320" y="1920240"/>
            <a:ext cx="8595360" cy="530352"/>
          </a:xfrm>
          <a:prstGeom prst="rect">
            <a:avLst/>
          </a:prstGeom>
          <a:solidFill>
            <a:srgbClr val="FFFFFF"/>
          </a:solidFill>
          <a:ln w="12700">
            <a:solidFill>
              <a:srgbClr val="E2E8F0"/>
            </a:solidFill>
            <a:prstDash val="solid"/>
          </a:ln>
        </p:spPr>
        <p:txBody>
          <a:bodyPr/>
          <a:lstStyle/>
          <a:p>
            <a:endParaRPr lang="de-AT"/>
          </a:p>
        </p:txBody>
      </p:sp>
      <p:sp>
        <p:nvSpPr>
          <p:cNvPr id="11" name="Text 8"/>
          <p:cNvSpPr/>
          <p:nvPr/>
        </p:nvSpPr>
        <p:spPr>
          <a:xfrm>
            <a:off x="411480" y="1993392"/>
            <a:ext cx="1188720" cy="384048"/>
          </a:xfrm>
          <a:prstGeom prst="rect">
            <a:avLst/>
          </a:prstGeom>
          <a:noFill/>
          <a:ln/>
        </p:spPr>
        <p:txBody>
          <a:bodyPr wrap="square" lIns="0" tIns="0" rIns="0" bIns="0" rtlCol="0" anchor="ctr"/>
          <a:lstStyle/>
          <a:p>
            <a:pPr marL="0" indent="0">
              <a:buNone/>
            </a:pPr>
            <a:r>
              <a:rPr lang="en-US" sz="1100" b="1" dirty="0">
                <a:solidFill>
                  <a:srgbClr val="065A82"/>
                </a:solidFill>
                <a:latin typeface="Georgia" pitchFamily="34" charset="0"/>
                <a:ea typeface="Georgia" pitchFamily="34" charset="-122"/>
                <a:cs typeface="Georgia" pitchFamily="34" charset="-120"/>
              </a:rPr>
              <a:t>H0 / Ha</a:t>
            </a:r>
            <a:endParaRPr lang="en-US" sz="1100" dirty="0"/>
          </a:p>
        </p:txBody>
      </p:sp>
      <p:sp>
        <p:nvSpPr>
          <p:cNvPr id="12" name="Text 9"/>
          <p:cNvSpPr/>
          <p:nvPr/>
        </p:nvSpPr>
        <p:spPr>
          <a:xfrm>
            <a:off x="1737360" y="1993392"/>
            <a:ext cx="69494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H0: Mean CS Male = Mean CS Female.   Ha: Mean CS Male != Mean CS Female.</a:t>
            </a:r>
            <a:endParaRPr lang="en-US" sz="1100" dirty="0"/>
          </a:p>
        </p:txBody>
      </p:sp>
      <p:sp>
        <p:nvSpPr>
          <p:cNvPr id="13" name="Shape 10"/>
          <p:cNvSpPr/>
          <p:nvPr/>
        </p:nvSpPr>
        <p:spPr>
          <a:xfrm>
            <a:off x="274320" y="2532888"/>
            <a:ext cx="8595360" cy="530352"/>
          </a:xfrm>
          <a:prstGeom prst="rect">
            <a:avLst/>
          </a:prstGeom>
          <a:solidFill>
            <a:srgbClr val="F0F4F8"/>
          </a:solidFill>
          <a:ln w="12700">
            <a:solidFill>
              <a:srgbClr val="E2E8F0"/>
            </a:solidFill>
            <a:prstDash val="solid"/>
          </a:ln>
        </p:spPr>
        <p:txBody>
          <a:bodyPr/>
          <a:lstStyle/>
          <a:p>
            <a:endParaRPr lang="de-AT"/>
          </a:p>
        </p:txBody>
      </p:sp>
      <p:sp>
        <p:nvSpPr>
          <p:cNvPr id="14" name="Text 11"/>
          <p:cNvSpPr/>
          <p:nvPr/>
        </p:nvSpPr>
        <p:spPr>
          <a:xfrm>
            <a:off x="411480" y="2606040"/>
            <a:ext cx="1188720" cy="384048"/>
          </a:xfrm>
          <a:prstGeom prst="rect">
            <a:avLst/>
          </a:prstGeom>
          <a:noFill/>
          <a:ln/>
        </p:spPr>
        <p:txBody>
          <a:bodyPr wrap="square" lIns="0" tIns="0" rIns="0" bIns="0" rtlCol="0" anchor="ctr"/>
          <a:lstStyle/>
          <a:p>
            <a:pPr marL="0" indent="0">
              <a:buNone/>
            </a:pPr>
            <a:r>
              <a:rPr lang="en-US" sz="1100" b="1" dirty="0">
                <a:solidFill>
                  <a:srgbClr val="065A82"/>
                </a:solidFill>
                <a:latin typeface="Georgia" pitchFamily="34" charset="0"/>
                <a:ea typeface="Georgia" pitchFamily="34" charset="-122"/>
                <a:cs typeface="Georgia" pitchFamily="34" charset="-120"/>
              </a:rPr>
              <a:t>Test</a:t>
            </a:r>
            <a:endParaRPr lang="en-US" sz="1100" dirty="0"/>
          </a:p>
        </p:txBody>
      </p:sp>
      <p:sp>
        <p:nvSpPr>
          <p:cNvPr id="15" name="Text 12"/>
          <p:cNvSpPr/>
          <p:nvPr/>
        </p:nvSpPr>
        <p:spPr>
          <a:xfrm>
            <a:off x="1737360" y="2606040"/>
            <a:ext cx="69494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t-Test for Independent Samples (IV nominal, DV metric).</a:t>
            </a:r>
            <a:endParaRPr lang="en-US" sz="1100" dirty="0"/>
          </a:p>
        </p:txBody>
      </p:sp>
      <p:sp>
        <p:nvSpPr>
          <p:cNvPr id="16" name="Shape 13"/>
          <p:cNvSpPr/>
          <p:nvPr/>
        </p:nvSpPr>
        <p:spPr>
          <a:xfrm>
            <a:off x="274320" y="3145536"/>
            <a:ext cx="8595360" cy="530352"/>
          </a:xfrm>
          <a:prstGeom prst="rect">
            <a:avLst/>
          </a:prstGeom>
          <a:solidFill>
            <a:srgbClr val="FFFFFF"/>
          </a:solidFill>
          <a:ln w="12700">
            <a:solidFill>
              <a:srgbClr val="E2E8F0"/>
            </a:solidFill>
            <a:prstDash val="solid"/>
          </a:ln>
        </p:spPr>
        <p:txBody>
          <a:bodyPr/>
          <a:lstStyle/>
          <a:p>
            <a:endParaRPr lang="de-AT"/>
          </a:p>
        </p:txBody>
      </p:sp>
      <p:sp>
        <p:nvSpPr>
          <p:cNvPr id="17" name="Text 14"/>
          <p:cNvSpPr/>
          <p:nvPr/>
        </p:nvSpPr>
        <p:spPr>
          <a:xfrm>
            <a:off x="411480" y="3218688"/>
            <a:ext cx="1188720" cy="384048"/>
          </a:xfrm>
          <a:prstGeom prst="rect">
            <a:avLst/>
          </a:prstGeom>
          <a:noFill/>
          <a:ln/>
        </p:spPr>
        <p:txBody>
          <a:bodyPr wrap="square" lIns="0" tIns="0" rIns="0" bIns="0" rtlCol="0" anchor="ctr"/>
          <a:lstStyle/>
          <a:p>
            <a:pPr marL="0" indent="0">
              <a:buNone/>
            </a:pPr>
            <a:r>
              <a:rPr lang="en-US" sz="1100" b="1" dirty="0">
                <a:solidFill>
                  <a:srgbClr val="065A82"/>
                </a:solidFill>
                <a:latin typeface="Georgia" pitchFamily="34" charset="0"/>
                <a:ea typeface="Georgia" pitchFamily="34" charset="-122"/>
                <a:cs typeface="Georgia" pitchFamily="34" charset="-120"/>
              </a:rPr>
              <a:t>alpha</a:t>
            </a:r>
            <a:endParaRPr lang="en-US" sz="1100" dirty="0"/>
          </a:p>
        </p:txBody>
      </p:sp>
      <p:sp>
        <p:nvSpPr>
          <p:cNvPr id="18" name="Text 15"/>
          <p:cNvSpPr/>
          <p:nvPr/>
        </p:nvSpPr>
        <p:spPr>
          <a:xfrm>
            <a:off x="1737360" y="3218688"/>
            <a:ext cx="69494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Significance level alpha = 0.05 (marketing convention).</a:t>
            </a:r>
            <a:endParaRPr lang="en-US" sz="1100" dirty="0"/>
          </a:p>
        </p:txBody>
      </p:sp>
      <p:sp>
        <p:nvSpPr>
          <p:cNvPr id="19" name="Shape 16"/>
          <p:cNvSpPr/>
          <p:nvPr/>
        </p:nvSpPr>
        <p:spPr>
          <a:xfrm>
            <a:off x="274320" y="3758184"/>
            <a:ext cx="8595360" cy="530352"/>
          </a:xfrm>
          <a:prstGeom prst="rect">
            <a:avLst/>
          </a:prstGeom>
          <a:solidFill>
            <a:srgbClr val="F0F4F8"/>
          </a:solidFill>
          <a:ln w="12700">
            <a:solidFill>
              <a:srgbClr val="E2E8F0"/>
            </a:solidFill>
            <a:prstDash val="solid"/>
          </a:ln>
        </p:spPr>
        <p:txBody>
          <a:bodyPr/>
          <a:lstStyle/>
          <a:p>
            <a:endParaRPr lang="de-AT"/>
          </a:p>
        </p:txBody>
      </p:sp>
      <p:sp>
        <p:nvSpPr>
          <p:cNvPr id="20" name="Text 17"/>
          <p:cNvSpPr/>
          <p:nvPr/>
        </p:nvSpPr>
        <p:spPr>
          <a:xfrm>
            <a:off x="411480" y="3831336"/>
            <a:ext cx="1188720" cy="384048"/>
          </a:xfrm>
          <a:prstGeom prst="rect">
            <a:avLst/>
          </a:prstGeom>
          <a:noFill/>
          <a:ln/>
        </p:spPr>
        <p:txBody>
          <a:bodyPr wrap="square" lIns="0" tIns="0" rIns="0" bIns="0" rtlCol="0" anchor="ctr"/>
          <a:lstStyle/>
          <a:p>
            <a:pPr marL="0" indent="0">
              <a:buNone/>
            </a:pPr>
            <a:r>
              <a:rPr lang="en-US" sz="1100" b="1" dirty="0">
                <a:solidFill>
                  <a:srgbClr val="065A82"/>
                </a:solidFill>
                <a:latin typeface="Georgia" pitchFamily="34" charset="0"/>
                <a:ea typeface="Georgia" pitchFamily="34" charset="-122"/>
                <a:cs typeface="Georgia" pitchFamily="34" charset="-120"/>
              </a:rPr>
              <a:t>Result</a:t>
            </a:r>
            <a:endParaRPr lang="en-US" sz="1100" dirty="0"/>
          </a:p>
        </p:txBody>
      </p:sp>
      <p:sp>
        <p:nvSpPr>
          <p:cNvPr id="21" name="Text 18"/>
          <p:cNvSpPr/>
          <p:nvPr/>
        </p:nvSpPr>
        <p:spPr>
          <a:xfrm>
            <a:off x="1737360" y="3831336"/>
            <a:ext cx="69494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Difference in sample means = 0.19. Calculated p-value = 0.069.</a:t>
            </a:r>
            <a:endParaRPr lang="en-US" sz="1100" dirty="0"/>
          </a:p>
        </p:txBody>
      </p:sp>
      <p:sp>
        <p:nvSpPr>
          <p:cNvPr id="22" name="Shape 19"/>
          <p:cNvSpPr/>
          <p:nvPr/>
        </p:nvSpPr>
        <p:spPr>
          <a:xfrm>
            <a:off x="274320" y="4370832"/>
            <a:ext cx="8595360" cy="530352"/>
          </a:xfrm>
          <a:prstGeom prst="rect">
            <a:avLst/>
          </a:prstGeom>
          <a:solidFill>
            <a:srgbClr val="FFFFFF"/>
          </a:solidFill>
          <a:ln w="12700">
            <a:solidFill>
              <a:srgbClr val="E2E8F0"/>
            </a:solidFill>
            <a:prstDash val="solid"/>
          </a:ln>
        </p:spPr>
        <p:txBody>
          <a:bodyPr/>
          <a:lstStyle/>
          <a:p>
            <a:endParaRPr lang="de-AT"/>
          </a:p>
        </p:txBody>
      </p:sp>
      <p:sp>
        <p:nvSpPr>
          <p:cNvPr id="23" name="Text 20"/>
          <p:cNvSpPr/>
          <p:nvPr/>
        </p:nvSpPr>
        <p:spPr>
          <a:xfrm>
            <a:off x="411480" y="4443984"/>
            <a:ext cx="1188720" cy="384048"/>
          </a:xfrm>
          <a:prstGeom prst="rect">
            <a:avLst/>
          </a:prstGeom>
          <a:noFill/>
          <a:ln/>
        </p:spPr>
        <p:txBody>
          <a:bodyPr wrap="square" lIns="0" tIns="0" rIns="0" bIns="0" rtlCol="0" anchor="ctr"/>
          <a:lstStyle/>
          <a:p>
            <a:pPr marL="0" indent="0">
              <a:buNone/>
            </a:pPr>
            <a:r>
              <a:rPr lang="en-US" sz="1100" b="1" dirty="0">
                <a:solidFill>
                  <a:srgbClr val="065A82"/>
                </a:solidFill>
                <a:latin typeface="Georgia" pitchFamily="34" charset="0"/>
                <a:ea typeface="Georgia" pitchFamily="34" charset="-122"/>
                <a:cs typeface="Georgia" pitchFamily="34" charset="-120"/>
              </a:rPr>
              <a:t>Decision</a:t>
            </a:r>
            <a:endParaRPr lang="en-US" sz="1100" dirty="0"/>
          </a:p>
        </p:txBody>
      </p:sp>
      <p:sp>
        <p:nvSpPr>
          <p:cNvPr id="24" name="Text 21"/>
          <p:cNvSpPr/>
          <p:nvPr/>
        </p:nvSpPr>
        <p:spPr>
          <a:xfrm>
            <a:off x="1737360" y="4443984"/>
            <a:ext cx="694944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 (0.069) &gt; alpha (0.05). Fail to reject H0. No significant difference.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6F0"/>
          </a:solidFill>
          <a:ln w="12700">
            <a:solidFill>
              <a:srgbClr val="333333"/>
            </a:solidFill>
            <a:prstDash val="solid"/>
          </a:ln>
        </p:spPr>
        <p:txBody>
          <a:bodyPr/>
          <a:lstStyle/>
          <a:p>
            <a:endParaRPr lang="de-AT"/>
          </a:p>
        </p:txBody>
      </p:sp>
      <p:sp>
        <p:nvSpPr>
          <p:cNvPr id="3" name="Shape 1"/>
          <p:cNvSpPr/>
          <p:nvPr/>
        </p:nvSpPr>
        <p:spPr>
          <a:xfrm>
            <a:off x="347472" y="320040"/>
            <a:ext cx="566928" cy="566928"/>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29768" y="402336"/>
            <a:ext cx="402336" cy="402336"/>
          </a:xfrm>
          <a:prstGeom prst="rect">
            <a:avLst/>
          </a:prstGeom>
        </p:spPr>
      </p:pic>
      <p:sp>
        <p:nvSpPr>
          <p:cNvPr id="5" name="Text 2"/>
          <p:cNvSpPr/>
          <p:nvPr/>
        </p:nvSpPr>
        <p:spPr>
          <a:xfrm>
            <a:off x="1051560" y="292608"/>
            <a:ext cx="7772400" cy="54864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Take-Aways</a:t>
            </a:r>
            <a:endParaRPr lang="en-US" sz="2600" dirty="0"/>
          </a:p>
        </p:txBody>
      </p:sp>
      <p:sp>
        <p:nvSpPr>
          <p:cNvPr id="6" name="Shape 3"/>
          <p:cNvSpPr/>
          <p:nvPr/>
        </p:nvSpPr>
        <p:spPr>
          <a:xfrm>
            <a:off x="1051560" y="868680"/>
            <a:ext cx="1097280" cy="36576"/>
          </a:xfrm>
          <a:prstGeom prst="rect">
            <a:avLst/>
          </a:prstGeom>
          <a:solidFill>
            <a:srgbClr val="E9C46A"/>
          </a:solidFill>
          <a:ln w="12700">
            <a:solidFill>
              <a:srgbClr val="333333"/>
            </a:solidFill>
            <a:prstDash val="solid"/>
          </a:ln>
        </p:spPr>
        <p:txBody>
          <a:bodyPr/>
          <a:lstStyle/>
          <a:p>
            <a:endParaRPr lang="de-AT"/>
          </a:p>
        </p:txBody>
      </p:sp>
      <p:sp>
        <p:nvSpPr>
          <p:cNvPr id="7" name="Shape 4"/>
          <p:cNvSpPr/>
          <p:nvPr/>
        </p:nvSpPr>
        <p:spPr>
          <a:xfrm>
            <a:off x="347472" y="1024128"/>
            <a:ext cx="64008" cy="365760"/>
          </a:xfrm>
          <a:prstGeom prst="rect">
            <a:avLst/>
          </a:prstGeom>
          <a:solidFill>
            <a:srgbClr val="E9C46A"/>
          </a:solidFill>
          <a:ln w="12700">
            <a:solidFill>
              <a:srgbClr val="333333"/>
            </a:solidFill>
            <a:prstDash val="solid"/>
          </a:ln>
        </p:spPr>
        <p:txBody>
          <a:bodyPr/>
          <a:lstStyle/>
          <a:p>
            <a:endParaRPr lang="de-AT"/>
          </a:p>
        </p:txBody>
      </p:sp>
      <p:sp>
        <p:nvSpPr>
          <p:cNvPr id="8" name="Text 5"/>
          <p:cNvSpPr/>
          <p:nvPr/>
        </p:nvSpPr>
        <p:spPr>
          <a:xfrm>
            <a:off x="502920" y="1024128"/>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Descriptive statistics summarize data: central tendency (mean, median, mode) and variability (range, SD, variance).</a:t>
            </a:r>
            <a:endParaRPr lang="en-US" sz="1050" dirty="0"/>
          </a:p>
        </p:txBody>
      </p:sp>
      <p:sp>
        <p:nvSpPr>
          <p:cNvPr id="9" name="Shape 6"/>
          <p:cNvSpPr/>
          <p:nvPr/>
        </p:nvSpPr>
        <p:spPr>
          <a:xfrm>
            <a:off x="347472" y="1993392"/>
            <a:ext cx="64008" cy="365760"/>
          </a:xfrm>
          <a:prstGeom prst="rect">
            <a:avLst/>
          </a:prstGeom>
          <a:solidFill>
            <a:srgbClr val="E9C46A"/>
          </a:solidFill>
          <a:ln w="12700">
            <a:solidFill>
              <a:srgbClr val="333333"/>
            </a:solidFill>
            <a:prstDash val="solid"/>
          </a:ln>
        </p:spPr>
        <p:txBody>
          <a:bodyPr/>
          <a:lstStyle/>
          <a:p>
            <a:endParaRPr lang="de-AT"/>
          </a:p>
        </p:txBody>
      </p:sp>
      <p:sp>
        <p:nvSpPr>
          <p:cNvPr id="10" name="Text 7"/>
          <p:cNvSpPr/>
          <p:nvPr/>
        </p:nvSpPr>
        <p:spPr>
          <a:xfrm>
            <a:off x="502920" y="1993392"/>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Measurement scale determines which operations are valid. Never compute a mean of nominal data.</a:t>
            </a:r>
            <a:endParaRPr lang="en-US" sz="1050" dirty="0"/>
          </a:p>
        </p:txBody>
      </p:sp>
      <p:sp>
        <p:nvSpPr>
          <p:cNvPr id="11" name="Shape 8"/>
          <p:cNvSpPr/>
          <p:nvPr/>
        </p:nvSpPr>
        <p:spPr>
          <a:xfrm>
            <a:off x="347472" y="2962656"/>
            <a:ext cx="64008" cy="365760"/>
          </a:xfrm>
          <a:prstGeom prst="rect">
            <a:avLst/>
          </a:prstGeom>
          <a:solidFill>
            <a:srgbClr val="E9C46A"/>
          </a:solidFill>
          <a:ln w="12700">
            <a:solidFill>
              <a:srgbClr val="333333"/>
            </a:solidFill>
            <a:prstDash val="solid"/>
          </a:ln>
        </p:spPr>
        <p:txBody>
          <a:bodyPr/>
          <a:lstStyle/>
          <a:p>
            <a:endParaRPr lang="de-AT"/>
          </a:p>
        </p:txBody>
      </p:sp>
      <p:sp>
        <p:nvSpPr>
          <p:cNvPr id="12" name="Text 9"/>
          <p:cNvSpPr/>
          <p:nvPr/>
        </p:nvSpPr>
        <p:spPr>
          <a:xfrm>
            <a:off x="502920" y="2962656"/>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Standard deviation is the most common measure of spread. Always report it alongside the mean.</a:t>
            </a:r>
            <a:endParaRPr lang="en-US" sz="1050" dirty="0"/>
          </a:p>
        </p:txBody>
      </p:sp>
      <p:sp>
        <p:nvSpPr>
          <p:cNvPr id="13" name="Shape 10"/>
          <p:cNvSpPr/>
          <p:nvPr/>
        </p:nvSpPr>
        <p:spPr>
          <a:xfrm>
            <a:off x="347472" y="3931920"/>
            <a:ext cx="64008" cy="365760"/>
          </a:xfrm>
          <a:prstGeom prst="rect">
            <a:avLst/>
          </a:prstGeom>
          <a:solidFill>
            <a:srgbClr val="E9C46A"/>
          </a:solidFill>
          <a:ln w="12700">
            <a:solidFill>
              <a:srgbClr val="333333"/>
            </a:solidFill>
            <a:prstDash val="solid"/>
          </a:ln>
        </p:spPr>
        <p:txBody>
          <a:bodyPr/>
          <a:lstStyle/>
          <a:p>
            <a:endParaRPr lang="de-AT"/>
          </a:p>
        </p:txBody>
      </p:sp>
      <p:sp>
        <p:nvSpPr>
          <p:cNvPr id="14" name="Text 11"/>
          <p:cNvSpPr/>
          <p:nvPr/>
        </p:nvSpPr>
        <p:spPr>
          <a:xfrm>
            <a:off x="502920" y="3931920"/>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The normal distribution and the 68-95-99.7 rule underpin most inferential statistics.</a:t>
            </a:r>
            <a:endParaRPr lang="en-US" sz="1050" dirty="0"/>
          </a:p>
        </p:txBody>
      </p:sp>
      <p:sp>
        <p:nvSpPr>
          <p:cNvPr id="15" name="Shape 12"/>
          <p:cNvSpPr/>
          <p:nvPr/>
        </p:nvSpPr>
        <p:spPr>
          <a:xfrm>
            <a:off x="4828032" y="1024128"/>
            <a:ext cx="64008" cy="365760"/>
          </a:xfrm>
          <a:prstGeom prst="rect">
            <a:avLst/>
          </a:prstGeom>
          <a:solidFill>
            <a:srgbClr val="E9C46A"/>
          </a:solidFill>
          <a:ln w="12700">
            <a:solidFill>
              <a:srgbClr val="333333"/>
            </a:solidFill>
            <a:prstDash val="solid"/>
          </a:ln>
        </p:spPr>
        <p:txBody>
          <a:bodyPr/>
          <a:lstStyle/>
          <a:p>
            <a:endParaRPr lang="de-AT"/>
          </a:p>
        </p:txBody>
      </p:sp>
      <p:sp>
        <p:nvSpPr>
          <p:cNvPr id="16" name="Text 13"/>
          <p:cNvSpPr/>
          <p:nvPr/>
        </p:nvSpPr>
        <p:spPr>
          <a:xfrm>
            <a:off x="4983480" y="1024128"/>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Inductive statistics use samples to make inferences about populations — evidence must be evaluated statistically.</a:t>
            </a:r>
            <a:endParaRPr lang="en-US" sz="1050" dirty="0"/>
          </a:p>
        </p:txBody>
      </p:sp>
      <p:sp>
        <p:nvSpPr>
          <p:cNvPr id="17" name="Shape 14"/>
          <p:cNvSpPr/>
          <p:nvPr/>
        </p:nvSpPr>
        <p:spPr>
          <a:xfrm>
            <a:off x="4828032" y="1993392"/>
            <a:ext cx="64008" cy="365760"/>
          </a:xfrm>
          <a:prstGeom prst="rect">
            <a:avLst/>
          </a:prstGeom>
          <a:solidFill>
            <a:srgbClr val="E9C46A"/>
          </a:solidFill>
          <a:ln w="12700">
            <a:solidFill>
              <a:srgbClr val="333333"/>
            </a:solidFill>
            <a:prstDash val="solid"/>
          </a:ln>
        </p:spPr>
        <p:txBody>
          <a:bodyPr/>
          <a:lstStyle/>
          <a:p>
            <a:endParaRPr lang="de-AT"/>
          </a:p>
        </p:txBody>
      </p:sp>
      <p:sp>
        <p:nvSpPr>
          <p:cNvPr id="18" name="Text 15"/>
          <p:cNvSpPr/>
          <p:nvPr/>
        </p:nvSpPr>
        <p:spPr>
          <a:xfrm>
            <a:off x="4983480" y="1993392"/>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Hypothesis testing follows a structured process: formulate H0/Ha, select test, set alpha, compute, decide.</a:t>
            </a:r>
            <a:endParaRPr lang="en-US" sz="1050" dirty="0"/>
          </a:p>
        </p:txBody>
      </p:sp>
      <p:sp>
        <p:nvSpPr>
          <p:cNvPr id="19" name="Shape 16"/>
          <p:cNvSpPr/>
          <p:nvPr/>
        </p:nvSpPr>
        <p:spPr>
          <a:xfrm>
            <a:off x="4828032" y="2962656"/>
            <a:ext cx="64008" cy="365760"/>
          </a:xfrm>
          <a:prstGeom prst="rect">
            <a:avLst/>
          </a:prstGeom>
          <a:solidFill>
            <a:srgbClr val="E9C46A"/>
          </a:solidFill>
          <a:ln w="12700">
            <a:solidFill>
              <a:srgbClr val="333333"/>
            </a:solidFill>
            <a:prstDash val="solid"/>
          </a:ln>
        </p:spPr>
        <p:txBody>
          <a:bodyPr/>
          <a:lstStyle/>
          <a:p>
            <a:endParaRPr lang="de-AT"/>
          </a:p>
        </p:txBody>
      </p:sp>
      <p:sp>
        <p:nvSpPr>
          <p:cNvPr id="20" name="Text 17"/>
          <p:cNvSpPr/>
          <p:nvPr/>
        </p:nvSpPr>
        <p:spPr>
          <a:xfrm>
            <a:off x="4983480" y="2962656"/>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Type I error (alpha): false positive. Type II error (beta): false negative. Convention: alpha = 0.05.</a:t>
            </a:r>
            <a:endParaRPr lang="en-US" sz="1050" dirty="0"/>
          </a:p>
        </p:txBody>
      </p:sp>
      <p:sp>
        <p:nvSpPr>
          <p:cNvPr id="21" name="Shape 18"/>
          <p:cNvSpPr/>
          <p:nvPr/>
        </p:nvSpPr>
        <p:spPr>
          <a:xfrm>
            <a:off x="4828032" y="3931920"/>
            <a:ext cx="64008" cy="365760"/>
          </a:xfrm>
          <a:prstGeom prst="rect">
            <a:avLst/>
          </a:prstGeom>
          <a:solidFill>
            <a:srgbClr val="E9C46A"/>
          </a:solidFill>
          <a:ln w="12700">
            <a:solidFill>
              <a:srgbClr val="333333"/>
            </a:solidFill>
            <a:prstDash val="solid"/>
          </a:ln>
        </p:spPr>
        <p:txBody>
          <a:bodyPr/>
          <a:lstStyle/>
          <a:p>
            <a:endParaRPr lang="de-AT"/>
          </a:p>
        </p:txBody>
      </p:sp>
      <p:sp>
        <p:nvSpPr>
          <p:cNvPr id="22" name="Text 19"/>
          <p:cNvSpPr/>
          <p:nvPr/>
        </p:nvSpPr>
        <p:spPr>
          <a:xfrm>
            <a:off x="4983480" y="3931920"/>
            <a:ext cx="4160520" cy="77724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A p-value &lt; 0.05 is statistically significant. But significance does not equal practical importance.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1B33"/>
          </a:solidFill>
          <a:ln w="12700">
            <a:solidFill>
              <a:srgbClr val="333333"/>
            </a:solidFill>
            <a:prstDash val="solid"/>
          </a:ln>
        </p:spPr>
        <p:txBody>
          <a:bodyPr/>
          <a:lstStyle/>
          <a:p>
            <a:endParaRPr lang="de-AT"/>
          </a:p>
        </p:txBody>
      </p:sp>
      <p:sp>
        <p:nvSpPr>
          <p:cNvPr id="3" name="Shape 1"/>
          <p:cNvSpPr/>
          <p:nvPr/>
        </p:nvSpPr>
        <p:spPr>
          <a:xfrm>
            <a:off x="4142232" y="685800"/>
            <a:ext cx="868680" cy="868680"/>
          </a:xfrm>
          <a:prstGeom prst="ellipse">
            <a:avLst/>
          </a:prstGeom>
          <a:solidFill>
            <a:srgbClr val="065A82"/>
          </a:solidFill>
          <a:ln w="12700">
            <a:solidFill>
              <a:srgbClr val="1C7293"/>
            </a:solidFill>
            <a:prstDash val="solid"/>
          </a:ln>
        </p:spPr>
        <p:txBody>
          <a:bodyPr/>
          <a:lstStyle/>
          <a:p>
            <a:endParaRPr lang="de-AT"/>
          </a:p>
        </p:txBody>
      </p:sp>
      <p:pic>
        <p:nvPicPr>
          <p:cNvPr id="4" name="Image 0" descr="preencoded.png"/>
          <p:cNvPicPr>
            <a:picLocks noChangeAspect="1"/>
          </p:cNvPicPr>
          <p:nvPr/>
        </p:nvPicPr>
        <p:blipFill>
          <a:blip r:embed="rId3"/>
          <a:stretch>
            <a:fillRect/>
          </a:stretch>
        </p:blipFill>
        <p:spPr>
          <a:xfrm>
            <a:off x="4270248" y="813816"/>
            <a:ext cx="612648" cy="612648"/>
          </a:xfrm>
          <a:prstGeom prst="rect">
            <a:avLst/>
          </a:prstGeom>
        </p:spPr>
      </p:pic>
      <p:sp>
        <p:nvSpPr>
          <p:cNvPr id="5" name="Text 2"/>
          <p:cNvSpPr/>
          <p:nvPr/>
        </p:nvSpPr>
        <p:spPr>
          <a:xfrm>
            <a:off x="457200" y="1627632"/>
            <a:ext cx="8229600" cy="77724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Thank You</a:t>
            </a:r>
            <a:endParaRPr lang="en-US" sz="3600" dirty="0"/>
          </a:p>
        </p:txBody>
      </p:sp>
      <p:sp>
        <p:nvSpPr>
          <p:cNvPr id="6" name="Shape 3"/>
          <p:cNvSpPr/>
          <p:nvPr/>
        </p:nvSpPr>
        <p:spPr>
          <a:xfrm>
            <a:off x="2926080" y="2450592"/>
            <a:ext cx="3291840" cy="45720"/>
          </a:xfrm>
          <a:prstGeom prst="rect">
            <a:avLst/>
          </a:prstGeom>
          <a:solidFill>
            <a:srgbClr val="E9C46A"/>
          </a:solidFill>
          <a:ln w="12700">
            <a:solidFill>
              <a:srgbClr val="333333"/>
            </a:solidFill>
            <a:prstDash val="solid"/>
          </a:ln>
        </p:spPr>
        <p:txBody>
          <a:bodyPr/>
          <a:lstStyle/>
          <a:p>
            <a:endParaRPr lang="de-AT"/>
          </a:p>
        </p:txBody>
      </p:sp>
      <p:sp>
        <p:nvSpPr>
          <p:cNvPr id="7" name="Text 4"/>
          <p:cNvSpPr/>
          <p:nvPr/>
        </p:nvSpPr>
        <p:spPr>
          <a:xfrm>
            <a:off x="457200" y="2578608"/>
            <a:ext cx="8229600" cy="594360"/>
          </a:xfrm>
          <a:prstGeom prst="rect">
            <a:avLst/>
          </a:prstGeom>
          <a:noFill/>
          <a:ln/>
        </p:spPr>
        <p:txBody>
          <a:bodyPr wrap="square" lIns="0" tIns="0" rIns="0" bIns="0" rtlCol="0" anchor="ctr"/>
          <a:lstStyle/>
          <a:p>
            <a:pPr marL="0" indent="0" algn="ctr">
              <a:buNone/>
            </a:pPr>
            <a:r>
              <a:rPr lang="en-US" sz="2400" i="1" dirty="0">
                <a:solidFill>
                  <a:srgbClr val="E9C46A"/>
                </a:solidFill>
                <a:latin typeface="Georgia" pitchFamily="34" charset="0"/>
                <a:ea typeface="Georgia" pitchFamily="34" charset="-122"/>
                <a:cs typeface="Georgia" pitchFamily="34" charset="-120"/>
              </a:rPr>
              <a:t>Questions?</a:t>
            </a:r>
            <a:endParaRPr lang="en-US" sz="2400" dirty="0"/>
          </a:p>
        </p:txBody>
      </p:sp>
      <p:sp>
        <p:nvSpPr>
          <p:cNvPr id="8" name="Text 5"/>
          <p:cNvSpPr/>
          <p:nvPr/>
        </p:nvSpPr>
        <p:spPr>
          <a:xfrm>
            <a:off x="457200" y="3310128"/>
            <a:ext cx="8229600" cy="320040"/>
          </a:xfrm>
          <a:prstGeom prst="rect">
            <a:avLst/>
          </a:prstGeom>
          <a:noFill/>
          <a:ln/>
        </p:spPr>
        <p:txBody>
          <a:bodyPr wrap="square" lIns="0" tIns="0" rIns="0" bIns="0" rtlCol="0" anchor="ctr"/>
          <a:lstStyle/>
          <a:p>
            <a:pPr marL="0" indent="0" algn="ctr">
              <a:buNone/>
            </a:pPr>
            <a:r>
              <a:rPr lang="en-US" sz="1100" u="sng" dirty="0">
                <a:solidFill>
                  <a:srgbClr val="E9C46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arne.floh@wu.ac.at</a:t>
            </a:r>
            <a:r>
              <a:rPr lang="en-US" sz="1100" dirty="0">
                <a:solidFill>
                  <a:srgbClr val="94A3B8"/>
                </a:solidFill>
                <a:latin typeface="Calibri" pitchFamily="34" charset="0"/>
                <a:ea typeface="Calibri" pitchFamily="34" charset="-122"/>
                <a:cs typeface="Calibri" pitchFamily="34" charset="-120"/>
              </a:rPr>
              <a:t>   |   </a:t>
            </a:r>
            <a:r>
              <a:rPr lang="en-US" sz="1100" u="sng" dirty="0">
                <a:solidFill>
                  <a:srgbClr val="E9C46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linkedin.com/in/arnefloh</a:t>
            </a:r>
            <a:endParaRPr lang="en-US" sz="1100" dirty="0"/>
          </a:p>
        </p:txBody>
      </p:sp>
      <p:sp>
        <p:nvSpPr>
          <p:cNvPr id="9" name="Text 6"/>
          <p:cNvSpPr/>
          <p:nvPr/>
        </p:nvSpPr>
        <p:spPr>
          <a:xfrm>
            <a:off x="457200" y="3730752"/>
            <a:ext cx="8229600" cy="320040"/>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Dr. Arne Floh  |  WU Vienna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2231</Words>
  <Application>Microsoft Office PowerPoint</Application>
  <PresentationFormat>Bildschirmpräsentation (16:9)</PresentationFormat>
  <Paragraphs>305</Paragraphs>
  <Slides>31</Slides>
  <Notes>31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31</vt:i4>
      </vt:variant>
    </vt:vector>
  </HeadingPairs>
  <TitlesOfParts>
    <vt:vector size="36" baseType="lpstr">
      <vt:lpstr>Arial</vt:lpstr>
      <vt:lpstr>Calibri</vt:lpstr>
      <vt:lpstr>Courier New</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gentle Introduction into Descriptive and Inferential Statistics</dc:title>
  <dc:subject>Introduction to Marketing Analytics — WU Vienna</dc:subject>
  <dc:creator>Dr. Arne Floh</dc:creator>
  <cp:lastModifiedBy>Arne Floh</cp:lastModifiedBy>
  <cp:revision>1</cp:revision>
  <dcterms:created xsi:type="dcterms:W3CDTF">2026-03-05T21:05:52Z</dcterms:created>
  <dcterms:modified xsi:type="dcterms:W3CDTF">2026-03-27T10:31:25Z</dcterms:modified>
</cp:coreProperties>
</file>